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72" y="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36980-B926-0686-4A8D-052ACF0EA9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B3C67D-7A75-819D-E6BF-6C8AEE123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7CE2-E51D-FAE8-B80C-2904F624495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4ED6EB8-933A-40BF-9125-A8F5D5D4C736}" type="datetime1">
              <a:t>8/30/2026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D52AB-71A2-C339-92BD-220F6DFB689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667000" y="6356350"/>
            <a:ext cx="6858000" cy="365125"/>
          </a:xfrm>
        </p:spPr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3AF36-30E2-04B2-2807-B499A86BE6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B75E1-0884-B475-1FC8-0DAA9F4E1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04AD8-0228-620D-0445-8AEF53196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2AD92-5F73-A2F2-6A7D-45B2D8B343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14E54CC-43E5-4B75-BAFD-184AD910D0F4}" type="datetime1">
              <a:t>8/30/2026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562BF-B1BA-FEEC-CE79-07B36D6DE75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5D774-175E-C969-877B-645892454B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CD72B-5D61-93FE-1C3D-2C2E8661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7623C-0663-299C-97CC-01404A4A6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DF1C6-10AD-0D60-FF88-0C7017F3D24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34A3982-4059-42B9-8197-8793FF404841}" type="datetime1">
              <a:t>8/30/2026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D2EA8-F174-E171-1E24-5CAC170B92A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8C4D8-2854-3BCC-12EE-3CF7FACA76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BA8BD-2CCB-D7BD-CB49-337DD9CE5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A9762-9FF2-C1D7-3E9B-471BD09AC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A7B5D0-9F68-B317-6EE0-03C55FF7550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BE63E-FB04-554B-1219-BABE9243694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0FF6EB2-26FD-44E1-A1F9-D2F246212076}" type="datetime1">
              <a:t>8/30/2026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6BEB4-44DE-1A4D-C4A3-267BD5EB043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D39E1-4870-653E-7B15-578C775507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6E52E-95D3-B73B-B31E-4053D461E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F0141-BA33-8107-ADBF-793EB4A0C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BF0C1-67B8-9A66-B40D-9790E9C4ECB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C0D682-3A5F-6E6A-2336-4AA59E5CC47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129882-C2AD-4AC9-437E-83788EEAE68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47A025-3448-28A8-24FD-89199CEBA9D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D9B6903-33D8-4D4D-8C63-0EC659EFBFF3}" type="datetime1">
              <a:t>8/30/2026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EFD58E-6D7F-E3CF-5DD4-9A2FE428038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068A21-9B80-8989-26D3-F1C11E6918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4AA8D-E534-8BD3-5D4C-10CD6F974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25062A-4D8A-D9D1-4377-0760783C0E6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CDE505E-9B1D-4BC1-9E04-A9DD37003C8D}" type="datetime1">
              <a:t>8/30/2026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C8CA2-CAFF-C447-76A1-43F40DEDCF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75110-3299-C84C-9EDD-595AB6A081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F3F806-1DEF-6138-3E47-C63EE98A553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4067C06-0941-4A36-B031-CFCCEA1DA25B}" type="datetime1">
              <a:t>8/30/2026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C14BF2-BC1A-A3A2-FFE9-64F994720A6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808C1-FBEC-217D-3540-D91ED525B8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41D2F-6AD2-00C1-F0AC-481B00FBD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9EB7D-B8B5-9B9D-76A1-FC055CB3E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3C4216-8AED-19CA-D898-58C7CEE80D2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97EB1-B856-1B45-F20B-EFA51D0EFAC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0A3DC97-6A12-4822-AAB2-27916610DBEE}" type="datetime1">
              <a:t>8/30/2026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82C10-BD4F-814B-5F04-32FB7143915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45826-7BC7-0F94-0A3C-6B644FFE47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B8CE6-7E21-5A44-44C3-8D5002914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9C1369-785F-7983-3299-9EB1AE7775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F811C6-9B5C-F062-8120-B44DFDF0AFD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D600A-A1F8-FA1C-63A7-B7986EB176B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3F8063E-B476-406F-B3D9-64B384A31FEC}" type="datetime1">
              <a:t>8/30/2026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B4197-A249-7478-D9CA-1309D9EC3B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51BA0-E5F2-AB01-7FE6-F82E25811F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584CA-1A1B-F9F5-7CE8-3D6C72B65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2C470B-CB71-749E-98F3-2E11169B6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90414-58A3-C2D6-D3B9-CBDA8642D1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B863A5A-4C08-431E-9FEA-F3339828C68C}" type="datetime1">
              <a:t>8/30/2026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2B39D-C30B-13C3-9349-FFD01AEEDFD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D595D-41FF-464F-329C-2594C563AD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623085-53DF-F097-0372-172F422C5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2C079-07E4-4A81-F4E2-968C5CB40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A631A-BDFA-046F-F5F4-83D4ACFB24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2FFF08-FC41-4C92-B0F6-85040F12764C}" type="datetime1">
              <a:t>8/30/2026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996B3-E6C7-A595-9F5D-E387D7F3EE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46A4-6E53-90F4-4421-55AE8BD3BB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B88EA8-1106-E8F3-A468-AF1D8C882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F72A9-9EE9-F7DF-1171-67F86A56A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7B18B-40A4-851C-B1AB-FA9ACD320F9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13D7E-8C39-49DE-8F22-4CD23C136338}" type="datetime1">
              <a:t>8/30/2026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840A5-6565-6363-7EF2-763AAAE5B7B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667000" y="6356350"/>
            <a:ext cx="68580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ENAE694 Spacecraft Communications: Requirements and Constraints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C3F24-7055-7F99-3FBE-C3499655C7A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16D19-4F63-4418-BEAB-0383BC96FB9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disrael@umd.edu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" name="Rectangle 2079">
            <a:extLst>
              <a:ext uri="{FF2B5EF4-FFF2-40B4-BE49-F238E27FC236}">
                <a16:creationId xmlns:a16="http://schemas.microsoft.com/office/drawing/2014/main" id="{6F828D28-8E09-41CC-8229-3070B5467A96}"/>
              </a:ext>
            </a:extLst>
          </p:cNvPr>
          <p:cNvSpPr>
            <a:spLocks noGrp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086" name="Video 2080"/>
          <p:cNvPicPr>
            <a:picLocks noChangeAspect="1"/>
          </p:cNvPicPr>
          <p:nvPr/>
        </p:nvPicPr>
        <p:blipFill rotWithShape="1">
          <a:blip r:embed="rId3"/>
          <a:srcRect t="284"/>
          <a:stretch/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2082" name="Rectangle 2081">
            <a:extLst>
              <a:ext uri="{FF2B5EF4-FFF2-40B4-BE49-F238E27FC236}">
                <a16:creationId xmlns:a16="http://schemas.microsoft.com/office/drawing/2014/main" id="{D5B012D8-7F27-4758-9AC6-C889B154BD73}"/>
              </a:ext>
            </a:extLst>
          </p:cNvPr>
          <p:cNvSpPr>
            <a:spLocks noGrp="1"/>
          </p:cNvSpPr>
          <p:nvPr/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F72ECBD-1E2B-4C9B-BE60-0018ECCB8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43467"/>
            <a:ext cx="10938934" cy="3569242"/>
          </a:xfrm>
        </p:spPr>
        <p:txBody>
          <a:bodyPr anchor="t">
            <a:normAutofit/>
          </a:bodyPr>
          <a:lstStyle/>
          <a:p>
            <a:r>
              <a:rPr sz="5200" b="1">
                <a:solidFill>
                  <a:srgbClr val="FFFFFF"/>
                </a:solidFill>
              </a:rPr>
              <a:t>ENAE 694</a:t>
            </a:r>
          </a:p>
          <a:p>
            <a:r>
              <a:rPr sz="5200" b="1">
                <a:solidFill>
                  <a:srgbClr val="FFFFFF"/>
                </a:solidFill>
              </a:rPr>
              <a:t>Spacecraft Communications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F7CD9725-B9F4-461F-BFD3-8804A7E66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6" y="5127546"/>
            <a:ext cx="6671734" cy="1578054"/>
          </a:xfrm>
        </p:spPr>
        <p:txBody>
          <a:bodyPr anchor="b">
            <a:normAutofit/>
          </a:bodyPr>
          <a:lstStyle/>
          <a:p>
            <a:pPr algn="l">
              <a:buNone/>
            </a:pPr>
            <a:r>
              <a:rPr dirty="0">
                <a:solidFill>
                  <a:srgbClr val="FFFFFF"/>
                </a:solidFill>
              </a:rPr>
              <a:t>Class 1 • </a:t>
            </a:r>
            <a:r>
              <a:rPr lang="en-US" dirty="0">
                <a:solidFill>
                  <a:srgbClr val="FFFFFF"/>
                </a:solidFill>
              </a:rPr>
              <a:t>The Spacecraft Communications Problem</a:t>
            </a:r>
          </a:p>
          <a:p>
            <a:pPr algn="l">
              <a:buNone/>
            </a:pPr>
            <a:r>
              <a:rPr lang="en-US" dirty="0">
                <a:solidFill>
                  <a:srgbClr val="FFFFFF"/>
                </a:solidFill>
              </a:rPr>
              <a:t>Dave Israel • August 31, 2026</a:t>
            </a:r>
          </a:p>
        </p:txBody>
      </p:sp>
      <p:sp>
        <p:nvSpPr>
          <p:cNvPr id="2083" name="Rectangle 2082">
            <a:extLst>
              <a:ext uri="{FF2B5EF4-FFF2-40B4-BE49-F238E27FC236}">
                <a16:creationId xmlns:a16="http://schemas.microsoft.com/office/drawing/2014/main" id="{4063B759-00FC-46D1-9898-8E8625268FAF}"/>
              </a:ext>
            </a:extLst>
          </p:cNvPr>
          <p:cNvSpPr>
            <a:spLocks noGrp="1"/>
          </p:cNvSpPr>
          <p:nvPr/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7890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Tonight Has Three Parts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591C0-FBFF-494B-8AA2-2D69F16F5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114550"/>
            <a:ext cx="9601200" cy="2857500"/>
          </a:xfrm>
        </p:spPr>
        <p:txBody>
          <a:bodyPr lIns="152400" tIns="114300" rIns="152400" bIns="114300" anchor="ctr">
            <a:normAutofit/>
          </a:bodyPr>
          <a:lstStyle/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Part 1 — Welcome, syllabus, and introductions</a:t>
            </a:r>
          </a:p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Part 2 — Communications as a mission system</a:t>
            </a:r>
          </a:p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Part 3 — Lunar orbiter: volume, rate, latency, and architecture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8A612-E74C-068B-10F2-ADD2E903A8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D6AB9A-5F9E-5F59-51AB-3C8734130965}" type="slidenum"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Introductions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591C0-FBFF-494B-8AA2-2D69F16F5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114550"/>
            <a:ext cx="9601200" cy="2857500"/>
          </a:xfrm>
        </p:spPr>
        <p:txBody>
          <a:bodyPr lIns="152400" tIns="114300" rIns="152400" bIns="114300" anchor="ctr">
            <a:normAutofit/>
          </a:bodyPr>
          <a:lstStyle/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Dave Israel</a:t>
            </a:r>
          </a:p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02124"/>
                </a:solidFill>
                <a:latin typeface="Calibri"/>
                <a:ea typeface="Calibri"/>
                <a:cs typeface="Calibri"/>
                <a:hlinkClick r:id="rId3"/>
              </a:rPr>
              <a:t>disrael@umd.edu</a:t>
            </a:r>
            <a:endParaRPr sz="2550" b="1">
              <a:solidFill>
                <a:srgbClr val="202124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(443)895-1864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8A612-E74C-068B-10F2-ADD2E903A8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598689-54C9-18A7-3A19-ED76AA08988F}" type="slidenum"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Not Simply Radio. Not Simply Networking.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591C0-FBFF-494B-8AA2-2D69F16F5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305050"/>
            <a:ext cx="9677400" cy="2190750"/>
          </a:xfrm>
        </p:spPr>
        <p:txBody>
          <a:bodyPr lIns="304800" tIns="228600" rIns="304800" bIns="228600" anchor="ctr">
            <a:normAutofit fontScale="99521"/>
          </a:bodyPr>
          <a:lstStyle/>
          <a:p>
            <a:pPr marL="0" indent="0" algn="ctr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3375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3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This course is about moving mission information</a:t>
            </a:r>
          </a:p>
          <a:p>
            <a:pPr marL="0" indent="0" algn="ctr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3375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3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through a complete system.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8A612-E74C-068B-10F2-ADD2E903A8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E5B3003-2C54-13C6-9832-7637201064DE}" type="slidenum"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2EB5-D060-4D9F-9C57-776A5B18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The Semester Leads to a Complete Network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39848-ADED-3165-2B31-5571E3330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6172A-6130-DD2C-F9DA-650478B69E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D7D1C8-AE23-AA48-DF65-C742588DBE47}" type="slidenum">
              <a:t>5</a:t>
            </a:fld>
            <a:endParaRPr/>
          </a:p>
        </p:txBody>
      </p:sp>
      <p:graphicFrame>
        <p:nvGraphicFramePr>
          <p:cNvPr id="11" name="Table 10"/>
          <p:cNvGraphicFramePr/>
          <p:nvPr/>
        </p:nvGraphicFramePr>
        <p:xfrm>
          <a:off x="838200" y="1581150"/>
          <a:ext cx="10515600" cy="4076700"/>
        </p:xfrm>
        <a:graphic>
          <a:graphicData uri="http://schemas.openxmlformats.org/drawingml/2006/table">
            <a:tbl>
              <a:tblPr/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250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</a:rPr>
                        <a:t>COURSE GRADE  •  Homework &amp; applied work 70%  •  Final project 30%</a:t>
                      </a:r>
                    </a:p>
                  </a:txBody>
                  <a:tcPr marL="76200" marR="76200" marT="47625" marB="47625" anchor="ctr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76200" marR="76200" marT="47625" marB="47625" anchor="ctr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76200" marR="76200" marT="47625" marB="47625" anchor="ctr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76200" marR="76200" marT="47625" marB="47625" anchor="ctr"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MEETING</a:t>
                      </a:r>
                    </a:p>
                  </a:txBody>
                  <a:tcPr marL="76200" marR="76200" marT="47625" marB="47625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CLASS FOCUS</a:t>
                      </a:r>
                    </a:p>
                  </a:txBody>
                  <a:tcPr marL="76200" marR="76200" marT="47625" marB="47625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MEETING</a:t>
                      </a:r>
                    </a:p>
                  </a:txBody>
                  <a:tcPr marL="76200" marR="76200" marT="47625" marB="47625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CLASS FOCUS</a:t>
                      </a:r>
                    </a:p>
                  </a:txBody>
                  <a:tcPr marL="76200" marR="76200" marT="47625" marB="47625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</a:rPr>
                        <a:t>Aug. 31</a:t>
                      </a:r>
                    </a:p>
                  </a:txBody>
                  <a:tcPr marL="76200" marR="76200" marT="47625" marB="47625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Calibri"/>
                          <a:ea typeface="Calibri"/>
                          <a:cs typeface="Calibri"/>
                        </a:rPr>
                        <a:t>Mission system</a:t>
                      </a:r>
                    </a:p>
                  </a:txBody>
                  <a:tcPr marL="76200" marR="76200" marT="47625" marB="47625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</a:rPr>
                        <a:t>Nov. 2</a:t>
                      </a:r>
                    </a:p>
                  </a:txBody>
                  <a:tcPr marL="76200" marR="76200" marT="47625" marB="47625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Calibri"/>
                          <a:ea typeface="Calibri"/>
                          <a:cs typeface="Calibri"/>
                        </a:rPr>
                        <a:t>Demodulation, BER &amp; coding</a:t>
                      </a:r>
                    </a:p>
                  </a:txBody>
                  <a:tcPr marL="76200" marR="76200" marT="47625" marB="47625" anchor="ctr"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</a:rPr>
                        <a:t>Sept. 14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Calibri"/>
                          <a:ea typeface="Calibri"/>
                          <a:cs typeface="Calibri"/>
                        </a:rPr>
                        <a:t>Received power &amp; geometry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</a:rPr>
                        <a:t>Nov. 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Calibri"/>
                          <a:ea typeface="Calibri"/>
                          <a:cs typeface="Calibri"/>
                        </a:rPr>
                        <a:t>Multiple access, crosslinks &amp; relays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</a:rPr>
                        <a:t>Sept. 28</a:t>
                      </a:r>
                    </a:p>
                  </a:txBody>
                  <a:tcPr marL="76200" marR="76200" marT="47625" marB="47625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Calibri"/>
                          <a:ea typeface="Calibri"/>
                          <a:cs typeface="Calibri"/>
                        </a:rPr>
                        <a:t>Antennas &amp; pointing</a:t>
                      </a:r>
                    </a:p>
                  </a:txBody>
                  <a:tcPr marL="76200" marR="76200" marT="47625" marB="47625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</a:rPr>
                        <a:t>Nov. 16</a:t>
                      </a:r>
                    </a:p>
                  </a:txBody>
                  <a:tcPr marL="76200" marR="76200" marT="47625" marB="47625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Calibri"/>
                          <a:ea typeface="Calibri"/>
                          <a:cs typeface="Calibri"/>
                        </a:rPr>
                        <a:t>Coverage &amp; availability</a:t>
                      </a:r>
                    </a:p>
                  </a:txBody>
                  <a:tcPr marL="76200" marR="76200" marT="47625" marB="47625" anchor="ctr"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</a:rPr>
                        <a:t>Oct. 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Calibri"/>
                          <a:ea typeface="Calibri"/>
                          <a:cs typeface="Calibri"/>
                        </a:rPr>
                        <a:t>Optical communications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</a:rPr>
                        <a:t>Nov. 23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Calibri"/>
                          <a:ea typeface="Calibri"/>
                          <a:cs typeface="Calibri"/>
                        </a:rPr>
                        <a:t>Data services &amp; end-to-end flow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</a:rPr>
                        <a:t>Oct. 19</a:t>
                      </a:r>
                    </a:p>
                  </a:txBody>
                  <a:tcPr marL="76200" marR="76200" marT="47625" marB="47625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Calibri"/>
                          <a:ea typeface="Calibri"/>
                          <a:cs typeface="Calibri"/>
                        </a:rPr>
                        <a:t>Noise, G/T &amp; complete link budget</a:t>
                      </a:r>
                    </a:p>
                  </a:txBody>
                  <a:tcPr marL="76200" marR="76200" marT="47625" marB="47625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</a:rPr>
                        <a:t>Nov. 30</a:t>
                      </a:r>
                    </a:p>
                  </a:txBody>
                  <a:tcPr marL="76200" marR="76200" marT="47625" marB="47625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Calibri"/>
                          <a:ea typeface="Calibri"/>
                          <a:cs typeface="Calibri"/>
                        </a:rPr>
                        <a:t>Routing, store-and-forward &amp; DTN</a:t>
                      </a:r>
                    </a:p>
                  </a:txBody>
                  <a:tcPr marL="76200" marR="76200" marT="47625" marB="47625" anchor="ctr"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</a:rPr>
                        <a:t>Oct. 26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Calibri"/>
                          <a:ea typeface="Calibri"/>
                          <a:cs typeface="Calibri"/>
                        </a:rPr>
                        <a:t>Signals, modulation &amp; bandwidth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sz="1125" b="1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</a:rPr>
                        <a:t>Dec. 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sz="1125" b="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</a:rPr>
                        <a:t>Interoperable networks + architecture studio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950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 dirty="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</a:rPr>
                        <a:t>NO CLASS  •  Sept. 7 — Labor Day  •  Sept. 21 — Yom Kippur  •  Oct. 12 — Fall Break</a:t>
                      </a:r>
                    </a:p>
                  </a:txBody>
                  <a:tcPr marL="76200" marR="76200" marT="47625" marB="47625" anchor="ctr">
                    <a:solidFill>
                      <a:srgbClr val="FFF4C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76200" marR="76200" marT="47625" marB="47625" anchor="ctr">
                    <a:solidFill>
                      <a:srgbClr val="FFF4C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76200" marR="76200" marT="47625" marB="47625" anchor="ctr">
                    <a:solidFill>
                      <a:srgbClr val="FFF4C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76200" marR="76200" marT="47625" marB="47625" anchor="ctr">
                    <a:solidFill>
                      <a:srgbClr val="FFF4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3588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2EB5-D060-4D9F-9C57-776A5B18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What You Will Be Able to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B5C1D-01E6-42ED-8E78-01ED47C14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2925"/>
          </a:xfrm>
        </p:spPr>
        <p:txBody>
          <a:bodyPr lIns="152400" tIns="114300" rIns="152400" bIns="1143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1F4E79"/>
                </a:solidFill>
              </a:rPr>
              <a:t>Translate mission needs and provider capabilities into communications design targets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1F4E79"/>
                </a:solidFill>
              </a:rPr>
              <a:t>Build</a:t>
            </a:r>
            <a:r>
              <a:t> and interpret complete link budgets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1F4E79"/>
                </a:solidFill>
              </a:rPr>
              <a:t>Analyze</a:t>
            </a:r>
            <a:r>
              <a:t> coverage, availability, capacity, and latency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1F4E79"/>
                </a:solidFill>
              </a:rPr>
              <a:t>Trace</a:t>
            </a:r>
            <a:r>
              <a:t> data from its source to its final user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Compare</a:t>
            </a:r>
            <a:r>
              <a:t> architectures and defend the trades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39848-ADED-3165-2B31-5571E3330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6172A-6130-DD2C-F9DA-650478B69E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A58DA2A-B818-18A9-29C1-B697728D5BCE}" type="slidenum"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3588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2EB5-D060-4D9F-9C57-776A5B18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Two Perspectives, One Complete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B5C1D-01E6-42ED-8E78-01ED47C14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0" y="1714500"/>
            <a:ext cx="7429500" cy="4524375"/>
          </a:xfrm>
        </p:spPr>
        <p:txBody>
          <a:bodyPr lIns="152400" tIns="114300" rIns="152400" bIns="114300" anchor="ctr">
            <a:normAutofit fontScale="94161"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Mission view: what information must arrive—and when?</a:t>
            </a: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↓</a:t>
            </a: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Provider view: what services can shared assets deliver?</a:t>
            </a: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↓</a:t>
            </a: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Radio links</a:t>
            </a: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+</a:t>
            </a: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Networks and operations</a:t>
            </a: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↓</a:t>
            </a: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Mission information reaches its user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39848-ADED-3165-2B31-5571E3330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6172A-6130-DD2C-F9DA-650478B69E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8657AE-30A1-5A7A-6A7F-315D84436430}" type="slidenum"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3588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2EB5-D060-4D9F-9C57-776A5B18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We Will Do the Engineering in the Room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B5C1D-01E6-42ED-8E78-01ED47C14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2925"/>
          </a:xfrm>
        </p:spPr>
        <p:txBody>
          <a:bodyPr lIns="152400" tIns="114300" rIns="152400" bIns="114300" anchor="t">
            <a:normAutofit/>
          </a:bodyPr>
          <a:lstStyle/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Introduce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 the principle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Work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 an example together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Change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 one assumption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Predict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 what changes—and why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Use homework to extend the 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39848-ADED-3165-2B31-5571E3330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6172A-6130-DD2C-F9DA-650478B69E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7BEEEC-A170-5376-2B6E-CB54687B0CB1}" type="slidenum"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3588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357B1F59-1E81-4B71-9EF8-4DD02C9F6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The Communications Problem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CEAE83-915E-5D0F-8D47-9B4BCDF2640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667000" y="6356350"/>
            <a:ext cx="6858000" cy="365125"/>
          </a:xfrm>
        </p:spPr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0977EE1-811D-219C-157D-B7C9E612AE2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DB16885-0D3F-A391-B669-3211DB3B26E8}" type="slidenum">
              <a:t>9</a:t>
            </a:fld>
            <a:endParaRPr/>
          </a:p>
        </p:txBody>
      </p:sp>
      <p:sp>
        <p:nvSpPr>
          <p:cNvPr id="117768" name="Text Box 8">
            <a:extLst>
              <a:ext uri="{FF2B5EF4-FFF2-40B4-BE49-F238E27FC236}">
                <a16:creationId xmlns:a16="http://schemas.microsoft.com/office/drawing/2014/main" id="{F335E5C9-AD8C-46A8-BBCF-D63EC5478A83}"/>
              </a:ext>
            </a:extLst>
          </p:cNvPr>
          <p:cNvSpPr>
            <a:spLocks noGrp="1"/>
          </p:cNvSpPr>
          <p:nvPr/>
        </p:nvSpPr>
        <p:spPr>
          <a:xfrm>
            <a:off x="4327526" y="3660775"/>
            <a:ext cx="184731" cy="369332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pic>
        <p:nvPicPr>
          <p:cNvPr id="117775" name="Graphic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790700"/>
            <a:ext cx="1752600" cy="1752600"/>
          </a:xfrm>
          <a:prstGeom prst="rect">
            <a:avLst/>
          </a:prstGeom>
        </p:spPr>
      </p:pic>
      <p:pic>
        <p:nvPicPr>
          <p:cNvPr id="117776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1905000"/>
            <a:ext cx="1524000" cy="1524000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7859F05B-C0C4-BE1F-D461-E98364ACDA03}"/>
              </a:ext>
            </a:extLst>
          </p:cNvPr>
          <p:cNvSpPr>
            <a:spLocks noGrp="1"/>
          </p:cNvSpPr>
          <p:nvPr/>
        </p:nvSpPr>
        <p:spPr>
          <a:xfrm>
            <a:off x="4307398" y="2209800"/>
            <a:ext cx="2743200" cy="228600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9412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1" name="Picture 2"/>
          <p:cNvPicPr>
            <a:picLocks noChangeAspect="1"/>
          </p:cNvPicPr>
          <p:nvPr/>
        </p:nvPicPr>
        <p:blipFill rotWithShape="1">
          <a:blip r:embed="rId3"/>
          <a:srcRect t="1330" r="2" b="13125"/>
          <a:stretch/>
        </p:blipFill>
        <p:spPr>
          <a:xfrm>
            <a:off x="457202" y="468638"/>
            <a:ext cx="5426764" cy="2611361"/>
          </a:xfrm>
          <a:prstGeom prst="rect">
            <a:avLst/>
          </a:prstGeom>
        </p:spPr>
      </p:pic>
      <p:sp>
        <p:nvSpPr>
          <p:cNvPr id="1045" name="Rectangle 1044">
            <a:extLst>
              <a:ext uri="{FF2B5EF4-FFF2-40B4-BE49-F238E27FC236}">
                <a16:creationId xmlns:a16="http://schemas.microsoft.com/office/drawing/2014/main" id="{417CDA24-35F8-4540-8C52-3096D6D94949}"/>
              </a:ext>
            </a:extLst>
          </p:cNvPr>
          <p:cNvSpPr>
            <a:spLocks noGrp="1"/>
          </p:cNvSpPr>
          <p:nvPr/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053" name="Picture 6"/>
          <p:cNvPicPr>
            <a:picLocks noChangeAspect="1"/>
          </p:cNvPicPr>
          <p:nvPr/>
        </p:nvPicPr>
        <p:blipFill rotWithShape="1">
          <a:blip r:embed="rId4"/>
          <a:srcRect t="2150" r="2" b="16008"/>
          <a:stretch/>
        </p:blipFill>
        <p:spPr>
          <a:xfrm>
            <a:off x="6308034" y="377797"/>
            <a:ext cx="5112595" cy="2793044"/>
          </a:xfrm>
          <a:prstGeom prst="rect">
            <a:avLst/>
          </a:prstGeom>
        </p:spPr>
      </p:pic>
      <p:sp>
        <p:nvSpPr>
          <p:cNvPr id="1044" name="Rectangle 1043">
            <a:extLst>
              <a:ext uri="{FF2B5EF4-FFF2-40B4-BE49-F238E27FC236}">
                <a16:creationId xmlns:a16="http://schemas.microsoft.com/office/drawing/2014/main" id="{8658BFE0-4E65-4174-9C75-687C94E88273}"/>
              </a:ext>
            </a:extLst>
          </p:cNvPr>
          <p:cNvSpPr>
            <a:spLocks noGrp="1"/>
          </p:cNvSpPr>
          <p:nvPr/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FA75DFED-A0C1-4A83-BE1D-0271C1826EF6}"/>
              </a:ext>
            </a:extLst>
          </p:cNvPr>
          <p:cNvSpPr>
            <a:spLocks noGrp="1"/>
          </p:cNvSpPr>
          <p:nvPr/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056" name="Picture 8"/>
          <p:cNvPicPr>
            <a:picLocks noChangeAspect="1"/>
          </p:cNvPicPr>
          <p:nvPr/>
        </p:nvPicPr>
        <p:blipFill rotWithShape="1">
          <a:blip r:embed="rId5"/>
          <a:srcRect r="-2" b="2981"/>
          <a:stretch/>
        </p:blipFill>
        <p:spPr>
          <a:xfrm>
            <a:off x="641305" y="3631096"/>
            <a:ext cx="5058556" cy="276056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8C62F3-31F7-4B03-2672-74307BC9EC4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201" y="6356350"/>
            <a:ext cx="5426764" cy="365125"/>
          </a:xfrm>
        </p:spPr>
        <p:txBody>
          <a:bodyPr vert="horz" lIns="91440" tIns="45720" rIns="91440" bIns="45720" anchor="ctr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rPr>
              <a:t>ENAE 694 • Communications as a Mission System</a:t>
            </a:r>
          </a:p>
        </p:txBody>
      </p:sp>
      <p:pic>
        <p:nvPicPr>
          <p:cNvPr id="1058" name="Picture 6"/>
          <p:cNvPicPr>
            <a:picLocks noChangeAspect="1"/>
          </p:cNvPicPr>
          <p:nvPr/>
        </p:nvPicPr>
        <p:blipFill rotWithShape="1">
          <a:blip r:embed="rId6"/>
          <a:srcRect t="14545" r="-2" b="-2"/>
          <a:stretch/>
        </p:blipFill>
        <p:spPr>
          <a:xfrm>
            <a:off x="6308034" y="3782600"/>
            <a:ext cx="5112595" cy="245755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A3277A-147B-3767-BB3F-329B0715893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anchor="ctr">
            <a:normAutofit/>
          </a:bodyPr>
          <a:lstStyle/>
          <a:p>
            <a:pPr>
              <a:spcAft>
                <a:spcPts val="600"/>
              </a:spcAft>
              <a:buNone/>
            </a:pPr>
            <a:fld id="{30394428-F1DC-E5F6-DB0C-7DE31F3D8A23}" type="slidenum"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8656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Mission Needs Come First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591C0-FBFF-494B-8AA2-2D69F16F5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095500"/>
            <a:ext cx="9677400" cy="3143250"/>
          </a:xfrm>
        </p:spPr>
        <p:txBody>
          <a:bodyPr lIns="323850" tIns="247650" rIns="323850" bIns="247650" anchor="ctr">
            <a:normAutofit/>
          </a:bodyPr>
          <a:lstStyle/>
          <a:p>
            <a:pPr marL="0" indent="0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70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“Use Ka-band” is an implementation choice.</a:t>
            </a:r>
          </a:p>
          <a:p>
            <a:pPr marL="0" indent="0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70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“Use a relay” is an architecture choice.</a:t>
            </a:r>
          </a:p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70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Start with what information must reach whom, how much, how quickly, and how dependably.</a:t>
            </a:r>
          </a:p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70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Then compare ways to make that happen.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8A612-E74C-068B-10F2-ADD2E903A8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27921A4-25C4-3DB4-06B1-32693CEE2241}" type="slidenum"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2EB5-D060-4D9F-9C57-776A5B18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Start With Eight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B5C1D-01E6-42ED-8E78-01ED47C14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1676400"/>
            <a:ext cx="9525000" cy="4533900"/>
          </a:xfrm>
        </p:spPr>
        <p:txBody>
          <a:bodyPr lIns="114300" tIns="76200" rIns="114300" bIns="76200" anchor="t">
            <a:normAutofit/>
          </a:bodyPr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900"/>
              </a:spcAft>
              <a:buNone/>
              <a:defRPr sz="210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1  </a:t>
            </a:r>
            <a:r>
              <a:rPr sz="210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Where is the information produced?</a:t>
            </a:r>
          </a:p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900"/>
              </a:spcAft>
              <a:buNone/>
              <a:defRPr sz="210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2  </a:t>
            </a:r>
            <a:r>
              <a:rPr sz="210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Where must it ultimately go?</a:t>
            </a:r>
          </a:p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900"/>
              </a:spcAft>
              <a:buNone/>
              <a:defRPr sz="210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3  </a:t>
            </a:r>
            <a:r>
              <a:rPr sz="210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How much must be delivered?</a:t>
            </a:r>
          </a:p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900"/>
              </a:spcAft>
              <a:buNone/>
              <a:defRPr sz="210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4  </a:t>
            </a:r>
            <a:r>
              <a:rPr sz="210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How soon must it arrive?</a:t>
            </a:r>
          </a:p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900"/>
              </a:spcAft>
              <a:buNone/>
              <a:defRPr sz="210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5  </a:t>
            </a:r>
            <a:r>
              <a:rPr sz="210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How complete and reliable must delivery be?</a:t>
            </a:r>
          </a:p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900"/>
              </a:spcAft>
              <a:buNone/>
              <a:defRPr sz="210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6  </a:t>
            </a:r>
            <a:r>
              <a:rPr sz="210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Are some data more important than others?</a:t>
            </a:r>
          </a:p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900"/>
              </a:spcAft>
              <a:buNone/>
              <a:defRPr sz="210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7  </a:t>
            </a:r>
            <a:r>
              <a:rPr sz="210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What security is required?</a:t>
            </a:r>
          </a:p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900"/>
              </a:spcAft>
              <a:buNone/>
              <a:defRPr sz="210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8  </a:t>
            </a:r>
            <a:r>
              <a:rPr sz="210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What resources and constraints limit the design?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39848-ADED-3165-2B31-5571E3330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6172A-6130-DD2C-F9DA-650478B69E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A83FA91-883A-0168-8075-96CEB9DCA3C2}" type="slidenum"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3588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32AA2-4FC2-401D-A90C-7983DD463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Start With Source and Destination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94ECE-A9A5-49C2-B749-9E942EFF6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2925"/>
          </a:xfrm>
        </p:spPr>
        <p:txBody>
          <a:bodyPr lIns="152400" tIns="114300" rIns="152400" bIns="114300" anchor="t">
            <a:normAutofit/>
          </a:bodyPr>
          <a:lstStyle/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Geometry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 sets range, visibility, and propagation time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Interfaces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 identify the systems and organizations involved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The final destination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 may be far beyond the ground antenna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Different sources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 may need different paths and services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8AA49A-754E-036B-F054-15AAAF0632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D177F-236A-7D0C-CBDB-826FC95B41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C9C7607-4BA3-B4DC-A00F-2E67A9FCFF7E}" type="slidenum"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8522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37C69-EE5D-4D82-94E1-549C9A730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Data Volume Is Not a Data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DB851-0CC6-403F-96E5-70692EFBF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238375"/>
            <a:ext cx="9525000" cy="2286000"/>
          </a:xfrm>
        </p:spPr>
        <p:txBody>
          <a:bodyPr lIns="304800" tIns="228600" rIns="304800" bIns="228600" anchor="ctr">
            <a:normAutofit/>
          </a:bodyPr>
          <a:lstStyle/>
          <a:p>
            <a:pPr marL="0" indent="0" algn="ctr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 volume becomes a rate only after we know</a:t>
            </a:r>
          </a:p>
          <a:p>
            <a:pPr marL="0" indent="0" algn="ctr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how much communication time is available.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4C34D1-6105-BA29-9BED-5ECCFDCA971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C26E0-AD3C-E67C-7D13-F6E02C73D2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0F7333B-44AC-F7E9-D49D-FE92F45E0477}" type="slidenum"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9630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2EB5-D060-4D9F-9C57-776A5B18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First Worked Example: A Lunar Orbiter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B5C1D-01E6-42ED-8E78-01ED47C14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5500"/>
            <a:ext cx="4572000" cy="2857500"/>
          </a:xfrm>
        </p:spPr>
        <p:txBody>
          <a:bodyPr lIns="152400" tIns="114300" rIns="152400" bIns="114300" anchor="ctr">
            <a:normAutofit fontScale="94772" lnSpcReduction="10000"/>
          </a:bodyPr>
          <a:lstStyle/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8 GB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 of science data each day</a:t>
            </a:r>
          </a:p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Two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 scheduled 10-minute Earth contacts per day</a:t>
            </a:r>
          </a:p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0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Assume every scheduled second can carry science data</a:t>
            </a:r>
          </a:p>
          <a:p>
            <a:pPr marL="0" indent="0" algn="l">
              <a:lnSpc>
                <a:spcPct val="98000"/>
              </a:lnSpc>
              <a:spcBef>
                <a:spcPts val="120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0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What is the minimum data rate?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39848-ADED-3165-2B31-5571E3330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6172A-6130-DD2C-F9DA-650478B69E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C6C81E-38B9-7560-621D-5A151A79DF9B}" type="slidenum">
              <a:t>15</a:t>
            </a:fld>
            <a:endParaRPr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05500" y="1762125"/>
            <a:ext cx="5334000" cy="4000500"/>
          </a:xfrm>
          <a:prstGeom prst="roundRect">
            <a:avLst>
              <a:gd name="adj" fmla="val 2381"/>
            </a:avLst>
          </a:prstGeom>
        </p:spPr>
      </p:pic>
    </p:spTree>
    <p:extLst>
      <p:ext uri="{BB962C8B-B14F-4D97-AF65-F5344CB8AC3E}">
        <p14:creationId xmlns:p14="http://schemas.microsoft.com/office/powerpoint/2010/main" val="2283588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32AA2-4FC2-401D-A90C-7983DD463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First Convert the Daily Volume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94ECE-A9A5-49C2-B749-9E942EFF6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1125" y="2095500"/>
            <a:ext cx="9429750" cy="3238500"/>
          </a:xfrm>
        </p:spPr>
        <p:txBody>
          <a:bodyPr lIns="152400" tIns="114300" rIns="152400" bIns="114300" anchor="ctr">
            <a:normAutofit/>
          </a:bodyPr>
          <a:lstStyle/>
          <a:p>
            <a:pPr marL="0" indent="0" algn="ctr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8 GB/day × 8 bits/byte</a:t>
            </a:r>
          </a:p>
          <a:p>
            <a:pPr marL="0" indent="0" algn="ctr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= 64 Gbit/day</a:t>
            </a:r>
          </a:p>
          <a:p>
            <a:pPr marL="0" indent="0" algn="ctr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Keep the units visible.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 They are often the first line of defense against nonsense.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8AA49A-754E-036B-F054-15AAAF0632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D177F-236A-7D0C-CBDB-826FC95B41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CF91274-D221-1BB4-3BF9-836E3AD31EBE}" type="slidenum"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8522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32AA2-4FC2-401D-A90C-7983DD463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Then Divide by Available Contact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94ECE-A9A5-49C2-B749-9E942EFF6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250" y="2019300"/>
            <a:ext cx="9715500" cy="3429000"/>
          </a:xfrm>
        </p:spPr>
        <p:txBody>
          <a:bodyPr lIns="152400" tIns="114300" rIns="152400" bIns="114300" anchor="ctr">
            <a:normAutofit/>
          </a:bodyPr>
          <a:lstStyle/>
          <a:p>
            <a:pPr marL="0" indent="0" algn="ctr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Contact time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 = 2 × 10 min × 60 s/min = 1,200 s</a:t>
            </a:r>
          </a:p>
          <a:p>
            <a:pPr marL="0" indent="0" algn="ctr">
              <a:lnSpc>
                <a:spcPct val="98000"/>
              </a:lnSpc>
              <a:spcBef>
                <a:spcPts val="110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Minimum rate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 = 64 × 10⁹ bits ÷ 1,200 s</a:t>
            </a:r>
          </a:p>
          <a:p>
            <a:pPr marL="0" indent="0" algn="ctr">
              <a:lnSpc>
                <a:spcPct val="98000"/>
              </a:lnSpc>
              <a:spcBef>
                <a:spcPts val="90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≈ 53.3 Mbit/s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D177F-236A-7D0C-CBDB-826FC95B41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44E025A-983C-6D44-79C6-4612AACD43FC}" type="slidenum"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8522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2EB5-D060-4D9F-9C57-776A5B18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53.3 Mbit/s Is Only a Lower Bound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B5C1D-01E6-42ED-8E78-01ED47C14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2925"/>
          </a:xfrm>
        </p:spPr>
        <p:txBody>
          <a:bodyPr lIns="152400" tIns="114300" rIns="152400" bIns="114300" anchor="t">
            <a:normAutofit/>
          </a:bodyPr>
          <a:lstStyle/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Protocol and coding overhead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Acquisition and handover time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Changing geometry and link performance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Lost or shortened contacts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Telemetry, commands, and competing users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Variation in data production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39848-ADED-3165-2B31-5571E3330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6172A-6130-DD2C-F9DA-650478B69E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DF2BE2-2DFA-1C03-677D-BDC2260D6D92}" type="slidenum"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3588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B85BE-10EC-4A7C-83B4-D62CC2A71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Now Add a Latency Need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5DEBC-1C18-4EC6-87D5-3BB63513A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1952625"/>
            <a:ext cx="9677400" cy="3619500"/>
          </a:xfrm>
        </p:spPr>
        <p:txBody>
          <a:bodyPr lIns="152400" tIns="114300" rIns="152400" bIns="114300" anchor="ctr">
            <a:normAutofit/>
          </a:bodyPr>
          <a:lstStyle/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The orbiter also produces an event alert.</a:t>
            </a:r>
          </a:p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Very small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 data volume</a:t>
            </a:r>
          </a:p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Ten-minute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 delivery deadline</a:t>
            </a:r>
          </a:p>
          <a:p>
            <a:pPr marL="0" indent="0" algn="l">
              <a:lnSpc>
                <a:spcPct val="98000"/>
              </a:lnSpc>
              <a:spcBef>
                <a:spcPts val="160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Does the twice-daily contact schedule satisfy the mission?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2B6AC4-8D6C-11A0-D426-B3EEC8C60A6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A9FA0-2E8B-C9DD-B59C-EF95EF029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BB18BA8-60F4-C50D-CD9B-1BB87D3E8506}" type="slidenum"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5174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Capacity and Availability Are Different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591C0-FBFF-494B-8AA2-2D69F16F5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1666875"/>
            <a:ext cx="9525000" cy="1333500"/>
          </a:xfrm>
        </p:spPr>
        <p:txBody>
          <a:bodyPr lIns="304800" tIns="228600" rIns="304800" bIns="228600" anchor="ctr">
            <a:normAutofit fontScale="47516" lnSpcReduction="20000"/>
          </a:bodyPr>
          <a:lstStyle/>
          <a:p>
            <a:pPr marL="0" indent="0" algn="ctr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Capacity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 asks: how much?</a:t>
            </a:r>
          </a:p>
          <a:p>
            <a:pPr marL="0" indent="0" algn="ctr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C65911"/>
                </a:solidFill>
                <a:latin typeface="Calibri"/>
                <a:ea typeface="Calibri"/>
                <a:cs typeface="Calibri"/>
              </a:rPr>
              <a:t>Availability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 asks: when?</a:t>
            </a:r>
          </a:p>
          <a:p>
            <a:pPr marL="0" indent="0" algn="ctr">
              <a:lnSpc>
                <a:spcPct val="98000"/>
              </a:lnSpc>
              <a:spcBef>
                <a:spcPts val="150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i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Enough total capacity does not guarantee a usable path at the critical moment.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8A612-E74C-068B-10F2-ADD2E903A8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4E99CEF-AF55-BA3C-ADF8-4E52E186DD8F}" type="slidenum">
              <a:t>20</a:t>
            </a:fld>
            <a:endParaRPr/>
          </a:p>
        </p:txBody>
      </p:sp>
      <p:sp>
        <p:nvSpPr>
          <p:cNvPr id="7" name="timeline-caption">
            <a:extLst>
              <a:ext uri="{FF2B5EF4-FFF2-40B4-BE49-F238E27FC236}">
                <a16:creationId xmlns:a16="http://schemas.microsoft.com/office/drawing/2014/main" id="{CCCB845B-68B8-46EA-92FA-20FDA0F9D44B}"/>
              </a:ext>
            </a:extLst>
          </p:cNvPr>
          <p:cNvSpPr>
            <a:spLocks noGrp="1"/>
          </p:cNvSpPr>
          <p:nvPr/>
        </p:nvSpPr>
        <p:spPr>
          <a:xfrm>
            <a:off x="4095750" y="3286125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Scheduled Service Across a Day</a:t>
            </a:r>
          </a:p>
        </p:txBody>
      </p:sp>
      <p:sp>
        <p:nvSpPr>
          <p:cNvPr id="8" name="day-track">
            <a:extLst>
              <a:ext uri="{FF2B5EF4-FFF2-40B4-BE49-F238E27FC236}">
                <a16:creationId xmlns:a16="http://schemas.microsoft.com/office/drawing/2014/main" id="{7C5FF034-79D7-4701-B53D-288B06165E35}"/>
              </a:ext>
            </a:extLst>
          </p:cNvPr>
          <p:cNvSpPr>
            <a:spLocks noGrp="1"/>
          </p:cNvSpPr>
          <p:nvPr/>
        </p:nvSpPr>
        <p:spPr>
          <a:xfrm>
            <a:off x="1524000" y="4152900"/>
            <a:ext cx="9144000" cy="57150"/>
          </a:xfrm>
          <a:prstGeom prst="rect">
            <a:avLst/>
          </a:prstGeom>
          <a:solidFill>
            <a:srgbClr val="D9E2F3"/>
          </a:solidFill>
          <a:ln w="4763">
            <a:solidFill>
              <a:srgbClr val="A6B8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alert-wait">
            <a:extLst>
              <a:ext uri="{FF2B5EF4-FFF2-40B4-BE49-F238E27FC236}">
                <a16:creationId xmlns:a16="http://schemas.microsoft.com/office/drawing/2014/main" id="{1AB85B6D-FE5F-4402-9B9C-36487BF061F9}"/>
              </a:ext>
            </a:extLst>
          </p:cNvPr>
          <p:cNvSpPr>
            <a:spLocks noGrp="1"/>
          </p:cNvSpPr>
          <p:nvPr/>
        </p:nvSpPr>
        <p:spPr>
          <a:xfrm>
            <a:off x="3543300" y="4133850"/>
            <a:ext cx="5029200" cy="95250"/>
          </a:xfrm>
          <a:prstGeom prst="rect">
            <a:avLst/>
          </a:prstGeom>
          <a:solidFill>
            <a:srgbClr val="C65911"/>
          </a:solidFill>
          <a:ln w="4763">
            <a:solidFill>
              <a:srgbClr val="C659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contact-one">
            <a:extLst>
              <a:ext uri="{FF2B5EF4-FFF2-40B4-BE49-F238E27FC236}">
                <a16:creationId xmlns:a16="http://schemas.microsoft.com/office/drawing/2014/main" id="{C9E8B35D-0963-44B2-8D7A-2CAC1BB39CCC}"/>
              </a:ext>
            </a:extLst>
          </p:cNvPr>
          <p:cNvSpPr>
            <a:spLocks noGrp="1"/>
          </p:cNvSpPr>
          <p:nvPr/>
        </p:nvSpPr>
        <p:spPr>
          <a:xfrm>
            <a:off x="2381250" y="3829050"/>
            <a:ext cx="323850" cy="685800"/>
          </a:xfrm>
          <a:prstGeom prst="roundRect">
            <a:avLst>
              <a:gd name="adj" fmla="val 17647"/>
            </a:avLst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ontact-two">
            <a:extLst>
              <a:ext uri="{FF2B5EF4-FFF2-40B4-BE49-F238E27FC236}">
                <a16:creationId xmlns:a16="http://schemas.microsoft.com/office/drawing/2014/main" id="{4C279552-768B-46EB-A477-77FF45ECDF27}"/>
              </a:ext>
            </a:extLst>
          </p:cNvPr>
          <p:cNvSpPr>
            <a:spLocks noGrp="1"/>
          </p:cNvSpPr>
          <p:nvPr/>
        </p:nvSpPr>
        <p:spPr>
          <a:xfrm>
            <a:off x="8572500" y="3829050"/>
            <a:ext cx="323850" cy="685800"/>
          </a:xfrm>
          <a:prstGeom prst="roundRect">
            <a:avLst>
              <a:gd name="adj" fmla="val 17647"/>
            </a:avLst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vent-alert-marker">
            <a:extLst>
              <a:ext uri="{FF2B5EF4-FFF2-40B4-BE49-F238E27FC236}">
                <a16:creationId xmlns:a16="http://schemas.microsoft.com/office/drawing/2014/main" id="{EB8E3CA9-4D3D-4B21-A474-A0F647459BEE}"/>
              </a:ext>
            </a:extLst>
          </p:cNvPr>
          <p:cNvSpPr>
            <a:spLocks noGrp="1"/>
          </p:cNvSpPr>
          <p:nvPr/>
        </p:nvSpPr>
        <p:spPr>
          <a:xfrm>
            <a:off x="3352800" y="3857625"/>
            <a:ext cx="190500" cy="190500"/>
          </a:xfrm>
          <a:prstGeom prst="ellipse">
            <a:avLst/>
          </a:prstGeom>
          <a:solidFill>
            <a:srgbClr val="C65911"/>
          </a:solidFill>
          <a:ln w="9525">
            <a:solidFill>
              <a:srgbClr val="C659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vent-alert-label">
            <a:extLst>
              <a:ext uri="{FF2B5EF4-FFF2-40B4-BE49-F238E27FC236}">
                <a16:creationId xmlns:a16="http://schemas.microsoft.com/office/drawing/2014/main" id="{C1CDFCDC-F76E-444D-8889-509C12EC5F26}"/>
              </a:ext>
            </a:extLst>
          </p:cNvPr>
          <p:cNvSpPr>
            <a:spLocks noGrp="1"/>
          </p:cNvSpPr>
          <p:nvPr/>
        </p:nvSpPr>
        <p:spPr>
          <a:xfrm>
            <a:off x="2819400" y="35623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C65911"/>
                </a:solidFill>
              </a:defRPr>
            </a:pPr>
            <a:r>
              <a:rPr sz="1275" b="1">
                <a:solidFill>
                  <a:srgbClr val="C65911"/>
                </a:solidFill>
              </a:rPr>
              <a:t>Alert generated</a:t>
            </a:r>
          </a:p>
        </p:txBody>
      </p:sp>
      <p:sp>
        <p:nvSpPr>
          <p:cNvPr id="14" name="wait-label">
            <a:extLst>
              <a:ext uri="{FF2B5EF4-FFF2-40B4-BE49-F238E27FC236}">
                <a16:creationId xmlns:a16="http://schemas.microsoft.com/office/drawing/2014/main" id="{A60BA2D8-2941-46EE-A5D7-A12779B19FFA}"/>
              </a:ext>
            </a:extLst>
          </p:cNvPr>
          <p:cNvSpPr>
            <a:spLocks noGrp="1"/>
          </p:cNvSpPr>
          <p:nvPr/>
        </p:nvSpPr>
        <p:spPr>
          <a:xfrm>
            <a:off x="4095750" y="4476750"/>
            <a:ext cx="3905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C65911"/>
                </a:solidFill>
              </a:defRPr>
            </a:pPr>
            <a:r>
              <a:rPr sz="1425" b="1">
                <a:solidFill>
                  <a:srgbClr val="C65911"/>
                </a:solidFill>
              </a:rPr>
              <a:t>No contact available — alert waits</a:t>
            </a:r>
          </a:p>
        </p:txBody>
      </p:sp>
      <p:sp>
        <p:nvSpPr>
          <p:cNvPr id="15" name="contact-label-one">
            <a:extLst>
              <a:ext uri="{FF2B5EF4-FFF2-40B4-BE49-F238E27FC236}">
                <a16:creationId xmlns:a16="http://schemas.microsoft.com/office/drawing/2014/main" id="{015F23F6-0C6F-4F25-A881-02CE478B961C}"/>
              </a:ext>
            </a:extLst>
          </p:cNvPr>
          <p:cNvSpPr>
            <a:spLocks noGrp="1"/>
          </p:cNvSpPr>
          <p:nvPr/>
        </p:nvSpPr>
        <p:spPr>
          <a:xfrm>
            <a:off x="1809750" y="485775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>
                <a:solidFill>
                  <a:srgbClr val="1F4E79"/>
                </a:solidFill>
              </a:defRPr>
            </a:pPr>
            <a:r>
              <a:rPr sz="1275">
                <a:solidFill>
                  <a:srgbClr val="1F4E79"/>
                </a:solidFill>
              </a:rPr>
              <a:t>Scheduled contact</a:t>
            </a:r>
          </a:p>
        </p:txBody>
      </p:sp>
      <p:sp>
        <p:nvSpPr>
          <p:cNvPr id="16" name="contact-label-two">
            <a:extLst>
              <a:ext uri="{FF2B5EF4-FFF2-40B4-BE49-F238E27FC236}">
                <a16:creationId xmlns:a16="http://schemas.microsoft.com/office/drawing/2014/main" id="{17F4D3FC-F372-4DF5-8FD4-74D084ED2820}"/>
              </a:ext>
            </a:extLst>
          </p:cNvPr>
          <p:cNvSpPr>
            <a:spLocks noGrp="1"/>
          </p:cNvSpPr>
          <p:nvPr/>
        </p:nvSpPr>
        <p:spPr>
          <a:xfrm>
            <a:off x="7981950" y="485775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>
                <a:solidFill>
                  <a:srgbClr val="1F4E79"/>
                </a:solidFill>
              </a:defRPr>
            </a:pPr>
            <a:r>
              <a:rPr sz="1275">
                <a:solidFill>
                  <a:srgbClr val="1F4E79"/>
                </a:solidFill>
              </a:rPr>
              <a:t>Next contact</a:t>
            </a:r>
          </a:p>
        </p:txBody>
      </p:sp>
      <p:sp>
        <p:nvSpPr>
          <p:cNvPr id="17" name="day-start">
            <a:extLst>
              <a:ext uri="{FF2B5EF4-FFF2-40B4-BE49-F238E27FC236}">
                <a16:creationId xmlns:a16="http://schemas.microsoft.com/office/drawing/2014/main" id="{B29063AE-0C26-48E3-B3F7-3E55C5EC47DF}"/>
              </a:ext>
            </a:extLst>
          </p:cNvPr>
          <p:cNvSpPr>
            <a:spLocks noGrp="1"/>
          </p:cNvSpPr>
          <p:nvPr/>
        </p:nvSpPr>
        <p:spPr>
          <a:xfrm>
            <a:off x="1143000" y="434340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Earlier</a:t>
            </a:r>
          </a:p>
        </p:txBody>
      </p:sp>
      <p:sp>
        <p:nvSpPr>
          <p:cNvPr id="18" name="day-end">
            <a:extLst>
              <a:ext uri="{FF2B5EF4-FFF2-40B4-BE49-F238E27FC236}">
                <a16:creationId xmlns:a16="http://schemas.microsoft.com/office/drawing/2014/main" id="{CEF82B26-D28F-42D2-AD50-1B431C25EE4B}"/>
              </a:ext>
            </a:extLst>
          </p:cNvPr>
          <p:cNvSpPr>
            <a:spLocks noGrp="1"/>
          </p:cNvSpPr>
          <p:nvPr/>
        </p:nvSpPr>
        <p:spPr>
          <a:xfrm>
            <a:off x="10191750" y="4343400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Later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2EB5-D060-4D9F-9C57-776A5B18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Different Data Need Different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B5C1D-01E6-42ED-8E78-01ED47C14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2925"/>
          </a:xfrm>
        </p:spPr>
        <p:txBody>
          <a:bodyPr lIns="152400" tIns="114300" rIns="152400" bIns="114300" anchor="t">
            <a:normAutofit/>
          </a:bodyPr>
          <a:lstStyle/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Science imagery — high volume, hours of latency, very high completeness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Event alert 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— tiny volume, 10-minute latency, urgent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Housekeeping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 — moderate volume, priority changes with spacecraft state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Command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 — tiny volume, mission-dependent latency, authorized and correct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The smallest data product may drive the most expensive design choice.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39848-ADED-3165-2B31-5571E3330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6172A-6130-DD2C-F9DA-650478B69E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A59AF09-D197-0193-A7DE-FAAF0B691058}" type="slidenum"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3588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2EB5-D060-4D9F-9C57-776A5B18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Three Plausible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B5C1D-01E6-42ED-8E78-01ED47C14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0" y="1619250"/>
            <a:ext cx="9334500" cy="1095375"/>
          </a:xfrm>
        </p:spPr>
        <p:txBody>
          <a:bodyPr lIns="323850" tIns="247650" rIns="323850" bIns="247650" anchor="ctr">
            <a:normAutofit fontScale="76413" lnSpcReduction="20000"/>
          </a:bodyPr>
          <a:lstStyle/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1350" b="0">
                <a:solidFill>
                  <a:srgbClr val="26262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1   Mission-owned direct-to-Earth ground station</a:t>
            </a:r>
          </a:p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1350" b="0">
                <a:solidFill>
                  <a:srgbClr val="26262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2   Shared provider ground-station network</a:t>
            </a:r>
          </a:p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1350" b="0">
                <a:solidFill>
                  <a:srgbClr val="26262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3   Relay provider plus direct-to-Earth for bulk data</a:t>
            </a:r>
          </a:p>
        </p:txBody>
      </p:sp>
      <p:pic>
        <p:nvPicPr>
          <p:cNvPr id="14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3615"/>
            <a:ext cx="12192000" cy="519394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39848-ADED-3165-2B31-5571E3330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6172A-6130-DD2C-F9DA-650478B69E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AE1AE4-D79E-94D6-E825-3FC6C21A77D2}" type="slidenum">
              <a:t>22</a:t>
            </a:fld>
            <a:endParaRPr/>
          </a:p>
        </p:txBody>
      </p:sp>
      <p:sp>
        <p:nvSpPr>
          <p:cNvPr id="8" name="architecture-1">
            <a:extLst>
              <a:ext uri="{FF2B5EF4-FFF2-40B4-BE49-F238E27FC236}">
                <a16:creationId xmlns:a16="http://schemas.microsoft.com/office/drawing/2014/main" id="{742B7794-5371-4DB5-B92F-A03A4F4D0EF3}"/>
              </a:ext>
            </a:extLst>
          </p:cNvPr>
          <p:cNvSpPr>
            <a:spLocks noGrp="1"/>
          </p:cNvSpPr>
          <p:nvPr/>
        </p:nvSpPr>
        <p:spPr>
          <a:xfrm>
            <a:off x="2362200" y="2971800"/>
            <a:ext cx="361950" cy="361950"/>
          </a:xfrm>
          <a:prstGeom prst="ellipse">
            <a:avLst/>
          </a:prstGeom>
          <a:solidFill>
            <a:srgbClr val="C65911"/>
          </a:solidFill>
          <a:ln w="1905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architecture-2">
            <a:extLst>
              <a:ext uri="{FF2B5EF4-FFF2-40B4-BE49-F238E27FC236}">
                <a16:creationId xmlns:a16="http://schemas.microsoft.com/office/drawing/2014/main" id="{F3336AB6-04D4-42EB-A184-0CCA64BF3788}"/>
              </a:ext>
            </a:extLst>
          </p:cNvPr>
          <p:cNvSpPr>
            <a:spLocks noGrp="1"/>
          </p:cNvSpPr>
          <p:nvPr/>
        </p:nvSpPr>
        <p:spPr>
          <a:xfrm>
            <a:off x="4914900" y="2971800"/>
            <a:ext cx="361950" cy="361950"/>
          </a:xfrm>
          <a:prstGeom prst="ellipse">
            <a:avLst/>
          </a:prstGeom>
          <a:solidFill>
            <a:srgbClr val="C65911"/>
          </a:solidFill>
          <a:ln w="1905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architecture-3">
            <a:extLst>
              <a:ext uri="{FF2B5EF4-FFF2-40B4-BE49-F238E27FC236}">
                <a16:creationId xmlns:a16="http://schemas.microsoft.com/office/drawing/2014/main" id="{38954F00-7242-408E-89A9-F818602C0056}"/>
              </a:ext>
            </a:extLst>
          </p:cNvPr>
          <p:cNvSpPr>
            <a:spLocks noGrp="1"/>
          </p:cNvSpPr>
          <p:nvPr/>
        </p:nvSpPr>
        <p:spPr>
          <a:xfrm>
            <a:off x="10123715" y="2971800"/>
            <a:ext cx="361950" cy="361950"/>
          </a:xfrm>
          <a:prstGeom prst="ellipse">
            <a:avLst/>
          </a:prstGeom>
          <a:solidFill>
            <a:srgbClr val="C65911"/>
          </a:solidFill>
          <a:ln w="1905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83588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2EB5-D060-4D9F-9C57-776A5B18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Architecture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B5C1D-01E6-42ED-8E78-01ED47C14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2925"/>
          </a:xfrm>
        </p:spPr>
        <p:txBody>
          <a:bodyPr lIns="152400" tIns="114300" rIns="152400" bIns="114300" anchor="t">
            <a:normAutofit/>
          </a:bodyPr>
          <a:lstStyle/>
          <a:p>
            <a:pPr marL="0" indent="0"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Which option meets the mission’s alert deadline?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Which uses shared capacity well across missions?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Which creates the greatest provider dependence?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Which offers the greatest resilience?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What do the mission and provider still need to know?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39848-ADED-3165-2B31-5571E3330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6172A-6130-DD2C-F9DA-650478B69E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AB55966-FA28-BC73-EA9E-53DF014DF033}" type="slidenum"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35882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2BD86-EEC6-4CD3-ADD1-579BFF193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Not Enough Information Is a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08C2B-F618-451D-9C22-DB00E12C4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1952625"/>
            <a:ext cx="9677400" cy="3667125"/>
          </a:xfrm>
        </p:spPr>
        <p:txBody>
          <a:bodyPr lIns="304800" tIns="228600" rIns="304800" bIns="228600" anchor="ctr">
            <a:normAutofit/>
          </a:bodyPr>
          <a:lstStyle/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Name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 the uncertainty.</a:t>
            </a:r>
          </a:p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Identify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 the decision it affects.</a:t>
            </a:r>
          </a:p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Ask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 for the evidence that would resolve it.</a:t>
            </a:r>
          </a:p>
          <a:p>
            <a:pPr marL="0" indent="0" algn="l">
              <a:lnSpc>
                <a:spcPct val="98000"/>
              </a:lnSpc>
              <a:spcBef>
                <a:spcPts val="180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Recognizing that we cannot choose yet is engineering judgment.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CD6A97-812C-501B-E5F5-AD4C8AFE117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AB67E-7E79-6FE7-3D50-3D82278522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F15020-66A7-620A-7B7A-C05C4312DEAE}" type="slidenum"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82686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2BD86-EEC6-4CD3-ADD1-579BFF193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Constraints Are Part of the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08C2B-F618-451D-9C22-DB00E12C4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2925"/>
          </a:xfrm>
        </p:spPr>
        <p:txBody>
          <a:bodyPr lIns="152400" tIns="114300" rIns="152400" bIns="114300" anchor="t">
            <a:normAutofit/>
          </a:bodyPr>
          <a:lstStyle/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Size, weight, and power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Spectrum and interference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Cost, schedule, complexity, and risk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Shared provider capacity and scheduling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Everything is a trade. </a:t>
            </a: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The equations help us make the trade honestly.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CD6A97-812C-501B-E5F5-AD4C8AFE117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AB67E-7E79-6FE7-3D50-3D82278522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8AD4375-9F50-F53A-6F9F-DD8473067C05}" type="slidenum"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82686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2EB5-D060-4D9F-9C57-776A5B18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Spectrum and Security Shape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B5C1D-01E6-42ED-8E78-01ED47C14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2925"/>
          </a:xfrm>
        </p:spPr>
        <p:txBody>
          <a:bodyPr lIns="152400" tIns="114300" rIns="152400" bIns="114300" anchor="t">
            <a:normAutofit/>
          </a:bodyPr>
          <a:lstStyle/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Spectrum: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 allocation, bandwidth, and interference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Commands: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 authorization and integrity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Telemetry and science: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 confidentiality may differ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Networks: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 every provider interface creates a trust boundary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Resilience and security</a:t>
            </a: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 are related—but they are not the same thing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39848-ADED-3165-2B31-5571E3330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6172A-6130-DD2C-F9DA-650478B69E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1680313-6E64-04FF-399A-57B7CADE95A9}" type="slidenum"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35882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2EB5-D060-4D9F-9C57-776A5B18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A Design Must Work End to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B5C1D-01E6-42ED-8E78-01ED47C14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2925"/>
          </a:xfrm>
        </p:spPr>
        <p:txBody>
          <a:bodyPr lIns="152400" tIns="114300" rIns="152400" bIns="114300" anchor="t">
            <a:normAutofit/>
          </a:bodyPr>
          <a:lstStyle/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Link budget — can a representative link work?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Coverage — is the service available when needed?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Data delivery — can information arrive in time?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Mission use — does the result support operations?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Assumptions — what could change the answer?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39848-ADED-3165-2B31-5571E3330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6172A-6130-DD2C-F9DA-650478B69E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EBBBCE-9E16-527A-0EE3-E5839422D847}" type="slidenum"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3588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2EB5-D060-4D9F-9C57-776A5B18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A Working 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B5C1D-01E6-42ED-8E78-01ED47C14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2925"/>
          </a:xfrm>
        </p:spPr>
        <p:txBody>
          <a:bodyPr lIns="152400" tIns="114300" rIns="152400" bIns="114300" anchor="t">
            <a:normAutofit/>
          </a:bodyPr>
          <a:lstStyle/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Link — one transmitter-to-receiver connection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Service — a capability delivered to a user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Provider — shared assets and operations serving multiple missions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Network — connected assets and rules that move data end to end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Architecture — the chosen arrangement of functions, interfaces, and resources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39848-ADED-3165-2B31-5571E3330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6172A-6130-DD2C-F9DA-650478B69E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72A7C5-A0CC-7B36-F236-345181E6AD72}" type="slidenum"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35882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2EB5-D060-4D9F-9C57-776A5B18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Six Questions Test the Complete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B5C1D-01E6-42ED-8E78-01ED47C14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1125" y="1952625"/>
            <a:ext cx="9429750" cy="3619500"/>
          </a:xfrm>
        </p:spPr>
        <p:txBody>
          <a:bodyPr lIns="152400" tIns="114300" rIns="152400" bIns="114300" anchor="ctr">
            <a:normAutofit/>
          </a:bodyPr>
          <a:lstStyle/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325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1  Does the link close?</a:t>
            </a:r>
          </a:p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325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2  Is service available when needed?</a:t>
            </a:r>
          </a:p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325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3  Can the network carry the offered load?</a:t>
            </a:r>
          </a:p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325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4  Does the data reach the final user on time?</a:t>
            </a:r>
          </a:p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325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5  Can the provider serve this mission along with the others?</a:t>
            </a:r>
          </a:p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325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6  Can we defend the complete architecture?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39848-ADED-3165-2B31-5571E3330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6172A-6130-DD2C-F9DA-650478B69E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6C3428B-053E-6B4E-39FF-75B44F3F33F6}" type="slidenum"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35882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Before You Leave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591C0-FBFF-494B-8AA2-2D69F16F5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6375" y="1857375"/>
            <a:ext cx="9239250" cy="4000500"/>
          </a:xfrm>
        </p:spPr>
        <p:txBody>
          <a:bodyPr lIns="342900" tIns="266700" rIns="342900" bIns="266700" anchor="ctr">
            <a:normAutofit/>
          </a:bodyPr>
          <a:lstStyle/>
          <a:p>
            <a:pPr marL="0" indent="0" algn="ctr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Name one mission communications need</a:t>
            </a:r>
          </a:p>
          <a:p>
            <a:pPr marL="0" indent="0" algn="ctr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for a mission you know</a:t>
            </a:r>
          </a:p>
          <a:p>
            <a:pPr marL="0" indent="0" algn="ctr">
              <a:lnSpc>
                <a:spcPct val="98000"/>
              </a:lnSpc>
              <a:spcBef>
                <a:spcPts val="100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— and —</a:t>
            </a:r>
          </a:p>
          <a:p>
            <a:pPr marL="0" indent="0" algn="ctr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one fact still missing</a:t>
            </a:r>
          </a:p>
          <a:p>
            <a:pPr marL="0" indent="0" algn="ctr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before you could design the system.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8A612-E74C-068B-10F2-ADD2E903A8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9F9B2FD-F323-2D0A-D581-D6E61055F9A8}" type="slidenum"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Homework 1 Extends Tonight's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591C0-FBFF-494B-8AA2-2D69F16F5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114550"/>
            <a:ext cx="9601200" cy="2857500"/>
          </a:xfrm>
        </p:spPr>
        <p:txBody>
          <a:bodyPr lIns="152400" tIns="114300" rIns="152400" bIns="114300" anchor="ctr">
            <a:normAutofit/>
          </a:bodyPr>
          <a:lstStyle/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1 — Daily data volume</a:t>
            </a:r>
          </a:p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2 — Contact time and ideal payload rate</a:t>
            </a:r>
          </a:p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3 — Capacity and timeliness</a:t>
            </a:r>
          </a:p>
          <a:p>
            <a:pPr marL="0" indent="0" algn="l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Due September 14 before class • Show calculations and units • Revise until correct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Communications as a Mission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8A612-E74C-068B-10F2-ADD2E903A8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C2EC43-E3B9-C9B0-67FF-5447EB7F3925}" type="slidenum">
              <a:rPr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1479</Words>
  <Application>Microsoft Office PowerPoint</Application>
  <DocSecurity>0</DocSecurity>
  <PresentationFormat>Widescreen</PresentationFormat>
  <Paragraphs>252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Calibri</vt:lpstr>
      <vt:lpstr>Calibri Light</vt:lpstr>
      <vt:lpstr>Custom Design</vt:lpstr>
      <vt:lpstr>ENAE 694 Spacecraft Communications</vt:lpstr>
      <vt:lpstr>Tonight Has Three Parts</vt:lpstr>
      <vt:lpstr>Introductions</vt:lpstr>
      <vt:lpstr>Not Simply Radio. Not Simply Networking.</vt:lpstr>
      <vt:lpstr>The Semester Leads to a Complete Network</vt:lpstr>
      <vt:lpstr>What You Will Be Able to Do</vt:lpstr>
      <vt:lpstr>Two Perspectives, One Complete System</vt:lpstr>
      <vt:lpstr>We Will Do the Engineering in the Room</vt:lpstr>
      <vt:lpstr>The Communications Problem</vt:lpstr>
      <vt:lpstr>PowerPoint Presentation</vt:lpstr>
      <vt:lpstr>Mission Needs Come First</vt:lpstr>
      <vt:lpstr>Start With Eight Questions</vt:lpstr>
      <vt:lpstr>Start With Source and Destination</vt:lpstr>
      <vt:lpstr>Data Volume Is Not a Data Rate</vt:lpstr>
      <vt:lpstr>First Worked Example: A Lunar Orbiter</vt:lpstr>
      <vt:lpstr>First Convert the Daily Volume</vt:lpstr>
      <vt:lpstr>Then Divide by Available Contact Time</vt:lpstr>
      <vt:lpstr>53.3 Mbit/s Is Only a Lower Bound</vt:lpstr>
      <vt:lpstr>Now Add a Latency Need</vt:lpstr>
      <vt:lpstr>Capacity and Availability Are Different</vt:lpstr>
      <vt:lpstr>Different Data Need Different Services</vt:lpstr>
      <vt:lpstr>Three Plausible Architectures</vt:lpstr>
      <vt:lpstr>Architecture Discussion</vt:lpstr>
      <vt:lpstr>Not Enough Information Is a Result</vt:lpstr>
      <vt:lpstr>Constraints Are Part of the Design</vt:lpstr>
      <vt:lpstr>Spectrum and Security Shape Design</vt:lpstr>
      <vt:lpstr>A Design Must Work End to End</vt:lpstr>
      <vt:lpstr>A Working Vocabulary</vt:lpstr>
      <vt:lpstr>Six Questions Test the Complete System</vt:lpstr>
      <vt:lpstr>Before You Leave</vt:lpstr>
      <vt:lpstr>Homework 1 Extends Tonight's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2026-08-31T01:00:56Z</dcterms:created>
  <dcterms:modified xsi:type="dcterms:W3CDTF">2026-08-31T01:03:59Z</dcterms:modified>
</cp:coreProperties>
</file>