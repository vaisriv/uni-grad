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4" name="Google Shape;34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0" name="Google Shape;39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3" name="Google Shape;41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9" name="Google Shape;42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5" name="Google Shape;445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weather_gases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weather_gases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weather_rain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weather_rain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weather_margin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weather_margin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6" name="Google Shape;53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8" name="Google Shape;55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6" name="Google Shape;56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6" name="Google Shape;58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cascade_physics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0" name="Google Shape;610;cascade_physics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cascade_friis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8" name="Google Shape;628;cascade_friis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cascade_gain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6" name="Google Shape;636;cascade_gain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ain_worked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4" name="Google Shape;644;gain_worked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2" name="Google Shape;65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lna_catalog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lna_catalog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8" name="Google Shape;67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cable_worked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0" name="Google Shape;700;cable_worked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4" name="Google Shape;72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cascade_layout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3" name="Google Shape;733;cascade_layout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1" name="Google Shape;751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4" name="Google Shape;764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3" name="Google Shape;773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2" name="Google Shape;782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0" name="Google Shape;790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8" name="Google Shape;798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4" name="Google Shape;814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0" name="Google Shape;83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3" name="Google Shape;853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2" name="Google Shape;872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0" name="Google Shape;880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9" name="Google Shape;889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7" name="Google Shape;917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9" name="Google Shape;929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7" name="Google Shape;937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6" name="Google Shape;946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4" name="Google Shape;954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review_temperatures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2" name="Google Shape;962;review_temperatures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review_snr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1" name="Google Shape;971;review_snr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1" name="Google Shape;981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0" name="Google Shape;990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Calibri"/>
              <a:buNone/>
            </a:pPr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sz="1867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sz="1867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sz="1867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sz="1867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sz="1867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sz="1867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sz="1867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sz="1867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Calibri"/>
              <a:buNone/>
              <a:defRPr sz="13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63A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643467" y="643467"/>
            <a:ext cx="10938800" cy="30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Calibri"/>
              <a:buNone/>
            </a:pPr>
            <a:r>
              <a:rPr lang="en" sz="4267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Spacecraft Communications</a:t>
            </a:r>
            <a:endParaRPr sz="4267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Calibri"/>
              <a:buNone/>
            </a:pPr>
            <a:r>
              <a:rPr lang="en" sz="4267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ENAE 694</a:t>
            </a:r>
            <a:endParaRPr sz="4267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4267"/>
              <a:buFont typeface="Calibri"/>
              <a:buNone/>
            </a:pPr>
            <a:r>
              <a:rPr lang="en" sz="4267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Noise and the Complete Link Budget</a:t>
            </a:r>
            <a:endParaRPr sz="4267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643467" y="5384800"/>
            <a:ext cx="8974800" cy="11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" sz="24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Dave Israel (disrael@umd.edu)</a:t>
            </a:r>
            <a:endParaRPr sz="240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" sz="24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October 5, 2026</a:t>
            </a:r>
            <a:endParaRPr sz="240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933"/>
              </a:spcAft>
              <a:buNone/>
            </a:pPr>
            <a:r>
              <a:rPr lang="en" sz="3600">
                <a:latin typeface="Calibri"/>
                <a:ea typeface="Calibri"/>
                <a:cs typeface="Calibri"/>
                <a:sym typeface="Calibri"/>
              </a:rPr>
              <a:t>Received Power Is Only Half the Story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825500" y="2222500"/>
            <a:ext cx="3111600" cy="11430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863600" y="2260600"/>
            <a:ext cx="3035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Desired signal</a:t>
            </a:r>
            <a:endParaRPr sz="27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Received power S</a:t>
            </a:r>
            <a:endParaRPr sz="27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825500" y="4127500"/>
            <a:ext cx="3111600" cy="11430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863600" y="4165600"/>
            <a:ext cx="3035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Noise density</a:t>
            </a:r>
            <a:endParaRPr sz="27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189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7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in W/Hz</a:t>
            </a:r>
            <a:endParaRPr sz="27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5461000" y="2794000"/>
            <a:ext cx="2730600" cy="17145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5499100" y="2832100"/>
            <a:ext cx="2654400" cy="16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Receiver</a:t>
            </a:r>
            <a:endParaRPr sz="27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Both arrive</a:t>
            </a:r>
            <a:endParaRPr sz="27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together</a:t>
            </a:r>
            <a:endParaRPr sz="27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9271000" y="2921000"/>
            <a:ext cx="2159100" cy="13971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9309100" y="2959100"/>
            <a:ext cx="20829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Compare</a:t>
            </a:r>
            <a:endParaRPr sz="30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S/N</a:t>
            </a:r>
            <a:r>
              <a:rPr lang="en" sz="210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100" baseline="-250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15"/>
          <p:cNvCxnSpPr/>
          <p:nvPr/>
        </p:nvCxnSpPr>
        <p:spPr>
          <a:xfrm>
            <a:off x="3937000" y="2794000"/>
            <a:ext cx="6351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" name="Google Shape;81;p15"/>
          <p:cNvCxnSpPr/>
          <p:nvPr/>
        </p:nvCxnSpPr>
        <p:spPr>
          <a:xfrm>
            <a:off x="4572000" y="2794000"/>
            <a:ext cx="0" cy="53340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" name="Google Shape;82;p15"/>
          <p:cNvCxnSpPr/>
          <p:nvPr/>
        </p:nvCxnSpPr>
        <p:spPr>
          <a:xfrm>
            <a:off x="4572000" y="3327400"/>
            <a:ext cx="8889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" name="Google Shape;83;p15"/>
          <p:cNvCxnSpPr/>
          <p:nvPr/>
        </p:nvCxnSpPr>
        <p:spPr>
          <a:xfrm>
            <a:off x="3937000" y="4699000"/>
            <a:ext cx="6351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" name="Google Shape;84;p15"/>
          <p:cNvCxnSpPr/>
          <p:nvPr/>
        </p:nvCxnSpPr>
        <p:spPr>
          <a:xfrm rot="10800000">
            <a:off x="4572000" y="3937000"/>
            <a:ext cx="0" cy="76200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85;p15"/>
          <p:cNvCxnSpPr/>
          <p:nvPr/>
        </p:nvCxnSpPr>
        <p:spPr>
          <a:xfrm>
            <a:off x="4572000" y="3937000"/>
            <a:ext cx="8889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" name="Google Shape;86;p15"/>
          <p:cNvCxnSpPr/>
          <p:nvPr/>
        </p:nvCxnSpPr>
        <p:spPr>
          <a:xfrm>
            <a:off x="8191500" y="3619500"/>
            <a:ext cx="10794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7" name="Google Shape;87;p15"/>
          <p:cNvSpPr txBox="1"/>
          <p:nvPr/>
        </p:nvSpPr>
        <p:spPr>
          <a:xfrm>
            <a:off x="825500" y="5778500"/>
            <a:ext cx="106044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S/N</a:t>
            </a:r>
            <a:r>
              <a:rPr lang="en" sz="1540" baseline="-25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 compares received signal power with noise per hertz.</a:t>
            </a:r>
            <a:endParaRPr sz="22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Room-Temperature Noise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Question: Will the Receiver Read Zero?</a:t>
            </a: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889000" y="2413000"/>
            <a:ext cx="3174900" cy="13971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927100" y="2451100"/>
            <a:ext cx="30987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Room-temperature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noise source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290 K*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16"/>
          <p:cNvCxnSpPr/>
          <p:nvPr/>
        </p:nvCxnSpPr>
        <p:spPr>
          <a:xfrm>
            <a:off x="4064000" y="3111500"/>
            <a:ext cx="19686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8" name="Google Shape;98;p16"/>
          <p:cNvSpPr txBox="1"/>
          <p:nvPr/>
        </p:nvSpPr>
        <p:spPr>
          <a:xfrm>
            <a:off x="4152900" y="2349500"/>
            <a:ext cx="18414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No transmitted</a:t>
            </a:r>
            <a:endParaRPr sz="20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signal</a:t>
            </a:r>
            <a:endParaRPr sz="20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6032500" y="2413000"/>
            <a:ext cx="4191000" cy="13971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6070600" y="2451100"/>
            <a:ext cx="41148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Receiver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Noise bandwidth B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Power measurement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889000" y="4381500"/>
            <a:ext cx="9651900" cy="8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Thermal motion creates random electrical fluctuations.</a:t>
            </a:r>
            <a:endParaRPr sz="28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What power reaches the receiver?</a:t>
            </a:r>
            <a:endParaRPr sz="28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825500" y="6032500"/>
            <a:ext cx="106044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* Matched connection: the receiver accepts the source’s available noise power.</a:t>
            </a:r>
            <a:endParaRPr sz="13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Room-Temperature Noise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Random Fluctuations Carry Real Power</a:t>
            </a: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889000" y="1841500"/>
            <a:ext cx="46989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Noise voltage versus time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6540500" y="1841500"/>
            <a:ext cx="46989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Noise density versus frequency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17"/>
          <p:cNvCxnSpPr/>
          <p:nvPr/>
        </p:nvCxnSpPr>
        <p:spPr>
          <a:xfrm>
            <a:off x="1143000" y="3492500"/>
            <a:ext cx="4381500" cy="0"/>
          </a:xfrm>
          <a:prstGeom prst="straightConnector1">
            <a:avLst/>
          </a:prstGeom>
          <a:noFill/>
          <a:ln w="12700" cap="flat" cmpd="sng">
            <a:solidFill>
              <a:srgbClr val="7A7A7A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" name="Google Shape;113;p17"/>
          <p:cNvCxnSpPr/>
          <p:nvPr/>
        </p:nvCxnSpPr>
        <p:spPr>
          <a:xfrm>
            <a:off x="1143000" y="2540000"/>
            <a:ext cx="0" cy="190500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" name="Google Shape;114;p17"/>
          <p:cNvCxnSpPr/>
          <p:nvPr/>
        </p:nvCxnSpPr>
        <p:spPr>
          <a:xfrm>
            <a:off x="1143000" y="4445000"/>
            <a:ext cx="45720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" name="Google Shape;115;p17"/>
          <p:cNvCxnSpPr/>
          <p:nvPr/>
        </p:nvCxnSpPr>
        <p:spPr>
          <a:xfrm rot="10800000" flipH="1">
            <a:off x="1143000" y="2761700"/>
            <a:ext cx="43800" cy="7308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" name="Google Shape;116;p17"/>
          <p:cNvCxnSpPr/>
          <p:nvPr/>
        </p:nvCxnSpPr>
        <p:spPr>
          <a:xfrm rot="10800000" flipH="1">
            <a:off x="1186815" y="2748994"/>
            <a:ext cx="43800" cy="126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7"/>
          <p:cNvCxnSpPr/>
          <p:nvPr/>
        </p:nvCxnSpPr>
        <p:spPr>
          <a:xfrm>
            <a:off x="1230630" y="2755719"/>
            <a:ext cx="43800" cy="8025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" name="Google Shape;118;p17"/>
          <p:cNvCxnSpPr/>
          <p:nvPr/>
        </p:nvCxnSpPr>
        <p:spPr>
          <a:xfrm>
            <a:off x="1274445" y="3558269"/>
            <a:ext cx="43800" cy="1398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" name="Google Shape;119;p17"/>
          <p:cNvCxnSpPr/>
          <p:nvPr/>
        </p:nvCxnSpPr>
        <p:spPr>
          <a:xfrm>
            <a:off x="1318260" y="3698094"/>
            <a:ext cx="43800" cy="4194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" name="Google Shape;120;p17"/>
          <p:cNvCxnSpPr/>
          <p:nvPr/>
        </p:nvCxnSpPr>
        <p:spPr>
          <a:xfrm rot="10800000" flipH="1">
            <a:off x="1362075" y="2901785"/>
            <a:ext cx="43800" cy="12156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" name="Google Shape;121;p17"/>
          <p:cNvCxnSpPr/>
          <p:nvPr/>
        </p:nvCxnSpPr>
        <p:spPr>
          <a:xfrm>
            <a:off x="1405890" y="2901892"/>
            <a:ext cx="43800" cy="5844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7"/>
          <p:cNvCxnSpPr/>
          <p:nvPr/>
        </p:nvCxnSpPr>
        <p:spPr>
          <a:xfrm>
            <a:off x="1449705" y="3486235"/>
            <a:ext cx="43800" cy="798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7"/>
          <p:cNvCxnSpPr/>
          <p:nvPr/>
        </p:nvCxnSpPr>
        <p:spPr>
          <a:xfrm>
            <a:off x="1493520" y="3566184"/>
            <a:ext cx="43800" cy="729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7"/>
          <p:cNvCxnSpPr/>
          <p:nvPr/>
        </p:nvCxnSpPr>
        <p:spPr>
          <a:xfrm>
            <a:off x="1537335" y="3638957"/>
            <a:ext cx="43800" cy="2856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" name="Google Shape;125;p17"/>
          <p:cNvCxnSpPr/>
          <p:nvPr/>
        </p:nvCxnSpPr>
        <p:spPr>
          <a:xfrm rot="10800000" flipH="1">
            <a:off x="1581150" y="2791378"/>
            <a:ext cx="43800" cy="11331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" name="Google Shape;126;p17"/>
          <p:cNvCxnSpPr/>
          <p:nvPr/>
        </p:nvCxnSpPr>
        <p:spPr>
          <a:xfrm>
            <a:off x="1624965" y="2791238"/>
            <a:ext cx="43800" cy="10728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" name="Google Shape;127;p17"/>
          <p:cNvCxnSpPr/>
          <p:nvPr/>
        </p:nvCxnSpPr>
        <p:spPr>
          <a:xfrm>
            <a:off x="1668780" y="3864053"/>
            <a:ext cx="43800" cy="3384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" name="Google Shape;128;p17"/>
          <p:cNvCxnSpPr/>
          <p:nvPr/>
        </p:nvCxnSpPr>
        <p:spPr>
          <a:xfrm rot="10800000" flipH="1">
            <a:off x="1712595" y="2842793"/>
            <a:ext cx="43800" cy="13596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1756410" y="2842769"/>
            <a:ext cx="43800" cy="9540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7"/>
          <p:cNvCxnSpPr/>
          <p:nvPr/>
        </p:nvCxnSpPr>
        <p:spPr>
          <a:xfrm rot="10800000" flipH="1">
            <a:off x="1800225" y="3431901"/>
            <a:ext cx="43800" cy="3648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7"/>
          <p:cNvCxnSpPr/>
          <p:nvPr/>
        </p:nvCxnSpPr>
        <p:spPr>
          <a:xfrm rot="10800000" flipH="1">
            <a:off x="1844040" y="3334788"/>
            <a:ext cx="43800" cy="972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" name="Google Shape;132;p17"/>
          <p:cNvCxnSpPr/>
          <p:nvPr/>
        </p:nvCxnSpPr>
        <p:spPr>
          <a:xfrm>
            <a:off x="1887855" y="3334741"/>
            <a:ext cx="43800" cy="8580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7"/>
          <p:cNvCxnSpPr/>
          <p:nvPr/>
        </p:nvCxnSpPr>
        <p:spPr>
          <a:xfrm rot="10800000" flipH="1">
            <a:off x="1931670" y="3349510"/>
            <a:ext cx="43800" cy="8433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7"/>
          <p:cNvCxnSpPr/>
          <p:nvPr/>
        </p:nvCxnSpPr>
        <p:spPr>
          <a:xfrm>
            <a:off x="1975485" y="3349435"/>
            <a:ext cx="43800" cy="8331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" name="Google Shape;135;p17"/>
          <p:cNvCxnSpPr/>
          <p:nvPr/>
        </p:nvCxnSpPr>
        <p:spPr>
          <a:xfrm>
            <a:off x="2019300" y="4182513"/>
            <a:ext cx="43800" cy="624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17"/>
          <p:cNvCxnSpPr/>
          <p:nvPr/>
        </p:nvCxnSpPr>
        <p:spPr>
          <a:xfrm rot="10800000" flipH="1">
            <a:off x="2063115" y="3742066"/>
            <a:ext cx="43800" cy="5028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" name="Google Shape;137;p17"/>
          <p:cNvCxnSpPr/>
          <p:nvPr/>
        </p:nvCxnSpPr>
        <p:spPr>
          <a:xfrm rot="10800000" flipH="1">
            <a:off x="2106930" y="3375080"/>
            <a:ext cx="43800" cy="3669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" name="Google Shape;138;p17"/>
          <p:cNvCxnSpPr/>
          <p:nvPr/>
        </p:nvCxnSpPr>
        <p:spPr>
          <a:xfrm>
            <a:off x="2150745" y="3374993"/>
            <a:ext cx="43800" cy="1173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" name="Google Shape;139;p17"/>
          <p:cNvCxnSpPr/>
          <p:nvPr/>
        </p:nvCxnSpPr>
        <p:spPr>
          <a:xfrm rot="10800000" flipH="1">
            <a:off x="2194560" y="3168385"/>
            <a:ext cx="43800" cy="3240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" name="Google Shape;140;p17"/>
          <p:cNvCxnSpPr/>
          <p:nvPr/>
        </p:nvCxnSpPr>
        <p:spPr>
          <a:xfrm>
            <a:off x="2238375" y="3168322"/>
            <a:ext cx="43800" cy="2073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" name="Google Shape;141;p17"/>
          <p:cNvCxnSpPr/>
          <p:nvPr/>
        </p:nvCxnSpPr>
        <p:spPr>
          <a:xfrm>
            <a:off x="2282190" y="3375613"/>
            <a:ext cx="43800" cy="3840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17"/>
          <p:cNvCxnSpPr/>
          <p:nvPr/>
        </p:nvCxnSpPr>
        <p:spPr>
          <a:xfrm rot="10800000" flipH="1">
            <a:off x="2326005" y="2967086"/>
            <a:ext cx="43800" cy="7926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" name="Google Shape;143;p17"/>
          <p:cNvCxnSpPr/>
          <p:nvPr/>
        </p:nvCxnSpPr>
        <p:spPr>
          <a:xfrm rot="10800000" flipH="1">
            <a:off x="2369820" y="2865783"/>
            <a:ext cx="43800" cy="1014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" name="Google Shape;144;p17"/>
          <p:cNvCxnSpPr/>
          <p:nvPr/>
        </p:nvCxnSpPr>
        <p:spPr>
          <a:xfrm>
            <a:off x="2413635" y="2865784"/>
            <a:ext cx="43800" cy="11643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" name="Google Shape;145;p17"/>
          <p:cNvCxnSpPr/>
          <p:nvPr/>
        </p:nvCxnSpPr>
        <p:spPr>
          <a:xfrm rot="10800000" flipH="1">
            <a:off x="2457450" y="3205293"/>
            <a:ext cx="43800" cy="8247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" name="Google Shape;146;p17"/>
          <p:cNvCxnSpPr/>
          <p:nvPr/>
        </p:nvCxnSpPr>
        <p:spPr>
          <a:xfrm rot="10800000" flipH="1">
            <a:off x="2501265" y="2741221"/>
            <a:ext cx="43800" cy="4641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" name="Google Shape;147;p17"/>
          <p:cNvCxnSpPr/>
          <p:nvPr/>
        </p:nvCxnSpPr>
        <p:spPr>
          <a:xfrm>
            <a:off x="2545080" y="2741276"/>
            <a:ext cx="43800" cy="6942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" name="Google Shape;148;p17"/>
          <p:cNvCxnSpPr/>
          <p:nvPr/>
        </p:nvCxnSpPr>
        <p:spPr>
          <a:xfrm rot="10800000" flipH="1">
            <a:off x="2588895" y="3174905"/>
            <a:ext cx="43800" cy="2607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" name="Google Shape;149;p17"/>
          <p:cNvCxnSpPr/>
          <p:nvPr/>
        </p:nvCxnSpPr>
        <p:spPr>
          <a:xfrm>
            <a:off x="2632710" y="3175017"/>
            <a:ext cx="43800" cy="4287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" name="Google Shape;150;p17"/>
          <p:cNvCxnSpPr/>
          <p:nvPr/>
        </p:nvCxnSpPr>
        <p:spPr>
          <a:xfrm>
            <a:off x="2676525" y="3603728"/>
            <a:ext cx="43800" cy="5934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" name="Google Shape;151;p17"/>
          <p:cNvCxnSpPr/>
          <p:nvPr/>
        </p:nvCxnSpPr>
        <p:spPr>
          <a:xfrm rot="10800000" flipH="1">
            <a:off x="2720340" y="2754010"/>
            <a:ext cx="43800" cy="14430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" name="Google Shape;152;p17"/>
          <p:cNvCxnSpPr/>
          <p:nvPr/>
        </p:nvCxnSpPr>
        <p:spPr>
          <a:xfrm>
            <a:off x="2764155" y="2754069"/>
            <a:ext cx="43800" cy="11649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3" name="Google Shape;153;p17"/>
          <p:cNvCxnSpPr/>
          <p:nvPr/>
        </p:nvCxnSpPr>
        <p:spPr>
          <a:xfrm rot="10800000" flipH="1">
            <a:off x="2807970" y="3191047"/>
            <a:ext cx="43800" cy="7278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" name="Google Shape;154;p17"/>
          <p:cNvCxnSpPr/>
          <p:nvPr/>
        </p:nvCxnSpPr>
        <p:spPr>
          <a:xfrm>
            <a:off x="2851785" y="3191126"/>
            <a:ext cx="43800" cy="288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" name="Google Shape;155;p17"/>
          <p:cNvCxnSpPr/>
          <p:nvPr/>
        </p:nvCxnSpPr>
        <p:spPr>
          <a:xfrm>
            <a:off x="2895600" y="3219910"/>
            <a:ext cx="43800" cy="9660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" name="Google Shape;156;p17"/>
          <p:cNvCxnSpPr/>
          <p:nvPr/>
        </p:nvCxnSpPr>
        <p:spPr>
          <a:xfrm rot="10800000" flipH="1">
            <a:off x="2939415" y="3564002"/>
            <a:ext cx="43800" cy="6219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" name="Google Shape;157;p17"/>
          <p:cNvCxnSpPr/>
          <p:nvPr/>
        </p:nvCxnSpPr>
        <p:spPr>
          <a:xfrm>
            <a:off x="2983230" y="3563865"/>
            <a:ext cx="43800" cy="1836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" name="Google Shape;158;p17"/>
          <p:cNvCxnSpPr/>
          <p:nvPr/>
        </p:nvCxnSpPr>
        <p:spPr>
          <a:xfrm rot="10800000" flipH="1">
            <a:off x="3027045" y="3731807"/>
            <a:ext cx="43800" cy="156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" name="Google Shape;159;p17"/>
          <p:cNvCxnSpPr/>
          <p:nvPr/>
        </p:nvCxnSpPr>
        <p:spPr>
          <a:xfrm rot="10800000" flipH="1">
            <a:off x="3070860" y="3680714"/>
            <a:ext cx="43800" cy="510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" name="Google Shape;160;p17"/>
          <p:cNvCxnSpPr/>
          <p:nvPr/>
        </p:nvCxnSpPr>
        <p:spPr>
          <a:xfrm rot="10800000" flipH="1">
            <a:off x="3114675" y="2976186"/>
            <a:ext cx="43800" cy="7044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" name="Google Shape;161;p17"/>
          <p:cNvCxnSpPr/>
          <p:nvPr/>
        </p:nvCxnSpPr>
        <p:spPr>
          <a:xfrm>
            <a:off x="3158490" y="2976244"/>
            <a:ext cx="43800" cy="11700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" name="Google Shape;162;p17"/>
          <p:cNvCxnSpPr/>
          <p:nvPr/>
        </p:nvCxnSpPr>
        <p:spPr>
          <a:xfrm rot="10800000" flipH="1">
            <a:off x="3202305" y="3900094"/>
            <a:ext cx="43800" cy="2463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" name="Google Shape;163;p17"/>
          <p:cNvCxnSpPr/>
          <p:nvPr/>
        </p:nvCxnSpPr>
        <p:spPr>
          <a:xfrm rot="10800000" flipH="1">
            <a:off x="3246120" y="3426952"/>
            <a:ext cx="43800" cy="4731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" name="Google Shape;164;p17"/>
          <p:cNvCxnSpPr/>
          <p:nvPr/>
        </p:nvCxnSpPr>
        <p:spPr>
          <a:xfrm>
            <a:off x="3289935" y="3427070"/>
            <a:ext cx="43800" cy="4095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" name="Google Shape;165;p17"/>
          <p:cNvCxnSpPr/>
          <p:nvPr/>
        </p:nvCxnSpPr>
        <p:spPr>
          <a:xfrm rot="10800000" flipH="1">
            <a:off x="3333750" y="3236136"/>
            <a:ext cx="43800" cy="6003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" name="Google Shape;166;p17"/>
          <p:cNvCxnSpPr/>
          <p:nvPr/>
        </p:nvCxnSpPr>
        <p:spPr>
          <a:xfrm>
            <a:off x="3377565" y="3236122"/>
            <a:ext cx="43800" cy="5805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" name="Google Shape;167;p17"/>
          <p:cNvCxnSpPr/>
          <p:nvPr/>
        </p:nvCxnSpPr>
        <p:spPr>
          <a:xfrm rot="10800000" flipH="1">
            <a:off x="3421380" y="3608381"/>
            <a:ext cx="43800" cy="2082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17"/>
          <p:cNvCxnSpPr/>
          <p:nvPr/>
        </p:nvCxnSpPr>
        <p:spPr>
          <a:xfrm>
            <a:off x="3465195" y="3608405"/>
            <a:ext cx="43800" cy="2826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17"/>
          <p:cNvCxnSpPr/>
          <p:nvPr/>
        </p:nvCxnSpPr>
        <p:spPr>
          <a:xfrm rot="10800000" flipH="1">
            <a:off x="3509010" y="3405207"/>
            <a:ext cx="43800" cy="4857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170;p17"/>
          <p:cNvCxnSpPr/>
          <p:nvPr/>
        </p:nvCxnSpPr>
        <p:spPr>
          <a:xfrm rot="10800000" flipH="1">
            <a:off x="3552825" y="3044333"/>
            <a:ext cx="43800" cy="3609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171;p17"/>
          <p:cNvCxnSpPr/>
          <p:nvPr/>
        </p:nvCxnSpPr>
        <p:spPr>
          <a:xfrm>
            <a:off x="3596640" y="3044392"/>
            <a:ext cx="43800" cy="3825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2" name="Google Shape;172;p17"/>
          <p:cNvCxnSpPr/>
          <p:nvPr/>
        </p:nvCxnSpPr>
        <p:spPr>
          <a:xfrm>
            <a:off x="3640455" y="3426893"/>
            <a:ext cx="43800" cy="3276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" name="Google Shape;173;p17"/>
          <p:cNvCxnSpPr/>
          <p:nvPr/>
        </p:nvCxnSpPr>
        <p:spPr>
          <a:xfrm rot="10800000" flipH="1">
            <a:off x="3684270" y="3524621"/>
            <a:ext cx="43800" cy="2298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" name="Google Shape;174;p17"/>
          <p:cNvCxnSpPr/>
          <p:nvPr/>
        </p:nvCxnSpPr>
        <p:spPr>
          <a:xfrm>
            <a:off x="3728085" y="3524519"/>
            <a:ext cx="43800" cy="5361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" name="Google Shape;175;p17"/>
          <p:cNvCxnSpPr/>
          <p:nvPr/>
        </p:nvCxnSpPr>
        <p:spPr>
          <a:xfrm rot="10800000" flipH="1">
            <a:off x="3771900" y="3327297"/>
            <a:ext cx="43800" cy="7332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" name="Google Shape;176;p17"/>
          <p:cNvCxnSpPr/>
          <p:nvPr/>
        </p:nvCxnSpPr>
        <p:spPr>
          <a:xfrm>
            <a:off x="3815715" y="3327305"/>
            <a:ext cx="43800" cy="8139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17"/>
          <p:cNvCxnSpPr/>
          <p:nvPr/>
        </p:nvCxnSpPr>
        <p:spPr>
          <a:xfrm rot="10800000" flipH="1">
            <a:off x="3859530" y="3861580"/>
            <a:ext cx="43800" cy="2796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17"/>
          <p:cNvCxnSpPr/>
          <p:nvPr/>
        </p:nvCxnSpPr>
        <p:spPr>
          <a:xfrm rot="10800000" flipH="1">
            <a:off x="3903345" y="2948191"/>
            <a:ext cx="43800" cy="9135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17"/>
          <p:cNvCxnSpPr/>
          <p:nvPr/>
        </p:nvCxnSpPr>
        <p:spPr>
          <a:xfrm>
            <a:off x="3947160" y="2948211"/>
            <a:ext cx="43800" cy="8265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" name="Google Shape;180;p17"/>
          <p:cNvCxnSpPr/>
          <p:nvPr/>
        </p:nvCxnSpPr>
        <p:spPr>
          <a:xfrm rot="10800000" flipH="1">
            <a:off x="3990975" y="3264113"/>
            <a:ext cx="43800" cy="5106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" name="Google Shape;181;p17"/>
          <p:cNvCxnSpPr/>
          <p:nvPr/>
        </p:nvCxnSpPr>
        <p:spPr>
          <a:xfrm>
            <a:off x="4034790" y="3264151"/>
            <a:ext cx="43800" cy="126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182;p17"/>
          <p:cNvCxnSpPr/>
          <p:nvPr/>
        </p:nvCxnSpPr>
        <p:spPr>
          <a:xfrm>
            <a:off x="4078605" y="3276438"/>
            <a:ext cx="43800" cy="6627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" name="Google Shape;183;p17"/>
          <p:cNvCxnSpPr/>
          <p:nvPr/>
        </p:nvCxnSpPr>
        <p:spPr>
          <a:xfrm>
            <a:off x="4122420" y="3939241"/>
            <a:ext cx="43800" cy="126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" name="Google Shape;184;p17"/>
          <p:cNvCxnSpPr/>
          <p:nvPr/>
        </p:nvCxnSpPr>
        <p:spPr>
          <a:xfrm rot="10800000" flipH="1">
            <a:off x="4166235" y="2998935"/>
            <a:ext cx="43800" cy="9456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" name="Google Shape;185;p17"/>
          <p:cNvCxnSpPr/>
          <p:nvPr/>
        </p:nvCxnSpPr>
        <p:spPr>
          <a:xfrm rot="10800000" flipH="1">
            <a:off x="4210050" y="2911876"/>
            <a:ext cx="43800" cy="870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" name="Google Shape;186;p17"/>
          <p:cNvCxnSpPr/>
          <p:nvPr/>
        </p:nvCxnSpPr>
        <p:spPr>
          <a:xfrm>
            <a:off x="4253865" y="2911825"/>
            <a:ext cx="43800" cy="4344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" name="Google Shape;187;p17"/>
          <p:cNvCxnSpPr/>
          <p:nvPr/>
        </p:nvCxnSpPr>
        <p:spPr>
          <a:xfrm>
            <a:off x="4297680" y="3346295"/>
            <a:ext cx="43800" cy="7170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8" name="Google Shape;188;p17"/>
          <p:cNvCxnSpPr/>
          <p:nvPr/>
        </p:nvCxnSpPr>
        <p:spPr>
          <a:xfrm rot="10800000" flipH="1">
            <a:off x="4341495" y="3833213"/>
            <a:ext cx="43800" cy="2301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" name="Google Shape;189;p17"/>
          <p:cNvCxnSpPr/>
          <p:nvPr/>
        </p:nvCxnSpPr>
        <p:spPr>
          <a:xfrm rot="10800000" flipH="1">
            <a:off x="4385310" y="3547176"/>
            <a:ext cx="43800" cy="2859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" name="Google Shape;190;p17"/>
          <p:cNvCxnSpPr/>
          <p:nvPr/>
        </p:nvCxnSpPr>
        <p:spPr>
          <a:xfrm rot="10800000" flipH="1">
            <a:off x="4429125" y="3107908"/>
            <a:ext cx="43800" cy="4392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" name="Google Shape;191;p17"/>
          <p:cNvCxnSpPr/>
          <p:nvPr/>
        </p:nvCxnSpPr>
        <p:spPr>
          <a:xfrm>
            <a:off x="4472940" y="3108023"/>
            <a:ext cx="43800" cy="2199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" name="Google Shape;192;p17"/>
          <p:cNvCxnSpPr/>
          <p:nvPr/>
        </p:nvCxnSpPr>
        <p:spPr>
          <a:xfrm>
            <a:off x="4516755" y="3327823"/>
            <a:ext cx="43800" cy="7287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" name="Google Shape;193;p17"/>
          <p:cNvCxnSpPr/>
          <p:nvPr/>
        </p:nvCxnSpPr>
        <p:spPr>
          <a:xfrm rot="10800000" flipH="1">
            <a:off x="4560570" y="3969984"/>
            <a:ext cx="43800" cy="864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17"/>
          <p:cNvCxnSpPr/>
          <p:nvPr/>
        </p:nvCxnSpPr>
        <p:spPr>
          <a:xfrm rot="10800000" flipH="1">
            <a:off x="4604385" y="3297121"/>
            <a:ext cx="43800" cy="6729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17"/>
          <p:cNvCxnSpPr/>
          <p:nvPr/>
        </p:nvCxnSpPr>
        <p:spPr>
          <a:xfrm>
            <a:off x="4648200" y="3297101"/>
            <a:ext cx="43800" cy="7020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17"/>
          <p:cNvCxnSpPr/>
          <p:nvPr/>
        </p:nvCxnSpPr>
        <p:spPr>
          <a:xfrm rot="10800000" flipH="1">
            <a:off x="4692015" y="3785452"/>
            <a:ext cx="43800" cy="2136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17"/>
          <p:cNvCxnSpPr/>
          <p:nvPr/>
        </p:nvCxnSpPr>
        <p:spPr>
          <a:xfrm rot="10800000" flipH="1">
            <a:off x="4735830" y="3535586"/>
            <a:ext cx="43800" cy="2499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" name="Google Shape;198;p17"/>
          <p:cNvCxnSpPr/>
          <p:nvPr/>
        </p:nvCxnSpPr>
        <p:spPr>
          <a:xfrm>
            <a:off x="4779645" y="3535594"/>
            <a:ext cx="43800" cy="5598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9" name="Google Shape;199;p17"/>
          <p:cNvCxnSpPr/>
          <p:nvPr/>
        </p:nvCxnSpPr>
        <p:spPr>
          <a:xfrm rot="10800000" flipH="1">
            <a:off x="4823460" y="3692674"/>
            <a:ext cx="43800" cy="4026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" name="Google Shape;200;p17"/>
          <p:cNvCxnSpPr/>
          <p:nvPr/>
        </p:nvCxnSpPr>
        <p:spPr>
          <a:xfrm>
            <a:off x="4867275" y="3692628"/>
            <a:ext cx="43800" cy="4404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" name="Google Shape;201;p17"/>
          <p:cNvCxnSpPr/>
          <p:nvPr/>
        </p:nvCxnSpPr>
        <p:spPr>
          <a:xfrm rot="10800000" flipH="1">
            <a:off x="4911090" y="3315517"/>
            <a:ext cx="43800" cy="8175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" name="Google Shape;202;p17"/>
          <p:cNvCxnSpPr/>
          <p:nvPr/>
        </p:nvCxnSpPr>
        <p:spPr>
          <a:xfrm>
            <a:off x="4954905" y="3315569"/>
            <a:ext cx="43800" cy="6087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" name="Google Shape;203;p17"/>
          <p:cNvCxnSpPr/>
          <p:nvPr/>
        </p:nvCxnSpPr>
        <p:spPr>
          <a:xfrm>
            <a:off x="4998720" y="3924168"/>
            <a:ext cx="43800" cy="642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" name="Google Shape;204;p17"/>
          <p:cNvCxnSpPr/>
          <p:nvPr/>
        </p:nvCxnSpPr>
        <p:spPr>
          <a:xfrm rot="10800000" flipH="1">
            <a:off x="5042535" y="2877344"/>
            <a:ext cx="43800" cy="11109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17"/>
          <p:cNvCxnSpPr/>
          <p:nvPr/>
        </p:nvCxnSpPr>
        <p:spPr>
          <a:xfrm>
            <a:off x="5086350" y="2877492"/>
            <a:ext cx="43800" cy="7941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17"/>
          <p:cNvCxnSpPr/>
          <p:nvPr/>
        </p:nvCxnSpPr>
        <p:spPr>
          <a:xfrm rot="10800000" flipH="1">
            <a:off x="5130165" y="3658887"/>
            <a:ext cx="43800" cy="126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17"/>
          <p:cNvCxnSpPr/>
          <p:nvPr/>
        </p:nvCxnSpPr>
        <p:spPr>
          <a:xfrm rot="10800000" flipH="1">
            <a:off x="5173980" y="2901782"/>
            <a:ext cx="43800" cy="7599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17"/>
          <p:cNvCxnSpPr/>
          <p:nvPr/>
        </p:nvCxnSpPr>
        <p:spPr>
          <a:xfrm>
            <a:off x="5217795" y="2901654"/>
            <a:ext cx="43800" cy="7110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17"/>
          <p:cNvCxnSpPr/>
          <p:nvPr/>
        </p:nvCxnSpPr>
        <p:spPr>
          <a:xfrm>
            <a:off x="5261610" y="3612616"/>
            <a:ext cx="43800" cy="4728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17"/>
          <p:cNvCxnSpPr/>
          <p:nvPr/>
        </p:nvCxnSpPr>
        <p:spPr>
          <a:xfrm rot="10800000" flipH="1">
            <a:off x="5305425" y="2870778"/>
            <a:ext cx="43800" cy="12147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211;p17"/>
          <p:cNvCxnSpPr/>
          <p:nvPr/>
        </p:nvCxnSpPr>
        <p:spPr>
          <a:xfrm>
            <a:off x="5349240" y="2870781"/>
            <a:ext cx="43800" cy="2811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2" name="Google Shape;212;p17"/>
          <p:cNvCxnSpPr/>
          <p:nvPr/>
        </p:nvCxnSpPr>
        <p:spPr>
          <a:xfrm>
            <a:off x="5393055" y="3151795"/>
            <a:ext cx="43800" cy="7674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17"/>
          <p:cNvCxnSpPr/>
          <p:nvPr/>
        </p:nvCxnSpPr>
        <p:spPr>
          <a:xfrm rot="10800000" flipH="1">
            <a:off x="5436870" y="3843952"/>
            <a:ext cx="43800" cy="753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17"/>
          <p:cNvCxnSpPr/>
          <p:nvPr/>
        </p:nvCxnSpPr>
        <p:spPr>
          <a:xfrm rot="10800000" flipH="1">
            <a:off x="5480685" y="3304456"/>
            <a:ext cx="43800" cy="539400"/>
          </a:xfrm>
          <a:prstGeom prst="straightConnector1">
            <a:avLst/>
          </a:prstGeom>
          <a:noFill/>
          <a:ln w="1525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" name="Google Shape;215;p17"/>
          <p:cNvSpPr txBox="1"/>
          <p:nvPr/>
        </p:nvSpPr>
        <p:spPr>
          <a:xfrm>
            <a:off x="1333500" y="4635500"/>
            <a:ext cx="42546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No repeating cycle.</a:t>
            </a:r>
            <a:endParaRPr sz="21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Mean voltage is approximately zero.</a:t>
            </a:r>
            <a:endParaRPr sz="21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17"/>
          <p:cNvCxnSpPr/>
          <p:nvPr/>
        </p:nvCxnSpPr>
        <p:spPr>
          <a:xfrm>
            <a:off x="6921500" y="4445000"/>
            <a:ext cx="41910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7" name="Google Shape;217;p17"/>
          <p:cNvCxnSpPr/>
          <p:nvPr/>
        </p:nvCxnSpPr>
        <p:spPr>
          <a:xfrm rot="10800000">
            <a:off x="6921500" y="2603600"/>
            <a:ext cx="0" cy="184140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8" name="Google Shape;218;p17"/>
          <p:cNvSpPr/>
          <p:nvPr/>
        </p:nvSpPr>
        <p:spPr>
          <a:xfrm>
            <a:off x="7302500" y="3238500"/>
            <a:ext cx="2667000" cy="11811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 txBox="1"/>
          <p:nvPr/>
        </p:nvSpPr>
        <p:spPr>
          <a:xfrm>
            <a:off x="7340600" y="3276600"/>
            <a:ext cx="25908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Collected area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N = kTB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p17"/>
          <p:cNvCxnSpPr/>
          <p:nvPr/>
        </p:nvCxnSpPr>
        <p:spPr>
          <a:xfrm>
            <a:off x="6959600" y="3238500"/>
            <a:ext cx="39624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1" name="Google Shape;221;p17"/>
          <p:cNvSpPr txBox="1"/>
          <p:nvPr/>
        </p:nvSpPr>
        <p:spPr>
          <a:xfrm>
            <a:off x="7112000" y="2641600"/>
            <a:ext cx="35559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Height: N</a:t>
            </a:r>
            <a:r>
              <a:rPr lang="en" sz="168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= kT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 txBox="1"/>
          <p:nvPr/>
        </p:nvSpPr>
        <p:spPr>
          <a:xfrm>
            <a:off x="7556500" y="4635500"/>
            <a:ext cx="2793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Width: B hertz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 txBox="1"/>
          <p:nvPr/>
        </p:nvSpPr>
        <p:spPr>
          <a:xfrm>
            <a:off x="825500" y="5778500"/>
            <a:ext cx="106044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The squared fluctuations have a positive average: the noise power is real.</a:t>
            </a:r>
            <a:endParaRPr sz="22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Thermal Noise Density: N</a:t>
            </a:r>
            <a:r>
              <a:rPr lang="en" sz="2520" baseline="-25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 = kT</a:t>
            </a: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914400" y="1964267"/>
            <a:ext cx="104140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Thermal noise has density N</a:t>
            </a:r>
            <a:r>
              <a:rPr lang="en" sz="1820" baseline="-25000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 = kT, in W/Hz.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[N</a:t>
            </a:r>
            <a:r>
              <a:rPr lang="en" sz="1820" baseline="-25000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] = −228.6 + 10 log</a:t>
            </a:r>
            <a:r>
              <a:rPr lang="en" sz="1820" baseline="-25000"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(T/K), in dBW/Hz.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At 290 K: [N</a:t>
            </a:r>
            <a:r>
              <a:rPr lang="en" sz="1820" baseline="-25000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] = −204.0 dBW/Hz = −174.0 dBm/Hz.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Doubling T raises the noise density by 3.0 dB.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Total noise across bandwidth B is N = N</a:t>
            </a:r>
            <a:r>
              <a:rPr lang="en" sz="1820" baseline="-25000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B = kTB.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None/>
            </a:pP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9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933"/>
              </a:spcAft>
              <a:buNone/>
            </a:pPr>
            <a:r>
              <a:rPr lang="en" sz="3600">
                <a:latin typeface="Calibri"/>
                <a:ea typeface="Calibri"/>
                <a:cs typeface="Calibri"/>
                <a:sym typeface="Calibri"/>
              </a:rPr>
              <a:t>Noise Figure: The Component Specification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914400" y="1964267"/>
            <a:ext cx="104140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A component adds noise and degrades the input SNR.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Noise factor measures that degradation: F = SNR</a:t>
            </a:r>
            <a:r>
              <a:rPr lang="en" sz="1820" baseline="-25000"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/SNR</a:t>
            </a:r>
            <a:r>
              <a:rPr lang="en" sz="1820" baseline="-25000">
                <a:latin typeface="Calibri"/>
                <a:ea typeface="Calibri"/>
                <a:cs typeface="Calibri"/>
                <a:sym typeface="Calibri"/>
              </a:rPr>
              <a:t>out</a:t>
            </a: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.*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Noise figure expresses it in dB: NF = 10 log</a:t>
            </a:r>
            <a:r>
              <a:rPr lang="en" sz="1820" baseline="-25000"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F.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Lower NF means less added noise under the same conditions.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Component noise figure and gain describe each receiver stage.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None/>
            </a:pP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 txBox="1"/>
          <p:nvPr/>
        </p:nvSpPr>
        <p:spPr>
          <a:xfrm>
            <a:off x="914400" y="6032500"/>
            <a:ext cx="10413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* NF uses a source at T₀ = 290 K and the same noise bandwidth at input and output.</a:t>
            </a:r>
            <a:endParaRPr sz="13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933"/>
              </a:spcAft>
              <a:buNone/>
            </a:pPr>
            <a:r>
              <a:rPr lang="en" sz="3600">
                <a:latin typeface="Calibri"/>
                <a:ea typeface="Calibri"/>
                <a:cs typeface="Calibri"/>
                <a:sym typeface="Calibri"/>
              </a:rPr>
              <a:t>Three Different Meanings of Temperature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825500" y="1841500"/>
            <a:ext cx="3683100" cy="10668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863600" y="1879600"/>
            <a:ext cx="36069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Physical temperature</a:t>
            </a:r>
            <a:endParaRPr sz="22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220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endParaRPr sz="2200" baseline="-250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4762500" y="1892300"/>
            <a:ext cx="4826100" cy="9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Actual hardware temperature.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 thermometer could measure it.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9588500" y="2019300"/>
            <a:ext cx="20319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Example: 290 K</a:t>
            </a:r>
            <a:endParaRPr sz="22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825500" y="3086100"/>
            <a:ext cx="3683100" cy="10668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863600" y="3124200"/>
            <a:ext cx="36069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Equivalent noise temperature</a:t>
            </a:r>
            <a:endParaRPr sz="22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220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2200" baseline="-250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4762500" y="3136900"/>
            <a:ext cx="4826100" cy="9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Receiver-added noise expressed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as an equivalent input temperature.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9588500" y="3263900"/>
            <a:ext cx="20319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Example: 50 K</a:t>
            </a:r>
            <a:endParaRPr sz="22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825500" y="4330700"/>
            <a:ext cx="3683100" cy="10668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863600" y="4368800"/>
            <a:ext cx="36069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Reference temperature</a:t>
            </a:r>
            <a:endParaRPr sz="22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220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200" baseline="-250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4762500" y="4381500"/>
            <a:ext cx="4826100" cy="9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The fixed convention for defining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noise factor and noise figure.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9588500" y="4508500"/>
            <a:ext cx="20319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Always 290 K</a:t>
            </a:r>
            <a:endParaRPr sz="22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825500" y="5778500"/>
            <a:ext cx="106044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One receiver can have 290 K hardware, 50 K equivalent noise, and a 290 K reference.</a:t>
            </a:r>
            <a:endParaRPr sz="22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1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alibri"/>
                <a:ea typeface="Calibri"/>
                <a:cs typeface="Calibri"/>
                <a:sym typeface="Calibri"/>
              </a:rPr>
              <a:t>Equivalent Noise Temperature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33"/>
              </a:spcBef>
              <a:spcAft>
                <a:spcPts val="933"/>
              </a:spcAft>
              <a:buNone/>
            </a:pPr>
            <a:r>
              <a:rPr lang="en" sz="3600">
                <a:latin typeface="Calibri"/>
                <a:ea typeface="Calibri"/>
                <a:cs typeface="Calibri"/>
                <a:sym typeface="Calibri"/>
              </a:rPr>
              <a:t>A Useful Way to Describe Added Noise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1016000" y="1879600"/>
            <a:ext cx="101601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1. Noise arrives</a:t>
            </a:r>
            <a:endParaRPr sz="27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1333500" y="2324100"/>
            <a:ext cx="98424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The receiver amplifies the incoming noise.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1016000" y="3086100"/>
            <a:ext cx="101601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2. The receiver adds noise</a:t>
            </a:r>
            <a:endParaRPr sz="27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1333500" y="3530600"/>
            <a:ext cx="98424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The output contains both contributions.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1016000" y="4292600"/>
            <a:ext cx="101601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3. Express that addition at the input</a:t>
            </a:r>
            <a:endParaRPr sz="27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1333500" y="4737100"/>
            <a:ext cx="98424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75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tells us the strength of an equivalent thermal source.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825500" y="5778500"/>
            <a:ext cx="106044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NF = 0.69 dB gives T</a:t>
            </a:r>
            <a:r>
              <a:rPr lang="en" sz="1540" baseline="-25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" sz="2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 = 290(10</a:t>
            </a:r>
            <a:r>
              <a:rPr lang="en" sz="1540" baseline="30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NF/10</a:t>
            </a:r>
            <a:r>
              <a:rPr lang="en" sz="2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 − 1) ≈ 50 K.</a:t>
            </a:r>
            <a:endParaRPr sz="22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alibri"/>
                <a:ea typeface="Calibri"/>
                <a:cs typeface="Calibri"/>
                <a:sym typeface="Calibri"/>
              </a:rPr>
              <a:t>Equivalent Noise Temperature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33"/>
              </a:spcBef>
              <a:spcAft>
                <a:spcPts val="933"/>
              </a:spcAft>
              <a:buNone/>
            </a:pPr>
            <a:r>
              <a:rPr lang="en" sz="3600">
                <a:latin typeface="Calibri"/>
                <a:ea typeface="Calibri"/>
                <a:cs typeface="Calibri"/>
                <a:sym typeface="Calibri"/>
              </a:rPr>
              <a:t>Two Models, Exactly the Same Output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825500" y="1714500"/>
            <a:ext cx="104139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ACTUAL RECEIVER</a:t>
            </a:r>
            <a:endParaRPr sz="23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825500" y="2286000"/>
            <a:ext cx="2667000" cy="10542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 txBox="1"/>
          <p:nvPr/>
        </p:nvSpPr>
        <p:spPr>
          <a:xfrm>
            <a:off x="863600" y="2324100"/>
            <a:ext cx="2590800" cy="9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Input signal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+ source noise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p22"/>
          <p:cNvCxnSpPr/>
          <p:nvPr/>
        </p:nvCxnSpPr>
        <p:spPr>
          <a:xfrm>
            <a:off x="3492500" y="2819400"/>
            <a:ext cx="12066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6" name="Google Shape;286;p22"/>
          <p:cNvSpPr/>
          <p:nvPr/>
        </p:nvSpPr>
        <p:spPr>
          <a:xfrm>
            <a:off x="4699000" y="2286000"/>
            <a:ext cx="3365400" cy="10542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 txBox="1"/>
          <p:nvPr/>
        </p:nvSpPr>
        <p:spPr>
          <a:xfrm>
            <a:off x="4737100" y="2324100"/>
            <a:ext cx="3289200" cy="9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Physical receiver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Gain G; adds noise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p22"/>
          <p:cNvCxnSpPr/>
          <p:nvPr/>
        </p:nvCxnSpPr>
        <p:spPr>
          <a:xfrm>
            <a:off x="8064500" y="2819400"/>
            <a:ext cx="8889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9" name="Google Shape;289;p22"/>
          <p:cNvSpPr/>
          <p:nvPr/>
        </p:nvSpPr>
        <p:spPr>
          <a:xfrm>
            <a:off x="8953500" y="2286000"/>
            <a:ext cx="2476500" cy="10542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8991600" y="2324100"/>
            <a:ext cx="2400300" cy="9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Output signal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+ total noise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 txBox="1"/>
          <p:nvPr/>
        </p:nvSpPr>
        <p:spPr>
          <a:xfrm>
            <a:off x="825500" y="3619500"/>
            <a:ext cx="104139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EQUIVALENT CALCULATION MODEL</a:t>
            </a:r>
            <a:endParaRPr sz="23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825500" y="4191000"/>
            <a:ext cx="3429000" cy="11937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 txBox="1"/>
          <p:nvPr/>
        </p:nvSpPr>
        <p:spPr>
          <a:xfrm>
            <a:off x="863600" y="4229100"/>
            <a:ext cx="3352800" cy="11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Same input</a:t>
            </a:r>
            <a:endParaRPr sz="22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+ equivalent added density</a:t>
            </a:r>
            <a:endParaRPr sz="22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kT</a:t>
            </a:r>
            <a:r>
              <a:rPr lang="en" sz="154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540" baseline="-250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22"/>
          <p:cNvCxnSpPr/>
          <p:nvPr/>
        </p:nvCxnSpPr>
        <p:spPr>
          <a:xfrm>
            <a:off x="4254500" y="4787900"/>
            <a:ext cx="9525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5" name="Google Shape;295;p22"/>
          <p:cNvSpPr/>
          <p:nvPr/>
        </p:nvSpPr>
        <p:spPr>
          <a:xfrm>
            <a:off x="5207000" y="4191000"/>
            <a:ext cx="2857500" cy="11937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5245100" y="4229100"/>
            <a:ext cx="2781300" cy="11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Noiseless amplifier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Same gain G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p22"/>
          <p:cNvCxnSpPr/>
          <p:nvPr/>
        </p:nvCxnSpPr>
        <p:spPr>
          <a:xfrm>
            <a:off x="8064500" y="4787900"/>
            <a:ext cx="8889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8" name="Google Shape;298;p22"/>
          <p:cNvSpPr/>
          <p:nvPr/>
        </p:nvSpPr>
        <p:spPr>
          <a:xfrm>
            <a:off x="8953500" y="4191000"/>
            <a:ext cx="2476500" cy="11937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8991600" y="4229100"/>
            <a:ext cx="2400300" cy="11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Same output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signal and noise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>
            <a:off x="825500" y="5778500"/>
            <a:ext cx="106044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We relocate added noise in the model. The hardware and its output are unchanged.</a:t>
            </a:r>
            <a:endParaRPr sz="22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alibri"/>
                <a:ea typeface="Calibri"/>
                <a:cs typeface="Calibri"/>
                <a:sym typeface="Calibri"/>
              </a:rPr>
              <a:t>Equivalent Noise Temperature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33"/>
              </a:spcBef>
              <a:spcAft>
                <a:spcPts val="933"/>
              </a:spcAft>
              <a:buNone/>
            </a:pPr>
            <a:r>
              <a:rPr lang="en" sz="3600">
                <a:latin typeface="Calibri"/>
                <a:ea typeface="Calibri"/>
                <a:cs typeface="Calibri"/>
                <a:sym typeface="Calibri"/>
              </a:rPr>
              <a:t>Which Noise Contribution Matters Most?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3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3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3"/>
          <p:cNvSpPr txBox="1"/>
          <p:nvPr/>
        </p:nvSpPr>
        <p:spPr>
          <a:xfrm>
            <a:off x="825500" y="1803400"/>
            <a:ext cx="104139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Same receiver: NF = 0.69 dB.</a:t>
            </a:r>
            <a:endParaRPr sz="26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Convert once: T</a:t>
            </a:r>
            <a:r>
              <a:rPr lang="en" sz="182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" sz="26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≈ 50 K for the system-noise sum.*</a:t>
            </a:r>
            <a:endParaRPr sz="26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1016000" y="3111500"/>
            <a:ext cx="4635600" cy="16509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3"/>
          <p:cNvSpPr txBox="1"/>
          <p:nvPr/>
        </p:nvSpPr>
        <p:spPr>
          <a:xfrm>
            <a:off x="1054100" y="3149600"/>
            <a:ext cx="4559400" cy="15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Cold-sky source: 30 K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61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sys</a:t>
            </a: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= 80 K (19.0 dB-K)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Receiver noise is the larger part.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6413500" y="3111500"/>
            <a:ext cx="4635600" cy="16509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3"/>
          <p:cNvSpPr txBox="1"/>
          <p:nvPr/>
        </p:nvSpPr>
        <p:spPr>
          <a:xfrm>
            <a:off x="6451600" y="3149600"/>
            <a:ext cx="4559400" cy="15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Room-temperature source: 290 K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61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sys</a:t>
            </a: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= 340 K (25.3 dB-K)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Source noise is the larger part.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3"/>
          <p:cNvSpPr txBox="1"/>
          <p:nvPr/>
        </p:nvSpPr>
        <p:spPr>
          <a:xfrm>
            <a:off x="1016000" y="5003800"/>
            <a:ext cx="10096500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Lowering receiver noise helps most when receiver noise dominates.</a:t>
            </a:r>
            <a:endParaRPr sz="2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3"/>
          <p:cNvSpPr txBox="1"/>
          <p:nvPr/>
        </p:nvSpPr>
        <p:spPr>
          <a:xfrm>
            <a:off x="825500" y="6032500"/>
            <a:ext cx="106044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* Equivalent-input model: JPL DESCANSO, Vol. 10, Ch. 2. The added source is a calculation model.</a:t>
            </a:r>
            <a:endParaRPr sz="1300">
              <a:solidFill>
                <a:srgbClr val="7A7A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7A7A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4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933"/>
              </a:spcAft>
              <a:buNone/>
            </a:pPr>
            <a:r>
              <a:rPr lang="en" sz="3900" i="0" u="none" strike="noStrike" cap="non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Antenna Noise Need Not Be 290 K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728133" y="2032000"/>
            <a:ext cx="9313200" cy="5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" sz="26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Same receiver: NF = 0.69 dB</a:t>
            </a:r>
            <a:endParaRPr sz="2600" i="0" u="none" strike="noStrike" cap="none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711200" y="2895600"/>
            <a:ext cx="2810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" sz="2400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290 K source</a:t>
            </a:r>
            <a:endParaRPr sz="2400" i="0" u="none" strike="noStrike" cap="none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3674533" y="2912533"/>
            <a:ext cx="4910800" cy="558800"/>
          </a:xfrm>
          <a:prstGeom prst="rect">
            <a:avLst/>
          </a:prstGeom>
          <a:solidFill>
            <a:srgbClr val="205580"/>
          </a:solidFill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Calibri"/>
              <a:buNone/>
            </a:pPr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8585200" y="2912533"/>
            <a:ext cx="846800" cy="558800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Calibri"/>
              <a:buNone/>
            </a:pPr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9516533" y="2861733"/>
            <a:ext cx="1964400" cy="6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Calibri"/>
              <a:buNone/>
            </a:pPr>
            <a:r>
              <a:rPr lang="en" sz="22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340 K (25.3 dB-K)</a:t>
            </a:r>
            <a:endParaRPr sz="22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Calibri"/>
              <a:buNone/>
            </a:pPr>
            <a:endParaRPr sz="22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4"/>
          <p:cNvSpPr/>
          <p:nvPr/>
        </p:nvSpPr>
        <p:spPr>
          <a:xfrm>
            <a:off x="711200" y="3894667"/>
            <a:ext cx="2810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" sz="2400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30 K source</a:t>
            </a:r>
            <a:endParaRPr sz="2400" i="0" u="none" strike="noStrike" cap="none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4"/>
          <p:cNvSpPr/>
          <p:nvPr/>
        </p:nvSpPr>
        <p:spPr>
          <a:xfrm>
            <a:off x="3674533" y="3911600"/>
            <a:ext cx="508000" cy="558800"/>
          </a:xfrm>
          <a:prstGeom prst="rect">
            <a:avLst/>
          </a:prstGeom>
          <a:solidFill>
            <a:srgbClr val="205580"/>
          </a:solidFill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Calibri"/>
              <a:buNone/>
            </a:pPr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4182533" y="3911600"/>
            <a:ext cx="846800" cy="558800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Calibri"/>
              <a:buNone/>
            </a:pPr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4"/>
          <p:cNvSpPr/>
          <p:nvPr/>
        </p:nvSpPr>
        <p:spPr>
          <a:xfrm>
            <a:off x="5198533" y="3860800"/>
            <a:ext cx="2912400" cy="6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" sz="22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80 K (19.0 dB-K)</a:t>
            </a:r>
            <a:endParaRPr sz="22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endParaRPr sz="22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4"/>
          <p:cNvSpPr/>
          <p:nvPr/>
        </p:nvSpPr>
        <p:spPr>
          <a:xfrm>
            <a:off x="3725333" y="4673600"/>
            <a:ext cx="16764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Calibri"/>
              <a:buNone/>
            </a:pPr>
            <a:r>
              <a:rPr lang="en" sz="2133" i="0" u="none" strike="noStrike" cap="none">
                <a:solidFill>
                  <a:srgbClr val="205580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 sz="2133" i="0" u="none" strike="noStrike" cap="none">
              <a:solidFill>
                <a:srgbClr val="2055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4"/>
          <p:cNvSpPr/>
          <p:nvPr/>
        </p:nvSpPr>
        <p:spPr>
          <a:xfrm>
            <a:off x="5520267" y="4673600"/>
            <a:ext cx="33020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Calibri"/>
              <a:buNone/>
            </a:pPr>
            <a:r>
              <a:rPr lang="en" sz="2133" i="0" u="none" strike="noStrike" cap="none">
                <a:solidFill>
                  <a:srgbClr val="C65911"/>
                </a:solidFill>
                <a:latin typeface="Calibri"/>
                <a:ea typeface="Calibri"/>
                <a:cs typeface="Calibri"/>
                <a:sym typeface="Calibri"/>
              </a:rPr>
              <a:t>Receiver-added</a:t>
            </a:r>
            <a:endParaRPr sz="2133" i="0" u="none" strike="noStrike" cap="none">
              <a:solidFill>
                <a:srgbClr val="C659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4"/>
          <p:cNvSpPr/>
          <p:nvPr/>
        </p:nvSpPr>
        <p:spPr>
          <a:xfrm>
            <a:off x="677333" y="5401733"/>
            <a:ext cx="10837200" cy="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" sz="22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Lower antenna noise gives lower total noise with the same receiver NF.</a:t>
            </a:r>
            <a:endParaRPr sz="22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endParaRPr sz="22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4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5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 sz="3600">
                <a:latin typeface="Calibri"/>
                <a:ea typeface="Calibri"/>
                <a:cs typeface="Calibri"/>
                <a:sym typeface="Calibri"/>
              </a:rPr>
              <a:t>Antenna Noise: The Practical Picture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5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5"/>
          <p:cNvSpPr txBox="1"/>
          <p:nvPr/>
        </p:nvSpPr>
        <p:spPr>
          <a:xfrm>
            <a:off x="825500" y="1841500"/>
            <a:ext cx="10604400" cy="4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The antenna collects noise as well as the wanted signal.</a:t>
            </a:r>
            <a:endParaRPr sz="26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Sky, atmosphere, ground, and the Moon can change T</a:t>
            </a:r>
            <a:r>
              <a:rPr lang="en" sz="182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26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6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The antenna pattern and pointing determine how much enters.</a:t>
            </a:r>
            <a:endParaRPr sz="26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Use a specified antenna temperature for the link calculation.</a:t>
            </a:r>
            <a:endParaRPr sz="26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" sz="26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Keep external antenna noise separate from receiver noise figure.</a:t>
            </a:r>
            <a:endParaRPr sz="26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6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933"/>
              </a:spcAft>
              <a:buNone/>
            </a:pPr>
            <a:r>
              <a:rPr lang="en" sz="3600">
                <a:latin typeface="Calibri"/>
                <a:ea typeface="Calibri"/>
                <a:cs typeface="Calibri"/>
                <a:sym typeface="Calibri"/>
              </a:rPr>
              <a:t>Reference Planes in the Receiving System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6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6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6"/>
          <p:cNvSpPr/>
          <p:nvPr/>
        </p:nvSpPr>
        <p:spPr>
          <a:xfrm>
            <a:off x="825500" y="2984500"/>
            <a:ext cx="2412900" cy="12066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6"/>
          <p:cNvSpPr txBox="1"/>
          <p:nvPr/>
        </p:nvSpPr>
        <p:spPr>
          <a:xfrm>
            <a:off x="863600" y="3022600"/>
            <a:ext cx="2336700" cy="11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Antenna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collects signal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and scene noise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6"/>
          <p:cNvSpPr/>
          <p:nvPr/>
        </p:nvSpPr>
        <p:spPr>
          <a:xfrm>
            <a:off x="4889500" y="2984500"/>
            <a:ext cx="2349600" cy="12066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6"/>
          <p:cNvSpPr txBox="1"/>
          <p:nvPr/>
        </p:nvSpPr>
        <p:spPr>
          <a:xfrm>
            <a:off x="4927600" y="3022600"/>
            <a:ext cx="2273400" cy="11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Receive feed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1 dB loss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290 K physical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6"/>
          <p:cNvSpPr/>
          <p:nvPr/>
        </p:nvSpPr>
        <p:spPr>
          <a:xfrm>
            <a:off x="9144000" y="2984500"/>
            <a:ext cx="2349600" cy="12066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6"/>
          <p:cNvSpPr txBox="1"/>
          <p:nvPr/>
        </p:nvSpPr>
        <p:spPr>
          <a:xfrm>
            <a:off x="9182100" y="3022600"/>
            <a:ext cx="2273400" cy="11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Receiver / LNA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NF = 0.69 dB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(T</a:t>
            </a:r>
            <a:r>
              <a:rPr lang="en" sz="161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≈ 50 K)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" name="Google Shape;355;p26"/>
          <p:cNvCxnSpPr/>
          <p:nvPr/>
        </p:nvCxnSpPr>
        <p:spPr>
          <a:xfrm>
            <a:off x="3238500" y="3581400"/>
            <a:ext cx="16509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6" name="Google Shape;356;p26"/>
          <p:cNvCxnSpPr/>
          <p:nvPr/>
        </p:nvCxnSpPr>
        <p:spPr>
          <a:xfrm>
            <a:off x="7239000" y="3581400"/>
            <a:ext cx="19050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7" name="Google Shape;357;p26"/>
          <p:cNvCxnSpPr/>
          <p:nvPr/>
        </p:nvCxnSpPr>
        <p:spPr>
          <a:xfrm>
            <a:off x="4000500" y="2628900"/>
            <a:ext cx="0" cy="1905000"/>
          </a:xfrm>
          <a:prstGeom prst="straightConnector1">
            <a:avLst/>
          </a:prstGeom>
          <a:noFill/>
          <a:ln w="12700" cap="flat" cmpd="sng">
            <a:solidFill>
              <a:srgbClr val="7A7A7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58" name="Google Shape;358;p26"/>
          <p:cNvSpPr txBox="1"/>
          <p:nvPr/>
        </p:nvSpPr>
        <p:spPr>
          <a:xfrm>
            <a:off x="3238500" y="2120900"/>
            <a:ext cx="15240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Plane A</a:t>
            </a:r>
            <a:endParaRPr sz="20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" name="Google Shape;359;p26"/>
          <p:cNvCxnSpPr/>
          <p:nvPr/>
        </p:nvCxnSpPr>
        <p:spPr>
          <a:xfrm>
            <a:off x="8191500" y="2628900"/>
            <a:ext cx="0" cy="1905000"/>
          </a:xfrm>
          <a:prstGeom prst="straightConnector1">
            <a:avLst/>
          </a:prstGeom>
          <a:noFill/>
          <a:ln w="12700" cap="flat" cmpd="sng">
            <a:solidFill>
              <a:srgbClr val="7A7A7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60" name="Google Shape;360;p26"/>
          <p:cNvSpPr txBox="1"/>
          <p:nvPr/>
        </p:nvSpPr>
        <p:spPr>
          <a:xfrm>
            <a:off x="7429500" y="2120900"/>
            <a:ext cx="15240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Plane B</a:t>
            </a:r>
            <a:endParaRPr sz="20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6"/>
          <p:cNvSpPr txBox="1"/>
          <p:nvPr/>
        </p:nvSpPr>
        <p:spPr>
          <a:xfrm>
            <a:off x="2857500" y="4699000"/>
            <a:ext cx="29211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Antenna terminal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[S</a:t>
            </a:r>
            <a:r>
              <a:rPr lang="en" sz="161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], T</a:t>
            </a:r>
            <a:r>
              <a:rPr lang="en" sz="161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sys,A</a:t>
            </a:r>
            <a:endParaRPr sz="1610" baseline="-250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6"/>
          <p:cNvSpPr txBox="1"/>
          <p:nvPr/>
        </p:nvSpPr>
        <p:spPr>
          <a:xfrm>
            <a:off x="6985000" y="4699000"/>
            <a:ext cx="31749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Receiver input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[S</a:t>
            </a:r>
            <a:r>
              <a:rPr lang="en" sz="161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], T</a:t>
            </a:r>
            <a:r>
              <a:rPr lang="en" sz="161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sys,B</a:t>
            </a:r>
            <a:endParaRPr sz="1610" baseline="-250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6"/>
          <p:cNvSpPr txBox="1"/>
          <p:nvPr/>
        </p:nvSpPr>
        <p:spPr>
          <a:xfrm>
            <a:off x="825500" y="5778500"/>
            <a:ext cx="106044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Use signal and total equivalent noise at the same plane.</a:t>
            </a:r>
            <a:endParaRPr sz="22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7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alibri"/>
                <a:ea typeface="Calibri"/>
                <a:cs typeface="Calibri"/>
                <a:sym typeface="Calibri"/>
              </a:rPr>
              <a:t>Antenna Temperature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33"/>
              </a:spcBef>
              <a:spcAft>
                <a:spcPts val="933"/>
              </a:spcAft>
              <a:buNone/>
            </a:pPr>
            <a:r>
              <a:rPr lang="en" sz="3600">
                <a:latin typeface="Calibri"/>
                <a:ea typeface="Calibri"/>
                <a:cs typeface="Calibri"/>
                <a:sym typeface="Calibri"/>
              </a:rPr>
              <a:t>The Pattern Weights the Whole Scene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7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7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7"/>
          <p:cNvSpPr/>
          <p:nvPr/>
        </p:nvSpPr>
        <p:spPr>
          <a:xfrm>
            <a:off x="825500" y="2032000"/>
            <a:ext cx="2984400" cy="9906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7"/>
          <p:cNvSpPr txBox="1"/>
          <p:nvPr/>
        </p:nvSpPr>
        <p:spPr>
          <a:xfrm>
            <a:off x="863600" y="2070100"/>
            <a:ext cx="2908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Sky brightness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68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sky</a:t>
            </a:r>
            <a:endParaRPr sz="1680" baseline="-250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7"/>
          <p:cNvSpPr/>
          <p:nvPr/>
        </p:nvSpPr>
        <p:spPr>
          <a:xfrm>
            <a:off x="825500" y="3619500"/>
            <a:ext cx="2984400" cy="9906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7"/>
          <p:cNvSpPr txBox="1"/>
          <p:nvPr/>
        </p:nvSpPr>
        <p:spPr>
          <a:xfrm>
            <a:off x="863600" y="3657600"/>
            <a:ext cx="2908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Ground brightness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68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ground</a:t>
            </a:r>
            <a:endParaRPr sz="1680" baseline="-250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7"/>
          <p:cNvSpPr/>
          <p:nvPr/>
        </p:nvSpPr>
        <p:spPr>
          <a:xfrm>
            <a:off x="4953000" y="2603500"/>
            <a:ext cx="3365400" cy="14604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7"/>
          <p:cNvSpPr txBox="1"/>
          <p:nvPr/>
        </p:nvSpPr>
        <p:spPr>
          <a:xfrm>
            <a:off x="4991100" y="2641600"/>
            <a:ext cx="3289200" cy="13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Antenna pattern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weights each direction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then sums the noise*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7" name="Google Shape;377;p27"/>
          <p:cNvCxnSpPr/>
          <p:nvPr/>
        </p:nvCxnSpPr>
        <p:spPr>
          <a:xfrm>
            <a:off x="3810000" y="2527300"/>
            <a:ext cx="5715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8" name="Google Shape;378;p27"/>
          <p:cNvCxnSpPr/>
          <p:nvPr/>
        </p:nvCxnSpPr>
        <p:spPr>
          <a:xfrm>
            <a:off x="4381500" y="2527300"/>
            <a:ext cx="0" cy="54600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9" name="Google Shape;379;p27"/>
          <p:cNvCxnSpPr/>
          <p:nvPr/>
        </p:nvCxnSpPr>
        <p:spPr>
          <a:xfrm>
            <a:off x="4381500" y="3073400"/>
            <a:ext cx="5715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0" name="Google Shape;380;p27"/>
          <p:cNvCxnSpPr/>
          <p:nvPr/>
        </p:nvCxnSpPr>
        <p:spPr>
          <a:xfrm>
            <a:off x="3810000" y="4114800"/>
            <a:ext cx="5715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1" name="Google Shape;381;p27"/>
          <p:cNvCxnSpPr/>
          <p:nvPr/>
        </p:nvCxnSpPr>
        <p:spPr>
          <a:xfrm rot="10800000">
            <a:off x="4381500" y="3594000"/>
            <a:ext cx="0" cy="52080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2" name="Google Shape;382;p27"/>
          <p:cNvCxnSpPr/>
          <p:nvPr/>
        </p:nvCxnSpPr>
        <p:spPr>
          <a:xfrm>
            <a:off x="4381500" y="3594100"/>
            <a:ext cx="5715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3" name="Google Shape;383;p27"/>
          <p:cNvCxnSpPr/>
          <p:nvPr/>
        </p:nvCxnSpPr>
        <p:spPr>
          <a:xfrm>
            <a:off x="8318500" y="3340100"/>
            <a:ext cx="7620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4" name="Google Shape;384;p27"/>
          <p:cNvSpPr/>
          <p:nvPr/>
        </p:nvSpPr>
        <p:spPr>
          <a:xfrm>
            <a:off x="9080500" y="2730500"/>
            <a:ext cx="2412900" cy="12699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7"/>
          <p:cNvSpPr txBox="1"/>
          <p:nvPr/>
        </p:nvSpPr>
        <p:spPr>
          <a:xfrm>
            <a:off x="9118600" y="2768600"/>
            <a:ext cx="2336700" cy="11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Antenna port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175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= kT</a:t>
            </a:r>
            <a:r>
              <a:rPr lang="en" sz="175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750" baseline="-250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7"/>
          <p:cNvSpPr txBox="1"/>
          <p:nvPr/>
        </p:nvSpPr>
        <p:spPr>
          <a:xfrm>
            <a:off x="825500" y="4978400"/>
            <a:ext cx="106044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Sky temperature describes radiation from a direction.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Antenna temperature describes the noise delivered at the port.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7"/>
          <p:cNvSpPr txBox="1"/>
          <p:nvPr/>
        </p:nvSpPr>
        <p:spPr>
          <a:xfrm>
            <a:off x="825500" y="6032500"/>
            <a:ext cx="106044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* Lossless-antenna model. Source: Condon &amp; Ransom, Essential Radio Astronomy, Ch. 3.</a:t>
            </a:r>
            <a:endParaRPr sz="1300">
              <a:solidFill>
                <a:srgbClr val="7A7A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7A7A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8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Antenna Temperature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Question: How Much Does Ground Matter?</a:t>
            </a: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8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8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8"/>
          <p:cNvSpPr/>
          <p:nvPr/>
        </p:nvSpPr>
        <p:spPr>
          <a:xfrm>
            <a:off x="825500" y="2032000"/>
            <a:ext cx="3111600" cy="11175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8"/>
          <p:cNvSpPr txBox="1"/>
          <p:nvPr/>
        </p:nvSpPr>
        <p:spPr>
          <a:xfrm>
            <a:off x="863600" y="2070100"/>
            <a:ext cx="3035400" cy="10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Sky: 10 K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95% pattern weight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8"/>
          <p:cNvSpPr/>
          <p:nvPr/>
        </p:nvSpPr>
        <p:spPr>
          <a:xfrm>
            <a:off x="825500" y="3937000"/>
            <a:ext cx="3111600" cy="11175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8"/>
          <p:cNvSpPr txBox="1"/>
          <p:nvPr/>
        </p:nvSpPr>
        <p:spPr>
          <a:xfrm>
            <a:off x="863600" y="3975100"/>
            <a:ext cx="3035400" cy="10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Ground: 290 K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5% pattern weight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8"/>
          <p:cNvSpPr/>
          <p:nvPr/>
        </p:nvSpPr>
        <p:spPr>
          <a:xfrm>
            <a:off x="5588000" y="2895600"/>
            <a:ext cx="2159100" cy="13080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8"/>
          <p:cNvSpPr txBox="1"/>
          <p:nvPr/>
        </p:nvSpPr>
        <p:spPr>
          <a:xfrm>
            <a:off x="5626100" y="2933700"/>
            <a:ext cx="2082900" cy="12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Weighted sum</a:t>
            </a:r>
            <a:endParaRPr sz="28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Σ*</a:t>
            </a:r>
            <a:endParaRPr sz="28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1" name="Google Shape;401;p28"/>
          <p:cNvCxnSpPr/>
          <p:nvPr/>
        </p:nvCxnSpPr>
        <p:spPr>
          <a:xfrm>
            <a:off x="3937000" y="2590800"/>
            <a:ext cx="8256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2" name="Google Shape;402;p28"/>
          <p:cNvCxnSpPr/>
          <p:nvPr/>
        </p:nvCxnSpPr>
        <p:spPr>
          <a:xfrm>
            <a:off x="4762500" y="2590800"/>
            <a:ext cx="0" cy="71130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3" name="Google Shape;403;p28"/>
          <p:cNvCxnSpPr/>
          <p:nvPr/>
        </p:nvCxnSpPr>
        <p:spPr>
          <a:xfrm>
            <a:off x="4762500" y="3302000"/>
            <a:ext cx="8256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4" name="Google Shape;404;p28"/>
          <p:cNvCxnSpPr/>
          <p:nvPr/>
        </p:nvCxnSpPr>
        <p:spPr>
          <a:xfrm>
            <a:off x="3937000" y="4495800"/>
            <a:ext cx="8256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5" name="Google Shape;405;p28"/>
          <p:cNvCxnSpPr/>
          <p:nvPr/>
        </p:nvCxnSpPr>
        <p:spPr>
          <a:xfrm rot="10800000">
            <a:off x="4762500" y="3810000"/>
            <a:ext cx="0" cy="68580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6" name="Google Shape;406;p28"/>
          <p:cNvCxnSpPr/>
          <p:nvPr/>
        </p:nvCxnSpPr>
        <p:spPr>
          <a:xfrm>
            <a:off x="4762500" y="3810000"/>
            <a:ext cx="8256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7" name="Google Shape;407;p28"/>
          <p:cNvCxnSpPr/>
          <p:nvPr/>
        </p:nvCxnSpPr>
        <p:spPr>
          <a:xfrm>
            <a:off x="7747000" y="3556000"/>
            <a:ext cx="12699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8" name="Google Shape;408;p28"/>
          <p:cNvSpPr/>
          <p:nvPr/>
        </p:nvSpPr>
        <p:spPr>
          <a:xfrm>
            <a:off x="9017000" y="2921000"/>
            <a:ext cx="2476500" cy="12699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8"/>
          <p:cNvSpPr txBox="1"/>
          <p:nvPr/>
        </p:nvSpPr>
        <p:spPr>
          <a:xfrm>
            <a:off x="9055100" y="2959100"/>
            <a:ext cx="2400300" cy="11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Antenna port</a:t>
            </a:r>
            <a:endParaRPr sz="28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96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28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= ?</a:t>
            </a:r>
            <a:endParaRPr sz="28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8"/>
          <p:cNvSpPr txBox="1"/>
          <p:nvPr/>
        </p:nvSpPr>
        <p:spPr>
          <a:xfrm>
            <a:off x="825500" y="6032500"/>
            <a:ext cx="106044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* Lossless antenna. Weights represent integrated antenna response in each region.</a:t>
            </a:r>
            <a:endParaRPr sz="13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9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Antenna Temperature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Worked Answer: The Weighted Noise</a:t>
            </a:r>
            <a:endParaRPr sz="39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9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9"/>
          <p:cNvSpPr/>
          <p:nvPr/>
        </p:nvSpPr>
        <p:spPr>
          <a:xfrm>
            <a:off x="728133" y="2065867"/>
            <a:ext cx="66380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" sz="2400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680" baseline="-25000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2400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 = Σ w</a:t>
            </a:r>
            <a:r>
              <a:rPr lang="en" sz="1680" baseline="-25000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400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680" baseline="-25000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400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   (lossless antenna)</a:t>
            </a:r>
            <a:endParaRPr sz="2400">
              <a:solidFill>
                <a:srgbClr val="66708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endParaRPr sz="2400">
              <a:solidFill>
                <a:srgbClr val="6670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9"/>
          <p:cNvSpPr/>
          <p:nvPr/>
        </p:nvSpPr>
        <p:spPr>
          <a:xfrm>
            <a:off x="728133" y="2929467"/>
            <a:ext cx="3336000" cy="5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Sky: 0.95 × 10</a:t>
            </a:r>
            <a:endParaRPr sz="24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endParaRPr sz="24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9"/>
          <p:cNvSpPr/>
          <p:nvPr/>
        </p:nvSpPr>
        <p:spPr>
          <a:xfrm>
            <a:off x="4165600" y="2963333"/>
            <a:ext cx="2412800" cy="508000"/>
          </a:xfrm>
          <a:prstGeom prst="rect">
            <a:avLst/>
          </a:prstGeom>
          <a:solidFill>
            <a:srgbClr val="205580"/>
          </a:solidFill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Calibri"/>
              <a:buNone/>
            </a:pPr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9"/>
          <p:cNvSpPr/>
          <p:nvPr/>
        </p:nvSpPr>
        <p:spPr>
          <a:xfrm>
            <a:off x="6739467" y="2912533"/>
            <a:ext cx="1913600" cy="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33"/>
              <a:buFont typeface="Calibri"/>
              <a:buNone/>
            </a:pPr>
            <a:r>
              <a:rPr lang="en" sz="2533" i="0" u="none" strike="noStrike" cap="none">
                <a:solidFill>
                  <a:srgbClr val="205580"/>
                </a:solidFill>
                <a:latin typeface="Calibri"/>
                <a:ea typeface="Calibri"/>
                <a:cs typeface="Calibri"/>
                <a:sym typeface="Calibri"/>
              </a:rPr>
              <a:t>9.5 K</a:t>
            </a:r>
            <a:endParaRPr sz="2533" i="0" u="none" strike="noStrike" cap="none">
              <a:solidFill>
                <a:srgbClr val="2055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9"/>
          <p:cNvSpPr/>
          <p:nvPr/>
        </p:nvSpPr>
        <p:spPr>
          <a:xfrm>
            <a:off x="728133" y="3759200"/>
            <a:ext cx="3336000" cy="5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Ground: 0.05 × 290</a:t>
            </a:r>
            <a:endParaRPr sz="24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endParaRPr sz="24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9"/>
          <p:cNvSpPr/>
          <p:nvPr/>
        </p:nvSpPr>
        <p:spPr>
          <a:xfrm>
            <a:off x="4165600" y="3793067"/>
            <a:ext cx="3683200" cy="508000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Calibri"/>
              <a:buNone/>
            </a:pPr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9"/>
          <p:cNvSpPr/>
          <p:nvPr/>
        </p:nvSpPr>
        <p:spPr>
          <a:xfrm>
            <a:off x="8043333" y="3742267"/>
            <a:ext cx="2133600" cy="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33"/>
              <a:buFont typeface="Calibri"/>
              <a:buNone/>
            </a:pPr>
            <a:r>
              <a:rPr lang="en" sz="2533" i="0" u="none" strike="noStrike" cap="none">
                <a:solidFill>
                  <a:srgbClr val="C65911"/>
                </a:solidFill>
                <a:latin typeface="Calibri"/>
                <a:ea typeface="Calibri"/>
                <a:cs typeface="Calibri"/>
                <a:sym typeface="Calibri"/>
              </a:rPr>
              <a:t>14.5 K</a:t>
            </a:r>
            <a:endParaRPr sz="2533" i="0" u="none" strike="noStrike" cap="none">
              <a:solidFill>
                <a:srgbClr val="C659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9"/>
          <p:cNvSpPr/>
          <p:nvPr/>
        </p:nvSpPr>
        <p:spPr>
          <a:xfrm>
            <a:off x="812800" y="4538133"/>
            <a:ext cx="94828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750" baseline="-25000"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 = 0.95(10) + 0.05(290) = 24.0 K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9"/>
          <p:cNvSpPr/>
          <p:nvPr/>
        </p:nvSpPr>
        <p:spPr>
          <a:xfrm>
            <a:off x="677333" y="5401733"/>
            <a:ext cx="10837200" cy="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alibri"/>
                <a:ea typeface="Calibri"/>
                <a:cs typeface="Calibri"/>
                <a:sym typeface="Calibri"/>
              </a:rPr>
              <a:t>The 5% ground pickup contributes more noise than the 95% sky pickup.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9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0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933"/>
              </a:spcAft>
              <a:buNone/>
            </a:pPr>
            <a:r>
              <a:rPr lang="en" sz="3900" i="0" u="none" strike="noStrike" cap="non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The Moon and Antenna Beam Coupling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0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0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4" name="Google Shape;434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27867" y="1879600"/>
            <a:ext cx="2810932" cy="2810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3467" y="1879600"/>
            <a:ext cx="2810932" cy="2810932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0"/>
          <p:cNvSpPr/>
          <p:nvPr/>
        </p:nvSpPr>
        <p:spPr>
          <a:xfrm>
            <a:off x="1032933" y="2777067"/>
            <a:ext cx="1202400" cy="1202400"/>
          </a:xfrm>
          <a:prstGeom prst="ellipse">
            <a:avLst/>
          </a:prstGeom>
          <a:noFill/>
          <a:ln w="50800" cap="flat" cmpd="sng">
            <a:solidFill>
              <a:srgbClr val="2055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Calibri"/>
              <a:buNone/>
            </a:pPr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0"/>
          <p:cNvSpPr/>
          <p:nvPr/>
        </p:nvSpPr>
        <p:spPr>
          <a:xfrm>
            <a:off x="9059333" y="2641600"/>
            <a:ext cx="1202400" cy="1202400"/>
          </a:xfrm>
          <a:prstGeom prst="ellipse">
            <a:avLst/>
          </a:prstGeom>
          <a:noFill/>
          <a:ln w="50800" cap="flat" cmpd="sng">
            <a:solidFill>
              <a:srgbClr val="C659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Calibri"/>
              <a:buNone/>
            </a:pPr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0"/>
          <p:cNvSpPr txBox="1"/>
          <p:nvPr/>
        </p:nvSpPr>
        <p:spPr>
          <a:xfrm>
            <a:off x="812800" y="4775200"/>
            <a:ext cx="50632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Calibri"/>
              <a:buNone/>
            </a:pPr>
            <a:r>
              <a:rPr lang="en" sz="2933" i="0" u="none" strike="noStrike" cap="none">
                <a:solidFill>
                  <a:srgbClr val="205580"/>
                </a:solidFill>
                <a:latin typeface="Calibri"/>
                <a:ea typeface="Calibri"/>
                <a:cs typeface="Calibri"/>
                <a:sym typeface="Calibri"/>
              </a:rPr>
              <a:t>OFF the Lunar Disk</a:t>
            </a:r>
            <a:endParaRPr sz="2933" i="0" u="none" strike="noStrike" cap="none">
              <a:solidFill>
                <a:srgbClr val="2055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0"/>
          <p:cNvSpPr txBox="1"/>
          <p:nvPr/>
        </p:nvSpPr>
        <p:spPr>
          <a:xfrm>
            <a:off x="6316133" y="4775200"/>
            <a:ext cx="51816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Calibri"/>
              <a:buNone/>
            </a:pPr>
            <a:r>
              <a:rPr lang="en" sz="2933" i="0" u="none" strike="noStrike" cap="none">
                <a:solidFill>
                  <a:srgbClr val="C65911"/>
                </a:solidFill>
                <a:latin typeface="Calibri"/>
                <a:ea typeface="Calibri"/>
                <a:cs typeface="Calibri"/>
                <a:sym typeface="Calibri"/>
              </a:rPr>
              <a:t>ON the Lunar Disk</a:t>
            </a:r>
            <a:endParaRPr sz="2933" i="0" u="none" strike="noStrike" cap="none">
              <a:solidFill>
                <a:srgbClr val="C659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0"/>
          <p:cNvSpPr txBox="1"/>
          <p:nvPr/>
        </p:nvSpPr>
        <p:spPr>
          <a:xfrm>
            <a:off x="829733" y="5350933"/>
            <a:ext cx="49952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667" i="0" u="none" strike="noStrike" cap="none">
                <a:solidFill>
                  <a:srgbClr val="205580"/>
                </a:solidFill>
                <a:latin typeface="Calibri"/>
                <a:ea typeface="Calibri"/>
                <a:cs typeface="Calibri"/>
                <a:sym typeface="Calibri"/>
              </a:rPr>
              <a:t>Assume T</a:t>
            </a:r>
            <a:r>
              <a:rPr lang="en" sz="1733" i="0" u="none" strike="noStrike" cap="none" baseline="-25000">
                <a:solidFill>
                  <a:srgbClr val="20558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2667" i="0" u="none" strike="noStrike" cap="none">
                <a:solidFill>
                  <a:srgbClr val="205580"/>
                </a:solidFill>
                <a:latin typeface="Calibri"/>
                <a:ea typeface="Calibri"/>
                <a:cs typeface="Calibri"/>
                <a:sym typeface="Calibri"/>
              </a:rPr>
              <a:t> = 30 K*</a:t>
            </a:r>
            <a:endParaRPr sz="2667" i="0" u="none" strike="noStrike" cap="none">
              <a:solidFill>
                <a:srgbClr val="2055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0"/>
          <p:cNvSpPr txBox="1"/>
          <p:nvPr/>
        </p:nvSpPr>
        <p:spPr>
          <a:xfrm>
            <a:off x="6333067" y="5350933"/>
            <a:ext cx="51476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667" i="0" u="none" strike="noStrike" cap="none">
                <a:solidFill>
                  <a:srgbClr val="C65911"/>
                </a:solidFill>
                <a:latin typeface="Calibri"/>
                <a:ea typeface="Calibri"/>
                <a:cs typeface="Calibri"/>
                <a:sym typeface="Calibri"/>
              </a:rPr>
              <a:t>Assume T</a:t>
            </a:r>
            <a:r>
              <a:rPr lang="en" sz="1733" i="0" u="none" strike="noStrike" cap="none" baseline="-25000">
                <a:solidFill>
                  <a:srgbClr val="C6591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2667" i="0" u="none" strike="noStrike" cap="none">
                <a:solidFill>
                  <a:srgbClr val="C65911"/>
                </a:solidFill>
                <a:latin typeface="Calibri"/>
                <a:ea typeface="Calibri"/>
                <a:cs typeface="Calibri"/>
                <a:sym typeface="Calibri"/>
              </a:rPr>
              <a:t> = 230 K</a:t>
            </a:r>
            <a:endParaRPr sz="2667" i="0" u="none" strike="noStrike" cap="none">
              <a:solidFill>
                <a:srgbClr val="C659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0"/>
          <p:cNvSpPr txBox="1"/>
          <p:nvPr/>
        </p:nvSpPr>
        <p:spPr>
          <a:xfrm>
            <a:off x="812800" y="6032500"/>
            <a:ext cx="107019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* Assumed scene temperatures. Beam outlines are schematic. Moon image: NASA SVS / LRO.</a:t>
            </a:r>
            <a:endParaRPr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1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Atmosphere at 270 K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Question: What Reaches the Antenna?</a:t>
            </a: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1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1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1"/>
          <p:cNvSpPr/>
          <p:nvPr/>
        </p:nvSpPr>
        <p:spPr>
          <a:xfrm>
            <a:off x="825500" y="2794000"/>
            <a:ext cx="2793900" cy="13971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1"/>
          <p:cNvSpPr txBox="1"/>
          <p:nvPr/>
        </p:nvSpPr>
        <p:spPr>
          <a:xfrm>
            <a:off x="863600" y="2832100"/>
            <a:ext cx="27177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Incoming signal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+ background noise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61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= 3 K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2" name="Google Shape;452;p31"/>
          <p:cNvCxnSpPr/>
          <p:nvPr/>
        </p:nvCxnSpPr>
        <p:spPr>
          <a:xfrm>
            <a:off x="3619500" y="3492500"/>
            <a:ext cx="10794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3" name="Google Shape;453;p31"/>
          <p:cNvSpPr/>
          <p:nvPr/>
        </p:nvSpPr>
        <p:spPr>
          <a:xfrm>
            <a:off x="4699000" y="2603500"/>
            <a:ext cx="3111600" cy="17781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1"/>
          <p:cNvSpPr txBox="1"/>
          <p:nvPr/>
        </p:nvSpPr>
        <p:spPr>
          <a:xfrm>
            <a:off x="4737100" y="2641600"/>
            <a:ext cx="3035400" cy="17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Absorbing layer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0.1 dB loss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270 K physical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Thermal emission*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5" name="Google Shape;455;p31"/>
          <p:cNvCxnSpPr/>
          <p:nvPr/>
        </p:nvCxnSpPr>
        <p:spPr>
          <a:xfrm>
            <a:off x="7810500" y="3492500"/>
            <a:ext cx="10794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6" name="Google Shape;456;p31"/>
          <p:cNvSpPr/>
          <p:nvPr/>
        </p:nvSpPr>
        <p:spPr>
          <a:xfrm>
            <a:off x="8890000" y="2794000"/>
            <a:ext cx="2603400" cy="13971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1"/>
          <p:cNvSpPr txBox="1"/>
          <p:nvPr/>
        </p:nvSpPr>
        <p:spPr>
          <a:xfrm>
            <a:off x="8928100" y="2832100"/>
            <a:ext cx="25272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Signal: lower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Noise: ?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Antenna input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1"/>
          <p:cNvSpPr txBox="1"/>
          <p:nvPr/>
        </p:nvSpPr>
        <p:spPr>
          <a:xfrm>
            <a:off x="825500" y="5778500"/>
            <a:ext cx="106044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The layer attenuates incoming radiation and generates its own thermal noise.</a:t>
            </a:r>
            <a:endParaRPr sz="22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1"/>
          <p:cNvSpPr txBox="1"/>
          <p:nvPr/>
        </p:nvSpPr>
        <p:spPr>
          <a:xfrm>
            <a:off x="825500" y="6032500"/>
            <a:ext cx="106044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* Isothermal layer model. Sources: NRAO Essential Radio Astronomy, Ch. 1; DSN 810-005.</a:t>
            </a:r>
            <a:endParaRPr sz="1300">
              <a:solidFill>
                <a:srgbClr val="7A7A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7A7A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2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Atmosphere at 270 K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Worked Answer: Loss and Emission</a:t>
            </a: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2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2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2"/>
          <p:cNvSpPr/>
          <p:nvPr/>
        </p:nvSpPr>
        <p:spPr>
          <a:xfrm>
            <a:off x="825500" y="2476500"/>
            <a:ext cx="4445100" cy="13716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2"/>
          <p:cNvSpPr txBox="1"/>
          <p:nvPr/>
        </p:nvSpPr>
        <p:spPr>
          <a:xfrm>
            <a:off x="965200" y="2603500"/>
            <a:ext cx="4165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Transmitted background</a:t>
            </a:r>
            <a:endParaRPr sz="22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54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bg</a:t>
            </a: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× 10</a:t>
            </a:r>
            <a:r>
              <a:rPr lang="en" sz="1540" baseline="30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−A/10</a:t>
            </a:r>
            <a:endParaRPr sz="1540" baseline="300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3 × 10</a:t>
            </a:r>
            <a:r>
              <a:rPr lang="en" sz="1540" baseline="30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−0.1/10</a:t>
            </a: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≈ 2.93 K</a:t>
            </a:r>
            <a:endParaRPr sz="22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2"/>
          <p:cNvSpPr/>
          <p:nvPr/>
        </p:nvSpPr>
        <p:spPr>
          <a:xfrm>
            <a:off x="825500" y="4216400"/>
            <a:ext cx="4445100" cy="13716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2"/>
          <p:cNvSpPr txBox="1"/>
          <p:nvPr/>
        </p:nvSpPr>
        <p:spPr>
          <a:xfrm>
            <a:off x="965200" y="4343400"/>
            <a:ext cx="4165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Layer emission</a:t>
            </a:r>
            <a:endParaRPr sz="22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54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phys</a:t>
            </a: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(1 − 10</a:t>
            </a:r>
            <a:r>
              <a:rPr lang="en" sz="1540" baseline="30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−A/10</a:t>
            </a: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2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270(1 − 10</a:t>
            </a:r>
            <a:r>
              <a:rPr lang="en" sz="1540" baseline="30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−0.1/10</a:t>
            </a: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) ≈ 6.15 K</a:t>
            </a:r>
            <a:endParaRPr sz="22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2"/>
          <p:cNvSpPr/>
          <p:nvPr/>
        </p:nvSpPr>
        <p:spPr>
          <a:xfrm>
            <a:off x="6477000" y="3441700"/>
            <a:ext cx="1714500" cy="11430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2"/>
          <p:cNvSpPr txBox="1"/>
          <p:nvPr/>
        </p:nvSpPr>
        <p:spPr>
          <a:xfrm>
            <a:off x="6604000" y="3568700"/>
            <a:ext cx="1460400" cy="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9.1 K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2"/>
          <p:cNvSpPr/>
          <p:nvPr/>
        </p:nvSpPr>
        <p:spPr>
          <a:xfrm>
            <a:off x="9080500" y="3441700"/>
            <a:ext cx="2349600" cy="11430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2"/>
          <p:cNvSpPr txBox="1"/>
          <p:nvPr/>
        </p:nvSpPr>
        <p:spPr>
          <a:xfrm>
            <a:off x="9220200" y="3594100"/>
            <a:ext cx="2070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Noise seen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by antenna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2"/>
          <p:cNvSpPr txBox="1"/>
          <p:nvPr/>
        </p:nvSpPr>
        <p:spPr>
          <a:xfrm>
            <a:off x="825500" y="1828800"/>
            <a:ext cx="106044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Signal ledger: [S</a:t>
            </a:r>
            <a:r>
              <a:rPr lang="en" sz="196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out</a:t>
            </a:r>
            <a:r>
              <a:rPr lang="en" sz="28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] = [S</a:t>
            </a:r>
            <a:r>
              <a:rPr lang="en" sz="196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lang="en" sz="28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] − 0.1 dB</a:t>
            </a:r>
            <a:endParaRPr sz="28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2"/>
          <p:cNvSpPr txBox="1"/>
          <p:nvPr/>
        </p:nvSpPr>
        <p:spPr>
          <a:xfrm>
            <a:off x="825500" y="5778500"/>
            <a:ext cx="106044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540" baseline="-25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seen</a:t>
            </a:r>
            <a:r>
              <a:rPr lang="en" sz="2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 = T</a:t>
            </a:r>
            <a:r>
              <a:rPr lang="en" sz="1540" baseline="-25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bg</a:t>
            </a:r>
            <a:r>
              <a:rPr lang="en" sz="2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" sz="1540" baseline="30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−A/10</a:t>
            </a:r>
            <a:r>
              <a:rPr lang="en" sz="2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 + T</a:t>
            </a:r>
            <a:r>
              <a:rPr lang="en" sz="1540" baseline="-25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phys</a:t>
            </a:r>
            <a:r>
              <a:rPr lang="en" sz="2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(1 − 10</a:t>
            </a:r>
            <a:r>
              <a:rPr lang="en" sz="1540" baseline="30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−A/10</a:t>
            </a:r>
            <a:r>
              <a:rPr lang="en" sz="2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) ≈ 9.1 K.</a:t>
            </a:r>
            <a:endParaRPr sz="22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7" name="Google Shape;477;p32"/>
          <p:cNvCxnSpPr/>
          <p:nvPr/>
        </p:nvCxnSpPr>
        <p:spPr>
          <a:xfrm>
            <a:off x="5270500" y="3162300"/>
            <a:ext cx="609600" cy="1200"/>
          </a:xfrm>
          <a:prstGeom prst="straightConnector1">
            <a:avLst/>
          </a:prstGeom>
          <a:noFill/>
          <a:ln w="19050" cap="flat" cmpd="sng">
            <a:solidFill>
              <a:srgbClr val="14407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8" name="Google Shape;478;p32"/>
          <p:cNvCxnSpPr/>
          <p:nvPr/>
        </p:nvCxnSpPr>
        <p:spPr>
          <a:xfrm>
            <a:off x="5880100" y="3162300"/>
            <a:ext cx="1200" cy="850800"/>
          </a:xfrm>
          <a:prstGeom prst="straightConnector1">
            <a:avLst/>
          </a:prstGeom>
          <a:noFill/>
          <a:ln w="19050" cap="flat" cmpd="sng">
            <a:solidFill>
              <a:srgbClr val="14407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9" name="Google Shape;479;p32"/>
          <p:cNvCxnSpPr/>
          <p:nvPr/>
        </p:nvCxnSpPr>
        <p:spPr>
          <a:xfrm>
            <a:off x="5270500" y="4902200"/>
            <a:ext cx="609600" cy="1200"/>
          </a:xfrm>
          <a:prstGeom prst="straightConnector1">
            <a:avLst/>
          </a:prstGeom>
          <a:noFill/>
          <a:ln w="19050" cap="flat" cmpd="sng">
            <a:solidFill>
              <a:srgbClr val="14407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0" name="Google Shape;480;p32"/>
          <p:cNvCxnSpPr/>
          <p:nvPr/>
        </p:nvCxnSpPr>
        <p:spPr>
          <a:xfrm rot="10800000" flipH="1">
            <a:off x="5880100" y="4013300"/>
            <a:ext cx="1200" cy="888900"/>
          </a:xfrm>
          <a:prstGeom prst="straightConnector1">
            <a:avLst/>
          </a:prstGeom>
          <a:noFill/>
          <a:ln w="19050" cap="flat" cmpd="sng">
            <a:solidFill>
              <a:srgbClr val="14407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" name="Google Shape;481;p32"/>
          <p:cNvCxnSpPr/>
          <p:nvPr/>
        </p:nvCxnSpPr>
        <p:spPr>
          <a:xfrm>
            <a:off x="5880100" y="4013200"/>
            <a:ext cx="597000" cy="1200"/>
          </a:xfrm>
          <a:prstGeom prst="straightConnector1">
            <a:avLst/>
          </a:prstGeom>
          <a:noFill/>
          <a:ln w="19050" cap="flat" cmpd="sng">
            <a:solidFill>
              <a:srgbClr val="14407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2" name="Google Shape;482;p32"/>
          <p:cNvCxnSpPr/>
          <p:nvPr/>
        </p:nvCxnSpPr>
        <p:spPr>
          <a:xfrm>
            <a:off x="8191500" y="4013200"/>
            <a:ext cx="888900" cy="1200"/>
          </a:xfrm>
          <a:prstGeom prst="straightConnector1">
            <a:avLst/>
          </a:prstGeom>
          <a:noFill/>
          <a:ln w="19050" cap="flat" cmpd="sng">
            <a:solidFill>
              <a:srgbClr val="144073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3"/>
          <p:cNvSpPr txBox="1"/>
          <p:nvPr/>
        </p:nvSpPr>
        <p:spPr>
          <a:xfrm>
            <a:off x="838200" y="355600"/>
            <a:ext cx="105156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3359"/>
                </a:solidFill>
                <a:latin typeface="Calibri"/>
                <a:ea typeface="Calibri"/>
                <a:cs typeface="Calibri"/>
                <a:sym typeface="Calibri"/>
              </a:rPr>
              <a:t>Weather and Frequency</a:t>
            </a:r>
            <a:endParaRPr sz="3600">
              <a:solidFill>
                <a:srgbClr val="1433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3359"/>
                </a:solidFill>
                <a:latin typeface="Calibri"/>
                <a:ea typeface="Calibri"/>
                <a:cs typeface="Calibri"/>
                <a:sym typeface="Calibri"/>
              </a:rPr>
              <a:t>Atmospheric Absorption</a:t>
            </a:r>
            <a:endParaRPr sz="3600">
              <a:solidFill>
                <a:srgbClr val="1433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3"/>
          <p:cNvSpPr txBox="1"/>
          <p:nvPr/>
        </p:nvSpPr>
        <p:spPr>
          <a:xfrm>
            <a:off x="2667000" y="6350000"/>
            <a:ext cx="68580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3"/>
          <p:cNvSpPr txBox="1"/>
          <p:nvPr/>
        </p:nvSpPr>
        <p:spPr>
          <a:xfrm>
            <a:off x="11112500" y="6438900"/>
            <a:ext cx="57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0" name="Google Shape;49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360" y="1651000"/>
            <a:ext cx="6058283" cy="4254501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33"/>
          <p:cNvSpPr txBox="1"/>
          <p:nvPr/>
        </p:nvSpPr>
        <p:spPr>
          <a:xfrm>
            <a:off x="7048500" y="1714500"/>
            <a:ext cx="45084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Water vapor has a feature</a:t>
            </a:r>
            <a:endParaRPr sz="2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near 22 GHz.</a:t>
            </a:r>
            <a:endParaRPr sz="2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Oxygen absorbs strongly</a:t>
            </a:r>
            <a:endParaRPr sz="2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around 60 GHz.</a:t>
            </a:r>
            <a:endParaRPr sz="2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Cloud liquid water adds loss.</a:t>
            </a:r>
            <a:endParaRPr sz="2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Dry, high sites reduce water</a:t>
            </a:r>
            <a:endParaRPr sz="2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along the atmospheric path.</a:t>
            </a:r>
            <a:endParaRPr sz="2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This curve is gas/cloud opacity,</a:t>
            </a:r>
            <a:endParaRPr sz="2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not rain attenuation.*</a:t>
            </a:r>
            <a:endParaRPr sz="2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3"/>
          <p:cNvSpPr txBox="1"/>
          <p:nvPr/>
        </p:nvSpPr>
        <p:spPr>
          <a:xfrm>
            <a:off x="825500" y="6032500"/>
            <a:ext cx="106044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* Green Bank summer example. Attenuation in dB = 4.3 × opacity τ. Source: Condon &amp; Ransom, Fig. 1.2.</a:t>
            </a:r>
            <a:endParaRPr sz="1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4"/>
          <p:cNvSpPr txBox="1"/>
          <p:nvPr/>
        </p:nvSpPr>
        <p:spPr>
          <a:xfrm>
            <a:off x="838200" y="355600"/>
            <a:ext cx="105156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3359"/>
                </a:solidFill>
                <a:latin typeface="Calibri"/>
                <a:ea typeface="Calibri"/>
                <a:cs typeface="Calibri"/>
                <a:sym typeface="Calibri"/>
              </a:rPr>
              <a:t>Weather and Frequency</a:t>
            </a:r>
            <a:endParaRPr sz="3600">
              <a:solidFill>
                <a:srgbClr val="1433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3359"/>
                </a:solidFill>
                <a:latin typeface="Calibri"/>
                <a:ea typeface="Calibri"/>
                <a:cs typeface="Calibri"/>
                <a:sym typeface="Calibri"/>
              </a:rPr>
              <a:t>Rain Attenuation</a:t>
            </a:r>
            <a:endParaRPr sz="3600">
              <a:solidFill>
                <a:srgbClr val="1433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4"/>
          <p:cNvSpPr txBox="1"/>
          <p:nvPr/>
        </p:nvSpPr>
        <p:spPr>
          <a:xfrm>
            <a:off x="2667000" y="6350000"/>
            <a:ext cx="68580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4"/>
          <p:cNvSpPr txBox="1"/>
          <p:nvPr/>
        </p:nvSpPr>
        <p:spPr>
          <a:xfrm>
            <a:off x="11112500" y="6438900"/>
            <a:ext cx="57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0" name="Google Shape;500;p34"/>
          <p:cNvCxnSpPr/>
          <p:nvPr/>
        </p:nvCxnSpPr>
        <p:spPr>
          <a:xfrm>
            <a:off x="1270000" y="2286000"/>
            <a:ext cx="1200" cy="3048000"/>
          </a:xfrm>
          <a:prstGeom prst="straightConnector1">
            <a:avLst/>
          </a:prstGeom>
          <a:noFill/>
          <a:ln w="12700" cap="flat" cmpd="sng">
            <a:solidFill>
              <a:srgbClr val="14407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1" name="Google Shape;501;p34"/>
          <p:cNvCxnSpPr/>
          <p:nvPr/>
        </p:nvCxnSpPr>
        <p:spPr>
          <a:xfrm>
            <a:off x="1270000" y="5334000"/>
            <a:ext cx="5143500" cy="1200"/>
          </a:xfrm>
          <a:prstGeom prst="straightConnector1">
            <a:avLst/>
          </a:prstGeom>
          <a:noFill/>
          <a:ln w="12700" cap="flat" cmpd="sng">
            <a:solidFill>
              <a:srgbClr val="14407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2" name="Google Shape;502;p34"/>
          <p:cNvCxnSpPr/>
          <p:nvPr/>
        </p:nvCxnSpPr>
        <p:spPr>
          <a:xfrm>
            <a:off x="1270000" y="5334000"/>
            <a:ext cx="5143500" cy="1200"/>
          </a:xfrm>
          <a:prstGeom prst="straightConnector1">
            <a:avLst/>
          </a:prstGeom>
          <a:noFill/>
          <a:ln w="1270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3" name="Google Shape;503;p34"/>
          <p:cNvSpPr txBox="1"/>
          <p:nvPr/>
        </p:nvSpPr>
        <p:spPr>
          <a:xfrm>
            <a:off x="825500" y="5181600"/>
            <a:ext cx="3810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7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4" name="Google Shape;504;p34"/>
          <p:cNvCxnSpPr/>
          <p:nvPr/>
        </p:nvCxnSpPr>
        <p:spPr>
          <a:xfrm>
            <a:off x="1270000" y="4318000"/>
            <a:ext cx="5143500" cy="1200"/>
          </a:xfrm>
          <a:prstGeom prst="straightConnector1">
            <a:avLst/>
          </a:prstGeom>
          <a:noFill/>
          <a:ln w="1270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4"/>
          <p:cNvSpPr txBox="1"/>
          <p:nvPr/>
        </p:nvSpPr>
        <p:spPr>
          <a:xfrm>
            <a:off x="825500" y="4165600"/>
            <a:ext cx="3810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7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6" name="Google Shape;506;p34"/>
          <p:cNvCxnSpPr/>
          <p:nvPr/>
        </p:nvCxnSpPr>
        <p:spPr>
          <a:xfrm>
            <a:off x="1270000" y="3302000"/>
            <a:ext cx="5143500" cy="1200"/>
          </a:xfrm>
          <a:prstGeom prst="straightConnector1">
            <a:avLst/>
          </a:prstGeom>
          <a:noFill/>
          <a:ln w="1270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7" name="Google Shape;507;p34"/>
          <p:cNvSpPr txBox="1"/>
          <p:nvPr/>
        </p:nvSpPr>
        <p:spPr>
          <a:xfrm>
            <a:off x="825500" y="3149600"/>
            <a:ext cx="3810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7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8" name="Google Shape;508;p34"/>
          <p:cNvCxnSpPr/>
          <p:nvPr/>
        </p:nvCxnSpPr>
        <p:spPr>
          <a:xfrm>
            <a:off x="1270000" y="2286000"/>
            <a:ext cx="5143500" cy="1200"/>
          </a:xfrm>
          <a:prstGeom prst="straightConnector1">
            <a:avLst/>
          </a:prstGeom>
          <a:noFill/>
          <a:ln w="1270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9" name="Google Shape;509;p34"/>
          <p:cNvSpPr txBox="1"/>
          <p:nvPr/>
        </p:nvSpPr>
        <p:spPr>
          <a:xfrm>
            <a:off x="825500" y="2133600"/>
            <a:ext cx="3810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7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4"/>
          <p:cNvSpPr txBox="1"/>
          <p:nvPr/>
        </p:nvSpPr>
        <p:spPr>
          <a:xfrm>
            <a:off x="1104900" y="5397500"/>
            <a:ext cx="4572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7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4"/>
          <p:cNvSpPr txBox="1"/>
          <p:nvPr/>
        </p:nvSpPr>
        <p:spPr>
          <a:xfrm>
            <a:off x="1104900" y="4769317"/>
            <a:ext cx="5715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0.4</a:t>
            </a:r>
            <a:endParaRPr sz="18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2" name="Google Shape;512;p34"/>
          <p:cNvCxnSpPr/>
          <p:nvPr/>
        </p:nvCxnSpPr>
        <p:spPr>
          <a:xfrm rot="10800000" flipH="1">
            <a:off x="1270000" y="4788817"/>
            <a:ext cx="935100" cy="361500"/>
          </a:xfrm>
          <a:prstGeom prst="straightConnector1">
            <a:avLst/>
          </a:prstGeom>
          <a:noFill/>
          <a:ln w="38100" cap="flat" cmpd="sng">
            <a:solidFill>
              <a:srgbClr val="14407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3" name="Google Shape;513;p34"/>
          <p:cNvSpPr txBox="1"/>
          <p:nvPr/>
        </p:nvSpPr>
        <p:spPr>
          <a:xfrm>
            <a:off x="2040082" y="5397500"/>
            <a:ext cx="4572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7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4"/>
          <p:cNvSpPr txBox="1"/>
          <p:nvPr/>
        </p:nvSpPr>
        <p:spPr>
          <a:xfrm>
            <a:off x="2040082" y="4407747"/>
            <a:ext cx="5715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1.1</a:t>
            </a:r>
            <a:endParaRPr sz="18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5" name="Google Shape;515;p34"/>
          <p:cNvCxnSpPr/>
          <p:nvPr/>
        </p:nvCxnSpPr>
        <p:spPr>
          <a:xfrm rot="10800000" flipH="1">
            <a:off x="2205182" y="3936747"/>
            <a:ext cx="1870500" cy="852000"/>
          </a:xfrm>
          <a:prstGeom prst="straightConnector1">
            <a:avLst/>
          </a:prstGeom>
          <a:noFill/>
          <a:ln w="38100" cap="flat" cmpd="sng">
            <a:solidFill>
              <a:srgbClr val="14407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6" name="Google Shape;516;p34"/>
          <p:cNvSpPr txBox="1"/>
          <p:nvPr/>
        </p:nvSpPr>
        <p:spPr>
          <a:xfrm>
            <a:off x="3910445" y="5397500"/>
            <a:ext cx="4572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7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4"/>
          <p:cNvSpPr txBox="1"/>
          <p:nvPr/>
        </p:nvSpPr>
        <p:spPr>
          <a:xfrm>
            <a:off x="3910445" y="3555693"/>
            <a:ext cx="5715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2.8</a:t>
            </a:r>
            <a:endParaRPr sz="18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8" name="Google Shape;518;p34"/>
          <p:cNvCxnSpPr/>
          <p:nvPr/>
        </p:nvCxnSpPr>
        <p:spPr>
          <a:xfrm rot="10800000" flipH="1">
            <a:off x="4075545" y="2748393"/>
            <a:ext cx="2337900" cy="1188300"/>
          </a:xfrm>
          <a:prstGeom prst="straightConnector1">
            <a:avLst/>
          </a:prstGeom>
          <a:noFill/>
          <a:ln w="38100" cap="flat" cmpd="sng">
            <a:solidFill>
              <a:srgbClr val="14407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9" name="Google Shape;519;p34"/>
          <p:cNvSpPr txBox="1"/>
          <p:nvPr/>
        </p:nvSpPr>
        <p:spPr>
          <a:xfrm>
            <a:off x="6248400" y="5397500"/>
            <a:ext cx="4572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7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4"/>
          <p:cNvSpPr txBox="1"/>
          <p:nvPr/>
        </p:nvSpPr>
        <p:spPr>
          <a:xfrm>
            <a:off x="6248400" y="2367387"/>
            <a:ext cx="5715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5.1</a:t>
            </a:r>
            <a:endParaRPr sz="18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4"/>
          <p:cNvSpPr txBox="1"/>
          <p:nvPr/>
        </p:nvSpPr>
        <p:spPr>
          <a:xfrm>
            <a:off x="952500" y="1778000"/>
            <a:ext cx="5524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Specific attenuation (dB/km)</a:t>
            </a:r>
            <a:endParaRPr sz="21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4"/>
          <p:cNvSpPr txBox="1"/>
          <p:nvPr/>
        </p:nvSpPr>
        <p:spPr>
          <a:xfrm>
            <a:off x="2857500" y="5715000"/>
            <a:ext cx="30480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Frequency (GHz)</a:t>
            </a:r>
            <a:endParaRPr sz="20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4"/>
          <p:cNvSpPr txBox="1"/>
          <p:nvPr/>
        </p:nvSpPr>
        <p:spPr>
          <a:xfrm>
            <a:off x="7048500" y="1968500"/>
            <a:ext cx="45084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Same rain rate: 25 mm/h.*</a:t>
            </a:r>
            <a:endParaRPr sz="2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For these microwave bands,</a:t>
            </a:r>
            <a:endParaRPr sz="2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higher frequency gives much</a:t>
            </a:r>
            <a:endParaRPr sz="2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more rain attenuation.</a:t>
            </a:r>
            <a:endParaRPr sz="2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Total fade also depends on</a:t>
            </a:r>
            <a:endParaRPr sz="2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rain-path length and elevation.</a:t>
            </a:r>
            <a:endParaRPr sz="2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Ka-band generally needs more</a:t>
            </a:r>
            <a:endParaRPr sz="2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rain margin than X-band.</a:t>
            </a:r>
            <a:endParaRPr sz="2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4"/>
          <p:cNvSpPr txBox="1"/>
          <p:nvPr/>
        </p:nvSpPr>
        <p:spPr>
          <a:xfrm>
            <a:off x="825500" y="6096000"/>
            <a:ext cx="10604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* ITU-R P.838-3, Table 5; horizontal polarization. Connected model samples, not station fade predictions.</a:t>
            </a:r>
            <a:endParaRPr sz="12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5"/>
          <p:cNvSpPr txBox="1"/>
          <p:nvPr/>
        </p:nvSpPr>
        <p:spPr>
          <a:xfrm>
            <a:off x="838200" y="355600"/>
            <a:ext cx="105156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3359"/>
                </a:solidFill>
                <a:latin typeface="Calibri"/>
                <a:ea typeface="Calibri"/>
                <a:cs typeface="Calibri"/>
                <a:sym typeface="Calibri"/>
              </a:rPr>
              <a:t>Weather and Ground Stations</a:t>
            </a:r>
            <a:endParaRPr sz="3600">
              <a:solidFill>
                <a:srgbClr val="1433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3359"/>
                </a:solidFill>
                <a:latin typeface="Calibri"/>
                <a:ea typeface="Calibri"/>
                <a:cs typeface="Calibri"/>
                <a:sym typeface="Calibri"/>
              </a:rPr>
              <a:t>Rain Margin and Site Selection</a:t>
            </a:r>
            <a:endParaRPr sz="3600">
              <a:solidFill>
                <a:srgbClr val="1433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5"/>
          <p:cNvSpPr txBox="1"/>
          <p:nvPr/>
        </p:nvSpPr>
        <p:spPr>
          <a:xfrm>
            <a:off x="2667000" y="6350000"/>
            <a:ext cx="68580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5"/>
          <p:cNvSpPr txBox="1"/>
          <p:nvPr/>
        </p:nvSpPr>
        <p:spPr>
          <a:xfrm>
            <a:off x="11112500" y="6438900"/>
            <a:ext cx="57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5"/>
          <p:cNvSpPr txBox="1"/>
          <p:nvPr/>
        </p:nvSpPr>
        <p:spPr>
          <a:xfrm>
            <a:off x="825500" y="1841500"/>
            <a:ext cx="10604400" cy="36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Rain margin is extra allowance for weather fades at a chosen availability.</a:t>
            </a:r>
            <a:endParaRPr sz="25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Choose it using frequency, local rain statistics, elevation, and path geometry.</a:t>
            </a:r>
            <a:endParaRPr sz="25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Dry climates and high sites often reduce atmospheric attenuation and noise.</a:t>
            </a:r>
            <a:endParaRPr sz="25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Higher elevation shortens the path through the lower atmosphere.</a:t>
            </a:r>
            <a:endParaRPr sz="25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Site diversity can keep service available when rain affects one station.*</a:t>
            </a:r>
            <a:endParaRPr sz="25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Weather reduces S and can raise antenna noise, lowering G/T.</a:t>
            </a:r>
            <a:endParaRPr sz="25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5"/>
          <p:cNvSpPr txBox="1"/>
          <p:nvPr/>
        </p:nvSpPr>
        <p:spPr>
          <a:xfrm>
            <a:off x="825500" y="6032500"/>
            <a:ext cx="106044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* ITU-R P.618-14. Required S/N₀ and adequacy come later; no universal rain margin is assigned here.</a:t>
            </a:r>
            <a:endParaRPr sz="1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6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933"/>
              </a:spcAft>
              <a:buNone/>
            </a:pPr>
            <a:r>
              <a:rPr lang="en" sz="3600">
                <a:latin typeface="Calibri"/>
                <a:ea typeface="Calibri"/>
                <a:cs typeface="Calibri"/>
                <a:sym typeface="Calibri"/>
              </a:rPr>
              <a:t>What Attenuates Signal? What Adds Noise?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6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6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6"/>
          <p:cNvSpPr txBox="1"/>
          <p:nvPr/>
        </p:nvSpPr>
        <p:spPr>
          <a:xfrm>
            <a:off x="825500" y="1841500"/>
            <a:ext cx="4191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Mechanism</a:t>
            </a:r>
            <a:endParaRPr sz="24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6"/>
          <p:cNvSpPr txBox="1"/>
          <p:nvPr/>
        </p:nvSpPr>
        <p:spPr>
          <a:xfrm>
            <a:off x="5207000" y="1841500"/>
            <a:ext cx="2857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Signal</a:t>
            </a:r>
            <a:endParaRPr sz="24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6"/>
          <p:cNvSpPr txBox="1"/>
          <p:nvPr/>
        </p:nvSpPr>
        <p:spPr>
          <a:xfrm>
            <a:off x="8255000" y="1841500"/>
            <a:ext cx="33021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Noise</a:t>
            </a:r>
            <a:endParaRPr sz="24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4" name="Google Shape;544;p36"/>
          <p:cNvCxnSpPr/>
          <p:nvPr/>
        </p:nvCxnSpPr>
        <p:spPr>
          <a:xfrm>
            <a:off x="825500" y="2730500"/>
            <a:ext cx="10668000" cy="0"/>
          </a:xfrm>
          <a:prstGeom prst="straightConnector1">
            <a:avLst/>
          </a:prstGeom>
          <a:noFill/>
          <a:ln w="7625" cap="flat" cmpd="sng">
            <a:solidFill>
              <a:srgbClr val="7A7A7A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5" name="Google Shape;545;p36"/>
          <p:cNvSpPr txBox="1"/>
          <p:nvPr/>
        </p:nvSpPr>
        <p:spPr>
          <a:xfrm>
            <a:off x="825500" y="2832100"/>
            <a:ext cx="4191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Free space, pointing,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polarization mismatch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6"/>
          <p:cNvSpPr txBox="1"/>
          <p:nvPr/>
        </p:nvSpPr>
        <p:spPr>
          <a:xfrm>
            <a:off x="5207000" y="2832100"/>
            <a:ext cx="2857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Less received power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6"/>
          <p:cNvSpPr txBox="1"/>
          <p:nvPr/>
        </p:nvSpPr>
        <p:spPr>
          <a:xfrm>
            <a:off x="8255000" y="2832100"/>
            <a:ext cx="33021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No thermal emission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implied by this loss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8" name="Google Shape;548;p36"/>
          <p:cNvCxnSpPr/>
          <p:nvPr/>
        </p:nvCxnSpPr>
        <p:spPr>
          <a:xfrm>
            <a:off x="825500" y="3721100"/>
            <a:ext cx="10668000" cy="0"/>
          </a:xfrm>
          <a:prstGeom prst="straightConnector1">
            <a:avLst/>
          </a:prstGeom>
          <a:noFill/>
          <a:ln w="7625" cap="flat" cmpd="sng">
            <a:solidFill>
              <a:srgbClr val="7A7A7A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9" name="Google Shape;549;p36"/>
          <p:cNvSpPr txBox="1"/>
          <p:nvPr/>
        </p:nvSpPr>
        <p:spPr>
          <a:xfrm>
            <a:off x="825500" y="3822700"/>
            <a:ext cx="4191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Room-temperature feed /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absorbing atmosphere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6"/>
          <p:cNvSpPr txBox="1"/>
          <p:nvPr/>
        </p:nvSpPr>
        <p:spPr>
          <a:xfrm>
            <a:off x="5207000" y="3822700"/>
            <a:ext cx="2857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Attenuated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6"/>
          <p:cNvSpPr txBox="1"/>
          <p:nvPr/>
        </p:nvSpPr>
        <p:spPr>
          <a:xfrm>
            <a:off x="8255000" y="3822700"/>
            <a:ext cx="33021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Incoming noise attenuated;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thermal emission added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2" name="Google Shape;552;p36"/>
          <p:cNvCxnSpPr/>
          <p:nvPr/>
        </p:nvCxnSpPr>
        <p:spPr>
          <a:xfrm>
            <a:off x="825500" y="4711700"/>
            <a:ext cx="10668000" cy="0"/>
          </a:xfrm>
          <a:prstGeom prst="straightConnector1">
            <a:avLst/>
          </a:prstGeom>
          <a:noFill/>
          <a:ln w="7625" cap="flat" cmpd="sng">
            <a:solidFill>
              <a:srgbClr val="7A7A7A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3" name="Google Shape;553;p36"/>
          <p:cNvSpPr txBox="1"/>
          <p:nvPr/>
        </p:nvSpPr>
        <p:spPr>
          <a:xfrm>
            <a:off x="825500" y="4813300"/>
            <a:ext cx="4191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Receiver amplifier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6"/>
          <p:cNvSpPr txBox="1"/>
          <p:nvPr/>
        </p:nvSpPr>
        <p:spPr>
          <a:xfrm>
            <a:off x="5207000" y="4813300"/>
            <a:ext cx="2857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Amplified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6"/>
          <p:cNvSpPr txBox="1"/>
          <p:nvPr/>
        </p:nvSpPr>
        <p:spPr>
          <a:xfrm>
            <a:off x="8255000" y="4813300"/>
            <a:ext cx="33021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Incoming noise amplified;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receiver noise added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63A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7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933"/>
              </a:spcAft>
              <a:buNone/>
            </a:pPr>
            <a:r>
              <a:rPr lang="en" sz="390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Break</a:t>
            </a:r>
            <a:endParaRPr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7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7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8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Lunar Link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Feed Loss and Noise at Two Planes</a:t>
            </a: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8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8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8"/>
          <p:cNvSpPr/>
          <p:nvPr/>
        </p:nvSpPr>
        <p:spPr>
          <a:xfrm>
            <a:off x="4635500" y="2857500"/>
            <a:ext cx="3111600" cy="13971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8"/>
          <p:cNvSpPr txBox="1"/>
          <p:nvPr/>
        </p:nvSpPr>
        <p:spPr>
          <a:xfrm>
            <a:off x="4787900" y="2984500"/>
            <a:ext cx="280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Room-temperature feed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1.0 dB loss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290 K physical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3" name="Google Shape;573;p38"/>
          <p:cNvCxnSpPr/>
          <p:nvPr/>
        </p:nvCxnSpPr>
        <p:spPr>
          <a:xfrm>
            <a:off x="1270000" y="3492500"/>
            <a:ext cx="33654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4" name="Google Shape;574;p38"/>
          <p:cNvCxnSpPr/>
          <p:nvPr/>
        </p:nvCxnSpPr>
        <p:spPr>
          <a:xfrm>
            <a:off x="7747000" y="3492500"/>
            <a:ext cx="34926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5" name="Google Shape;575;p38"/>
          <p:cNvCxnSpPr/>
          <p:nvPr/>
        </p:nvCxnSpPr>
        <p:spPr>
          <a:xfrm>
            <a:off x="2794000" y="2667000"/>
            <a:ext cx="0" cy="1905000"/>
          </a:xfrm>
          <a:prstGeom prst="straightConnector1">
            <a:avLst/>
          </a:prstGeom>
          <a:noFill/>
          <a:ln w="12700" cap="flat" cmpd="sng">
            <a:solidFill>
              <a:srgbClr val="7A7A7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76" name="Google Shape;576;p38"/>
          <p:cNvSpPr txBox="1"/>
          <p:nvPr/>
        </p:nvSpPr>
        <p:spPr>
          <a:xfrm>
            <a:off x="1905000" y="2590800"/>
            <a:ext cx="23496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A: feed input</a:t>
            </a:r>
            <a:endParaRPr sz="20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7" name="Google Shape;577;p38"/>
          <p:cNvCxnSpPr/>
          <p:nvPr/>
        </p:nvCxnSpPr>
        <p:spPr>
          <a:xfrm>
            <a:off x="9588500" y="2667000"/>
            <a:ext cx="0" cy="1905000"/>
          </a:xfrm>
          <a:prstGeom prst="straightConnector1">
            <a:avLst/>
          </a:prstGeom>
          <a:noFill/>
          <a:ln w="12700" cap="flat" cmpd="sng">
            <a:solidFill>
              <a:srgbClr val="7A7A7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78" name="Google Shape;578;p38"/>
          <p:cNvSpPr txBox="1"/>
          <p:nvPr/>
        </p:nvSpPr>
        <p:spPr>
          <a:xfrm>
            <a:off x="8636000" y="2590800"/>
            <a:ext cx="2667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B: feed output</a:t>
            </a:r>
            <a:endParaRPr sz="20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8"/>
          <p:cNvSpPr txBox="1"/>
          <p:nvPr/>
        </p:nvSpPr>
        <p:spPr>
          <a:xfrm>
            <a:off x="825500" y="1714500"/>
            <a:ext cx="34926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Antenna noise: 30 K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Signal: [S</a:t>
            </a:r>
            <a:r>
              <a:rPr lang="en" sz="168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8"/>
          <p:cNvSpPr txBox="1"/>
          <p:nvPr/>
        </p:nvSpPr>
        <p:spPr>
          <a:xfrm>
            <a:off x="8255000" y="1714500"/>
            <a:ext cx="34926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Signal: [S</a:t>
            </a:r>
            <a:r>
              <a:rPr lang="en" sz="161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] − 1 dB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Antenna noise: 23.8 K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8"/>
          <p:cNvSpPr txBox="1"/>
          <p:nvPr/>
        </p:nvSpPr>
        <p:spPr>
          <a:xfrm>
            <a:off x="825500" y="4635500"/>
            <a:ext cx="50799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Feed noise referred to input A:</a:t>
            </a:r>
            <a:endParaRPr sz="22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(L</a:t>
            </a:r>
            <a:r>
              <a:rPr lang="en" sz="154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− 1)T</a:t>
            </a:r>
            <a:r>
              <a:rPr lang="en" sz="154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= 75.1 K</a:t>
            </a:r>
            <a:endParaRPr sz="22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8"/>
          <p:cNvSpPr txBox="1"/>
          <p:nvPr/>
        </p:nvSpPr>
        <p:spPr>
          <a:xfrm>
            <a:off x="6350000" y="4635500"/>
            <a:ext cx="50799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Feed noise delivered at output B:</a:t>
            </a:r>
            <a:endParaRPr sz="22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(1 − 1/L</a:t>
            </a:r>
            <a:r>
              <a:rPr lang="en" sz="154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)T</a:t>
            </a:r>
            <a:r>
              <a:rPr lang="en" sz="154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= 59.6 K</a:t>
            </a:r>
            <a:endParaRPr sz="22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8"/>
          <p:cNvSpPr txBox="1"/>
          <p:nvPr/>
        </p:nvSpPr>
        <p:spPr>
          <a:xfrm>
            <a:off x="825500" y="5791200"/>
            <a:ext cx="106044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" baseline="-25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" sz="2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 = 10</a:t>
            </a:r>
            <a:r>
              <a:rPr lang="en" baseline="30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[L_f]/10</a:t>
            </a:r>
            <a:r>
              <a:rPr lang="en" sz="2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. Both terms represent the same feed noise at different planes.</a:t>
            </a:r>
            <a:endParaRPr sz="20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9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Lunar Link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One System, Two Noise Ledgers</a:t>
            </a: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9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9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9"/>
          <p:cNvSpPr txBox="1"/>
          <p:nvPr/>
        </p:nvSpPr>
        <p:spPr>
          <a:xfrm>
            <a:off x="825500" y="1841500"/>
            <a:ext cx="35559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Contribution</a:t>
            </a:r>
            <a:endParaRPr sz="25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9"/>
          <p:cNvSpPr txBox="1"/>
          <p:nvPr/>
        </p:nvSpPr>
        <p:spPr>
          <a:xfrm>
            <a:off x="4508500" y="1841500"/>
            <a:ext cx="36195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At A: before feed</a:t>
            </a:r>
            <a:endParaRPr sz="25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9"/>
          <p:cNvSpPr txBox="1"/>
          <p:nvPr/>
        </p:nvSpPr>
        <p:spPr>
          <a:xfrm>
            <a:off x="8445500" y="1841500"/>
            <a:ext cx="31749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At B: after feed</a:t>
            </a:r>
            <a:endParaRPr sz="25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9"/>
          <p:cNvSpPr txBox="1"/>
          <p:nvPr/>
        </p:nvSpPr>
        <p:spPr>
          <a:xfrm>
            <a:off x="825500" y="2552700"/>
            <a:ext cx="35559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Antenna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9"/>
          <p:cNvSpPr txBox="1"/>
          <p:nvPr/>
        </p:nvSpPr>
        <p:spPr>
          <a:xfrm>
            <a:off x="4508500" y="2552700"/>
            <a:ext cx="36195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30.0 K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9"/>
          <p:cNvSpPr txBox="1"/>
          <p:nvPr/>
        </p:nvSpPr>
        <p:spPr>
          <a:xfrm>
            <a:off x="8445500" y="2552700"/>
            <a:ext cx="31749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23.8 K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9"/>
          <p:cNvSpPr txBox="1"/>
          <p:nvPr/>
        </p:nvSpPr>
        <p:spPr>
          <a:xfrm>
            <a:off x="825500" y="3263900"/>
            <a:ext cx="35559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Feed emission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9"/>
          <p:cNvSpPr txBox="1"/>
          <p:nvPr/>
        </p:nvSpPr>
        <p:spPr>
          <a:xfrm>
            <a:off x="4508500" y="3263900"/>
            <a:ext cx="36195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75.1 K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9"/>
          <p:cNvSpPr txBox="1"/>
          <p:nvPr/>
        </p:nvSpPr>
        <p:spPr>
          <a:xfrm>
            <a:off x="8445500" y="3263900"/>
            <a:ext cx="31749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59.6 K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9"/>
          <p:cNvSpPr txBox="1"/>
          <p:nvPr/>
        </p:nvSpPr>
        <p:spPr>
          <a:xfrm>
            <a:off x="825500" y="3975100"/>
            <a:ext cx="35559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Receiver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9"/>
          <p:cNvSpPr txBox="1"/>
          <p:nvPr/>
        </p:nvSpPr>
        <p:spPr>
          <a:xfrm>
            <a:off x="4508500" y="3975100"/>
            <a:ext cx="36195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63.0 K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9"/>
          <p:cNvSpPr txBox="1"/>
          <p:nvPr/>
        </p:nvSpPr>
        <p:spPr>
          <a:xfrm>
            <a:off x="8445500" y="3975100"/>
            <a:ext cx="31749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50.0 K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9"/>
          <p:cNvSpPr txBox="1"/>
          <p:nvPr/>
        </p:nvSpPr>
        <p:spPr>
          <a:xfrm>
            <a:off x="825500" y="4597400"/>
            <a:ext cx="3555900" cy="8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610" baseline="-25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sys</a:t>
            </a:r>
            <a:endParaRPr sz="1610" baseline="-250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[T</a:t>
            </a:r>
            <a:r>
              <a:rPr lang="en" sz="1610" baseline="-25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sys</a:t>
            </a:r>
            <a:r>
              <a:rPr lang="en" sz="23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sz="23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9"/>
          <p:cNvSpPr txBox="1"/>
          <p:nvPr/>
        </p:nvSpPr>
        <p:spPr>
          <a:xfrm>
            <a:off x="4508500" y="4597400"/>
            <a:ext cx="3619500" cy="8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168.0 K</a:t>
            </a:r>
            <a:endParaRPr sz="23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22.3 dB-K</a:t>
            </a:r>
            <a:endParaRPr sz="23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9"/>
          <p:cNvSpPr txBox="1"/>
          <p:nvPr/>
        </p:nvSpPr>
        <p:spPr>
          <a:xfrm>
            <a:off x="8445500" y="4597400"/>
            <a:ext cx="3174900" cy="8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133.5 K</a:t>
            </a:r>
            <a:endParaRPr sz="23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21.3 dB-K</a:t>
            </a:r>
            <a:endParaRPr sz="23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9"/>
          <p:cNvSpPr txBox="1"/>
          <p:nvPr/>
        </p:nvSpPr>
        <p:spPr>
          <a:xfrm>
            <a:off x="825500" y="5778500"/>
            <a:ext cx="106044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 to B: [S] and [T</a:t>
            </a:r>
            <a:r>
              <a:rPr lang="en" sz="1540" baseline="-25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sys</a:t>
            </a:r>
            <a:r>
              <a:rPr lang="en" sz="2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] both fall 1.0 dB. [S/N</a:t>
            </a:r>
            <a:r>
              <a:rPr lang="en" sz="1540" baseline="-25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] stays unchanged.</a:t>
            </a:r>
            <a:endParaRPr sz="22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9"/>
          <p:cNvSpPr txBox="1"/>
          <p:nvPr/>
        </p:nvSpPr>
        <p:spPr>
          <a:xfrm>
            <a:off x="825500" y="1422400"/>
            <a:ext cx="106044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470" baseline="-2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sys,A</a:t>
            </a:r>
            <a:r>
              <a:rPr lang="en" sz="2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= T</a:t>
            </a:r>
            <a:r>
              <a:rPr lang="en" sz="1470" baseline="-2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2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+ (L</a:t>
            </a:r>
            <a:r>
              <a:rPr lang="en" sz="1470" baseline="-2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" sz="2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− 1)T</a:t>
            </a:r>
            <a:r>
              <a:rPr lang="en" sz="1470" baseline="-2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phys</a:t>
            </a:r>
            <a:r>
              <a:rPr lang="en" sz="2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+ L</a:t>
            </a:r>
            <a:r>
              <a:rPr lang="en" sz="1470" baseline="-2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" sz="2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470" baseline="-2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e,rx</a:t>
            </a:r>
            <a:r>
              <a:rPr lang="en" sz="2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;   T</a:t>
            </a:r>
            <a:r>
              <a:rPr lang="en" sz="1470" baseline="-2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sys,B</a:t>
            </a:r>
            <a:r>
              <a:rPr lang="en" sz="2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= T</a:t>
            </a:r>
            <a:r>
              <a:rPr lang="en" sz="1470" baseline="-2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sys,A</a:t>
            </a:r>
            <a:r>
              <a:rPr lang="en" sz="2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/L</a:t>
            </a:r>
            <a:r>
              <a:rPr lang="en" sz="1470" baseline="-2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70" baseline="-25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0"/>
          <p:cNvSpPr/>
          <p:nvPr/>
        </p:nvSpPr>
        <p:spPr>
          <a:xfrm>
            <a:off x="838200" y="36508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Receiver Cascade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Where Each Stage Adds Noise</a:t>
            </a: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40"/>
          <p:cNvSpPr/>
          <p:nvPr/>
        </p:nvSpPr>
        <p:spPr>
          <a:xfrm>
            <a:off x="2667000" y="6356351"/>
            <a:ext cx="685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40"/>
          <p:cNvSpPr txBox="1"/>
          <p:nvPr/>
        </p:nvSpPr>
        <p:spPr>
          <a:xfrm>
            <a:off x="11108267" y="6434667"/>
            <a:ext cx="575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40"/>
          <p:cNvSpPr/>
          <p:nvPr/>
        </p:nvSpPr>
        <p:spPr>
          <a:xfrm>
            <a:off x="825500" y="2984500"/>
            <a:ext cx="2603400" cy="13335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40"/>
          <p:cNvSpPr txBox="1"/>
          <p:nvPr/>
        </p:nvSpPr>
        <p:spPr>
          <a:xfrm>
            <a:off x="863600" y="3022600"/>
            <a:ext cx="25272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Signal + kT</a:t>
            </a:r>
            <a:r>
              <a:rPr lang="en" sz="168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per Hz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0"/>
          <p:cNvSpPr/>
          <p:nvPr/>
        </p:nvSpPr>
        <p:spPr>
          <a:xfrm>
            <a:off x="4762500" y="2984500"/>
            <a:ext cx="2857500" cy="13335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0"/>
          <p:cNvSpPr txBox="1"/>
          <p:nvPr/>
        </p:nvSpPr>
        <p:spPr>
          <a:xfrm>
            <a:off x="4800600" y="3022600"/>
            <a:ext cx="27813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LNA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Gain [G</a:t>
            </a:r>
            <a:r>
              <a:rPr lang="en" sz="175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], NF</a:t>
            </a:r>
            <a:r>
              <a:rPr lang="en" sz="175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750" baseline="-250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40"/>
          <p:cNvSpPr/>
          <p:nvPr/>
        </p:nvSpPr>
        <p:spPr>
          <a:xfrm>
            <a:off x="8890000" y="2984500"/>
            <a:ext cx="2603400" cy="13335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40"/>
          <p:cNvSpPr txBox="1"/>
          <p:nvPr/>
        </p:nvSpPr>
        <p:spPr>
          <a:xfrm>
            <a:off x="8928100" y="3022600"/>
            <a:ext cx="25272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Later receiver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Gain [G</a:t>
            </a:r>
            <a:r>
              <a:rPr lang="en" sz="168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], NF</a:t>
            </a:r>
            <a:r>
              <a:rPr lang="en" sz="168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80" baseline="-250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1" name="Google Shape;621;p40"/>
          <p:cNvCxnSpPr/>
          <p:nvPr/>
        </p:nvCxnSpPr>
        <p:spPr>
          <a:xfrm>
            <a:off x="3429000" y="3644900"/>
            <a:ext cx="13335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2" name="Google Shape;622;p40"/>
          <p:cNvCxnSpPr/>
          <p:nvPr/>
        </p:nvCxnSpPr>
        <p:spPr>
          <a:xfrm>
            <a:off x="7620000" y="3644900"/>
            <a:ext cx="12699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23" name="Google Shape;623;p40"/>
          <p:cNvSpPr txBox="1"/>
          <p:nvPr/>
        </p:nvSpPr>
        <p:spPr>
          <a:xfrm>
            <a:off x="825500" y="1968500"/>
            <a:ext cx="104139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Source noise passes through both stages.</a:t>
            </a:r>
            <a:endParaRPr sz="26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Each stage also adds its own noise.</a:t>
            </a:r>
            <a:endParaRPr sz="26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40"/>
          <p:cNvSpPr txBox="1"/>
          <p:nvPr/>
        </p:nvSpPr>
        <p:spPr>
          <a:xfrm>
            <a:off x="825500" y="47625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The LNA boosts the signal before later stages add their noise.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That makes later-stage noise less important relative to the signal.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40"/>
          <p:cNvSpPr txBox="1"/>
          <p:nvPr/>
        </p:nvSpPr>
        <p:spPr>
          <a:xfrm>
            <a:off x="825500" y="5778500"/>
            <a:ext cx="106044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Input referral expresses all added noise at one common reference plane.</a:t>
            </a:r>
            <a:endParaRPr sz="22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1"/>
          <p:cNvSpPr/>
          <p:nvPr/>
        </p:nvSpPr>
        <p:spPr>
          <a:xfrm>
            <a:off x="838200" y="36508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Receiver Cascade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The Model: Friis Noise Equations</a:t>
            </a:r>
            <a:endParaRPr sz="39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41"/>
          <p:cNvSpPr/>
          <p:nvPr/>
        </p:nvSpPr>
        <p:spPr>
          <a:xfrm>
            <a:off x="914400" y="1964267"/>
            <a:ext cx="104139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1. Convert catalog values: F = 10</a:t>
            </a:r>
            <a:r>
              <a:rPr lang="en" sz="1750" baseline="30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NF/10</a:t>
            </a:r>
            <a:r>
              <a:rPr lang="en" sz="2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, G = 10</a:t>
            </a:r>
            <a:r>
              <a:rPr lang="en" sz="1750" baseline="30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[G]/10</a:t>
            </a:r>
            <a:r>
              <a:rPr lang="en" sz="2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5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2. Combine the stages using their linear factors:</a:t>
            </a:r>
            <a:endParaRPr sz="25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" sz="175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r>
              <a:rPr lang="en" sz="2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= F</a:t>
            </a:r>
            <a:r>
              <a:rPr lang="en" sz="175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 sz="2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+ (F</a:t>
            </a:r>
            <a:r>
              <a:rPr lang="en" sz="175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− 1)/G</a:t>
            </a:r>
            <a:r>
              <a:rPr lang="en" sz="175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 sz="2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+ (F</a:t>
            </a:r>
            <a:r>
              <a:rPr lang="en" sz="175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 sz="2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− 1)/(G</a:t>
            </a:r>
            <a:r>
              <a:rPr lang="en" sz="175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 sz="2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en" sz="175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) + …</a:t>
            </a:r>
            <a:endParaRPr sz="25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3. Return to dB: NF</a:t>
            </a:r>
            <a:r>
              <a:rPr lang="en" sz="175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r>
              <a:rPr lang="en" sz="2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= 10 log</a:t>
            </a:r>
            <a:r>
              <a:rPr lang="en" sz="175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" sz="2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" sz="175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r>
              <a:rPr lang="en" sz="2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5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The first stage enters directly. Early gain reduces later terms.</a:t>
            </a:r>
            <a:endParaRPr sz="25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Clr>
                <a:srgbClr val="000000"/>
              </a:buClr>
              <a:buSzPts val="2667"/>
              <a:buFont typeface="Calibri"/>
              <a:buNone/>
            </a:pPr>
            <a:endParaRPr sz="25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41"/>
          <p:cNvSpPr/>
          <p:nvPr/>
        </p:nvSpPr>
        <p:spPr>
          <a:xfrm>
            <a:off x="2667000" y="6356351"/>
            <a:ext cx="685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41"/>
          <p:cNvSpPr txBox="1"/>
          <p:nvPr/>
        </p:nvSpPr>
        <p:spPr>
          <a:xfrm>
            <a:off x="11108267" y="6434667"/>
            <a:ext cx="575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2"/>
          <p:cNvSpPr/>
          <p:nvPr/>
        </p:nvSpPr>
        <p:spPr>
          <a:xfrm>
            <a:off x="838200" y="36508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Receiver Cascade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Question: How Much Early Gain Helps?</a:t>
            </a:r>
            <a:endParaRPr sz="39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42"/>
          <p:cNvSpPr/>
          <p:nvPr/>
        </p:nvSpPr>
        <p:spPr>
          <a:xfrm>
            <a:off x="914400" y="1964267"/>
            <a:ext cx="104139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6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LNA NF = 0.68 dB. Following receiver NF = 6.48 dB.</a:t>
            </a:r>
            <a:endParaRPr sz="26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6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Keep both noise figures fixed as LNA gain changes.</a:t>
            </a:r>
            <a:endParaRPr sz="26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6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Calculate combined NF for LNA gains of 10, 20, and 30 dB.</a:t>
            </a:r>
            <a:endParaRPr sz="26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6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How much improvement does each extra 10 dB provide?</a:t>
            </a:r>
            <a:endParaRPr sz="26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6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What sets the limit as LNA gain becomes very large?</a:t>
            </a:r>
            <a:endParaRPr sz="26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Clr>
                <a:srgbClr val="000000"/>
              </a:buClr>
              <a:buSzPts val="2667"/>
              <a:buFont typeface="Calibri"/>
              <a:buNone/>
            </a:pPr>
            <a:endParaRPr sz="26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42"/>
          <p:cNvSpPr/>
          <p:nvPr/>
        </p:nvSpPr>
        <p:spPr>
          <a:xfrm>
            <a:off x="2667000" y="6356351"/>
            <a:ext cx="685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42"/>
          <p:cNvSpPr txBox="1"/>
          <p:nvPr/>
        </p:nvSpPr>
        <p:spPr>
          <a:xfrm>
            <a:off x="11108267" y="6434667"/>
            <a:ext cx="575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3"/>
          <p:cNvSpPr/>
          <p:nvPr/>
        </p:nvSpPr>
        <p:spPr>
          <a:xfrm>
            <a:off x="838200" y="36508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Receiver Cascade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Worked Answer: 10, 20, and 30 dB Gain</a:t>
            </a:r>
            <a:endParaRPr sz="39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43"/>
          <p:cNvSpPr/>
          <p:nvPr/>
        </p:nvSpPr>
        <p:spPr>
          <a:xfrm>
            <a:off x="914400" y="1964267"/>
            <a:ext cx="104139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" sz="168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= 10</a:t>
            </a:r>
            <a:r>
              <a:rPr lang="en" sz="1680" baseline="30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NF_i/10</a:t>
            </a: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; G</a:t>
            </a:r>
            <a:r>
              <a:rPr lang="en" sz="168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= 10</a:t>
            </a:r>
            <a:r>
              <a:rPr lang="en" sz="1680" baseline="30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[G_1]/10</a:t>
            </a: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; NF</a:t>
            </a:r>
            <a:r>
              <a:rPr lang="en" sz="168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= 10 log</a:t>
            </a:r>
            <a:r>
              <a:rPr lang="en" sz="168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" sz="168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" sz="168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= F</a:t>
            </a:r>
            <a:r>
              <a:rPr lang="en" sz="168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+ (F</a:t>
            </a:r>
            <a:r>
              <a:rPr lang="en" sz="168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− 1)/G</a:t>
            </a:r>
            <a:r>
              <a:rPr lang="en" sz="168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≈ 1.17 + 3.45/G</a:t>
            </a:r>
            <a:r>
              <a:rPr lang="en" sz="168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10 dB: G</a:t>
            </a:r>
            <a:r>
              <a:rPr lang="en" sz="168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= 10; NF</a:t>
            </a:r>
            <a:r>
              <a:rPr lang="en" sz="168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≈ 1.8 dB.</a:t>
            </a:r>
            <a:endParaRPr sz="24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20 dB: G</a:t>
            </a:r>
            <a:r>
              <a:rPr lang="en" sz="168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= 100; NF</a:t>
            </a:r>
            <a:r>
              <a:rPr lang="en" sz="168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≈ 0.80 dB.</a:t>
            </a:r>
            <a:endParaRPr sz="24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30 dB: G</a:t>
            </a:r>
            <a:r>
              <a:rPr lang="en" sz="168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= 1000; NF</a:t>
            </a:r>
            <a:r>
              <a:rPr lang="en" sz="168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≈ 0.69 dB.</a:t>
            </a:r>
            <a:endParaRPr sz="24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The limit is the first LNA’s NF ≈ 0.68 dB.</a:t>
            </a:r>
            <a:endParaRPr sz="24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667"/>
              <a:buFont typeface="Calibri"/>
              <a:buNone/>
            </a:pPr>
            <a:endParaRPr sz="24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43"/>
          <p:cNvSpPr/>
          <p:nvPr/>
        </p:nvSpPr>
        <p:spPr>
          <a:xfrm>
            <a:off x="2667000" y="6356351"/>
            <a:ext cx="685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43"/>
          <p:cNvSpPr txBox="1"/>
          <p:nvPr/>
        </p:nvSpPr>
        <p:spPr>
          <a:xfrm>
            <a:off x="11108267" y="6434667"/>
            <a:ext cx="575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4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Receiver Cascade</a:t>
            </a: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From Component noise figure to the Link Budget</a:t>
            </a: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44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44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44"/>
          <p:cNvSpPr/>
          <p:nvPr/>
        </p:nvSpPr>
        <p:spPr>
          <a:xfrm>
            <a:off x="1968500" y="2603500"/>
            <a:ext cx="3429000" cy="13971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44"/>
          <p:cNvSpPr txBox="1"/>
          <p:nvPr/>
        </p:nvSpPr>
        <p:spPr>
          <a:xfrm>
            <a:off x="2006600" y="2641600"/>
            <a:ext cx="33528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LNA</a:t>
            </a:r>
            <a:endParaRPr sz="27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Gain: 30 dB</a:t>
            </a:r>
            <a:endParaRPr sz="27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NF: 0.68 dB</a:t>
            </a:r>
            <a:endParaRPr sz="27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44"/>
          <p:cNvSpPr/>
          <p:nvPr/>
        </p:nvSpPr>
        <p:spPr>
          <a:xfrm>
            <a:off x="7239000" y="2603500"/>
            <a:ext cx="3555900" cy="13971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4"/>
          <p:cNvSpPr txBox="1"/>
          <p:nvPr/>
        </p:nvSpPr>
        <p:spPr>
          <a:xfrm>
            <a:off x="7277100" y="2641600"/>
            <a:ext cx="34797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Following receiver</a:t>
            </a:r>
            <a:endParaRPr sz="27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NF: 6.48 dB</a:t>
            </a:r>
            <a:endParaRPr sz="27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1" name="Google Shape;661;p44"/>
          <p:cNvCxnSpPr/>
          <p:nvPr/>
        </p:nvCxnSpPr>
        <p:spPr>
          <a:xfrm>
            <a:off x="825500" y="3302000"/>
            <a:ext cx="11430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2" name="Google Shape;662;p44"/>
          <p:cNvCxnSpPr/>
          <p:nvPr/>
        </p:nvCxnSpPr>
        <p:spPr>
          <a:xfrm>
            <a:off x="5397500" y="3302000"/>
            <a:ext cx="18414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3" name="Google Shape;663;p44"/>
          <p:cNvCxnSpPr/>
          <p:nvPr/>
        </p:nvCxnSpPr>
        <p:spPr>
          <a:xfrm>
            <a:off x="10795000" y="3302000"/>
            <a:ext cx="6984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64" name="Google Shape;664;p44"/>
          <p:cNvSpPr txBox="1"/>
          <p:nvPr/>
        </p:nvSpPr>
        <p:spPr>
          <a:xfrm>
            <a:off x="825500" y="4445000"/>
            <a:ext cx="1060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Cascade NF ≈ 0.69 dB.</a:t>
            </a:r>
            <a:endParaRPr sz="27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Convert once for G/T: T</a:t>
            </a:r>
            <a:r>
              <a:rPr lang="en" sz="189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e,rx</a:t>
            </a:r>
            <a:r>
              <a:rPr lang="en" sz="27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= 290(F</a:t>
            </a:r>
            <a:r>
              <a:rPr lang="en" sz="189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r>
              <a:rPr lang="en" sz="27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− 1) ≈ 50 K.</a:t>
            </a:r>
            <a:endParaRPr sz="27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44"/>
          <p:cNvSpPr txBox="1"/>
          <p:nvPr/>
        </p:nvSpPr>
        <p:spPr>
          <a:xfrm>
            <a:off x="825500" y="5778500"/>
            <a:ext cx="106044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NF is the component figure of merit; kelvins combine receiver and antenna noise.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5"/>
          <p:cNvSpPr txBox="1"/>
          <p:nvPr/>
        </p:nvSpPr>
        <p:spPr>
          <a:xfrm>
            <a:off x="838200" y="355600"/>
            <a:ext cx="105156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3359"/>
                </a:solidFill>
                <a:latin typeface="Calibri"/>
                <a:ea typeface="Calibri"/>
                <a:cs typeface="Calibri"/>
                <a:sym typeface="Calibri"/>
              </a:rPr>
              <a:t>Receiver Components</a:t>
            </a:r>
            <a:endParaRPr sz="3600">
              <a:solidFill>
                <a:srgbClr val="1433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3359"/>
                </a:solidFill>
                <a:latin typeface="Calibri"/>
                <a:ea typeface="Calibri"/>
                <a:cs typeface="Calibri"/>
                <a:sym typeface="Calibri"/>
              </a:rPr>
              <a:t>Reading an LNA Datasheet</a:t>
            </a:r>
            <a:endParaRPr sz="3600">
              <a:solidFill>
                <a:srgbClr val="1433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45"/>
          <p:cNvSpPr txBox="1"/>
          <p:nvPr/>
        </p:nvSpPr>
        <p:spPr>
          <a:xfrm>
            <a:off x="2667000" y="6350000"/>
            <a:ext cx="68580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45"/>
          <p:cNvSpPr txBox="1"/>
          <p:nvPr/>
        </p:nvSpPr>
        <p:spPr>
          <a:xfrm>
            <a:off x="11112500" y="6438900"/>
            <a:ext cx="57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3" name="Google Shape;67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5045" y="1485900"/>
            <a:ext cx="3532908" cy="4571998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45"/>
          <p:cNvSpPr txBox="1"/>
          <p:nvPr/>
        </p:nvSpPr>
        <p:spPr>
          <a:xfrm>
            <a:off x="5842000" y="1778000"/>
            <a:ext cx="5588100" cy="38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The catalog gives NF and gain</a:t>
            </a:r>
            <a:endParaRPr sz="24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at specified frequencies and bias.</a:t>
            </a:r>
            <a:endParaRPr sz="24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This PGA-103+ example lists:</a:t>
            </a:r>
            <a:endParaRPr sz="24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NF: 0.6 dB at 1 GHz</a:t>
            </a:r>
            <a:endParaRPr sz="24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NF: 0.9 dB at 2 GHz</a:t>
            </a:r>
            <a:endParaRPr sz="24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Gain: 11 dB at 2 GHz</a:t>
            </a:r>
            <a:endParaRPr sz="24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Also check power, matching,</a:t>
            </a:r>
            <a:endParaRPr sz="24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linearity, and operating band.*</a:t>
            </a:r>
            <a:endParaRPr sz="24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45"/>
          <p:cNvSpPr txBox="1"/>
          <p:nvPr/>
        </p:nvSpPr>
        <p:spPr>
          <a:xfrm>
            <a:off x="825500" y="6032500"/>
            <a:ext cx="10604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* Catalog-reading example, not the 8.4 GHz link LNA. Mini-Circuits PGA-103+ datasheet; image hosted by LCSC.</a:t>
            </a:r>
            <a:endParaRPr sz="12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46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LNA Placement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Question: Where Should the LNA Go?</a:t>
            </a: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46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46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46"/>
          <p:cNvSpPr txBox="1"/>
          <p:nvPr/>
        </p:nvSpPr>
        <p:spPr>
          <a:xfrm>
            <a:off x="825500" y="1689100"/>
            <a:ext cx="10604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Source: 30 K. Cable: 290 K physical. LNA NF: 0.69 dB.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46"/>
          <p:cNvSpPr txBox="1"/>
          <p:nvPr/>
        </p:nvSpPr>
        <p:spPr>
          <a:xfrm>
            <a:off x="825500" y="2514600"/>
            <a:ext cx="8256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27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46"/>
          <p:cNvSpPr/>
          <p:nvPr/>
        </p:nvSpPr>
        <p:spPr>
          <a:xfrm>
            <a:off x="1841500" y="2413000"/>
            <a:ext cx="3619500" cy="8889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46"/>
          <p:cNvSpPr txBox="1"/>
          <p:nvPr/>
        </p:nvSpPr>
        <p:spPr>
          <a:xfrm>
            <a:off x="1879600" y="2451100"/>
            <a:ext cx="35433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Cable: 3.0 dB loss*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7" name="Google Shape;687;p46"/>
          <p:cNvCxnSpPr/>
          <p:nvPr/>
        </p:nvCxnSpPr>
        <p:spPr>
          <a:xfrm>
            <a:off x="5461000" y="2857500"/>
            <a:ext cx="15240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88" name="Google Shape;688;p46"/>
          <p:cNvSpPr/>
          <p:nvPr/>
        </p:nvSpPr>
        <p:spPr>
          <a:xfrm>
            <a:off x="6985000" y="2413000"/>
            <a:ext cx="3810000" cy="8889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46"/>
          <p:cNvSpPr txBox="1"/>
          <p:nvPr/>
        </p:nvSpPr>
        <p:spPr>
          <a:xfrm>
            <a:off x="7023100" y="2451100"/>
            <a:ext cx="37338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LNA: 20 dB gain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46"/>
          <p:cNvSpPr txBox="1"/>
          <p:nvPr/>
        </p:nvSpPr>
        <p:spPr>
          <a:xfrm>
            <a:off x="825500" y="3937000"/>
            <a:ext cx="8256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27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46"/>
          <p:cNvSpPr/>
          <p:nvPr/>
        </p:nvSpPr>
        <p:spPr>
          <a:xfrm>
            <a:off x="1841500" y="3873500"/>
            <a:ext cx="3619500" cy="8889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46"/>
          <p:cNvSpPr txBox="1"/>
          <p:nvPr/>
        </p:nvSpPr>
        <p:spPr>
          <a:xfrm>
            <a:off x="1879600" y="3911600"/>
            <a:ext cx="35433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LNA: 20 dB gain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3" name="Google Shape;693;p46"/>
          <p:cNvCxnSpPr/>
          <p:nvPr/>
        </p:nvCxnSpPr>
        <p:spPr>
          <a:xfrm>
            <a:off x="5461000" y="4318000"/>
            <a:ext cx="15240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4" name="Google Shape;694;p46"/>
          <p:cNvSpPr/>
          <p:nvPr/>
        </p:nvSpPr>
        <p:spPr>
          <a:xfrm>
            <a:off x="6985000" y="3873500"/>
            <a:ext cx="3810000" cy="8889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46"/>
          <p:cNvSpPr txBox="1"/>
          <p:nvPr/>
        </p:nvSpPr>
        <p:spPr>
          <a:xfrm>
            <a:off x="7023100" y="3911600"/>
            <a:ext cx="37338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Cable: 3.0 dB loss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46"/>
          <p:cNvSpPr txBox="1"/>
          <p:nvPr/>
        </p:nvSpPr>
        <p:spPr>
          <a:xfrm>
            <a:off x="1016000" y="5118100"/>
            <a:ext cx="10160100" cy="8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Both give 20 − 3.0 = 17.0 dB signal gain.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Will they give the same output noise?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46"/>
          <p:cNvSpPr txBox="1"/>
          <p:nvPr/>
        </p:nvSpPr>
        <p:spPr>
          <a:xfrm>
            <a:off x="825500" y="6032500"/>
            <a:ext cx="106044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* Cable loss is exactly half power (3.0 dB). A/B identify arrangements on this slide.</a:t>
            </a:r>
            <a:endParaRPr sz="1300">
              <a:solidFill>
                <a:srgbClr val="7A7A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7A7A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47"/>
          <p:cNvSpPr/>
          <p:nvPr/>
        </p:nvSpPr>
        <p:spPr>
          <a:xfrm>
            <a:off x="838200" y="36508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LNA Placement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Worked Answer: Both Component Orders</a:t>
            </a: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47"/>
          <p:cNvSpPr/>
          <p:nvPr/>
        </p:nvSpPr>
        <p:spPr>
          <a:xfrm>
            <a:off x="2667000" y="6356351"/>
            <a:ext cx="685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47"/>
          <p:cNvSpPr txBox="1"/>
          <p:nvPr/>
        </p:nvSpPr>
        <p:spPr>
          <a:xfrm>
            <a:off x="11108267" y="6434667"/>
            <a:ext cx="575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47"/>
          <p:cNvSpPr txBox="1"/>
          <p:nvPr/>
        </p:nvSpPr>
        <p:spPr>
          <a:xfrm>
            <a:off x="825500" y="1689100"/>
            <a:ext cx="10604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Friis: F</a:t>
            </a:r>
            <a:r>
              <a:rPr lang="en" sz="147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r>
              <a:rPr lang="en" sz="21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= F</a:t>
            </a:r>
            <a:r>
              <a:rPr lang="en" sz="147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 sz="21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+ (F</a:t>
            </a:r>
            <a:r>
              <a:rPr lang="en" sz="147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1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− 1)/G</a:t>
            </a:r>
            <a:r>
              <a:rPr lang="en" sz="147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 sz="21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; NF</a:t>
            </a:r>
            <a:r>
              <a:rPr lang="en" sz="147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r>
              <a:rPr lang="en" sz="21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= 10 log</a:t>
            </a:r>
            <a:r>
              <a:rPr lang="en" sz="147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" sz="21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" sz="147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r>
              <a:rPr lang="en" sz="21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1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47"/>
          <p:cNvSpPr txBox="1"/>
          <p:nvPr/>
        </p:nvSpPr>
        <p:spPr>
          <a:xfrm>
            <a:off x="825500" y="2514600"/>
            <a:ext cx="8256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27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47"/>
          <p:cNvSpPr/>
          <p:nvPr/>
        </p:nvSpPr>
        <p:spPr>
          <a:xfrm>
            <a:off x="1841500" y="2413000"/>
            <a:ext cx="3619500" cy="8889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47"/>
          <p:cNvSpPr txBox="1"/>
          <p:nvPr/>
        </p:nvSpPr>
        <p:spPr>
          <a:xfrm>
            <a:off x="1879600" y="2451100"/>
            <a:ext cx="35433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Cable: 3.0 dB loss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9" name="Google Shape;709;p47"/>
          <p:cNvCxnSpPr/>
          <p:nvPr/>
        </p:nvCxnSpPr>
        <p:spPr>
          <a:xfrm>
            <a:off x="5461000" y="2857500"/>
            <a:ext cx="15240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10" name="Google Shape;710;p47"/>
          <p:cNvSpPr/>
          <p:nvPr/>
        </p:nvSpPr>
        <p:spPr>
          <a:xfrm>
            <a:off x="6985000" y="2413000"/>
            <a:ext cx="3810000" cy="8889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47"/>
          <p:cNvSpPr txBox="1"/>
          <p:nvPr/>
        </p:nvSpPr>
        <p:spPr>
          <a:xfrm>
            <a:off x="7023100" y="2451100"/>
            <a:ext cx="37338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LNA: 20 dB gain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47"/>
          <p:cNvSpPr txBox="1"/>
          <p:nvPr/>
        </p:nvSpPr>
        <p:spPr>
          <a:xfrm>
            <a:off x="825500" y="3937000"/>
            <a:ext cx="8256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27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47"/>
          <p:cNvSpPr/>
          <p:nvPr/>
        </p:nvSpPr>
        <p:spPr>
          <a:xfrm>
            <a:off x="1841500" y="3873500"/>
            <a:ext cx="3619500" cy="8889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47"/>
          <p:cNvSpPr txBox="1"/>
          <p:nvPr/>
        </p:nvSpPr>
        <p:spPr>
          <a:xfrm>
            <a:off x="1879600" y="3911600"/>
            <a:ext cx="35433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LNA: 20 dB gain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5" name="Google Shape;715;p47"/>
          <p:cNvCxnSpPr/>
          <p:nvPr/>
        </p:nvCxnSpPr>
        <p:spPr>
          <a:xfrm>
            <a:off x="5461000" y="4318000"/>
            <a:ext cx="15240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16" name="Google Shape;716;p47"/>
          <p:cNvSpPr/>
          <p:nvPr/>
        </p:nvSpPr>
        <p:spPr>
          <a:xfrm>
            <a:off x="6985000" y="3873500"/>
            <a:ext cx="3810000" cy="8889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47"/>
          <p:cNvSpPr txBox="1"/>
          <p:nvPr/>
        </p:nvSpPr>
        <p:spPr>
          <a:xfrm>
            <a:off x="7023100" y="3911600"/>
            <a:ext cx="37338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Cable: 3.0 dB loss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47"/>
          <p:cNvSpPr txBox="1"/>
          <p:nvPr/>
        </p:nvSpPr>
        <p:spPr>
          <a:xfrm>
            <a:off x="1841500" y="3327400"/>
            <a:ext cx="8953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Cable first: F</a:t>
            </a:r>
            <a:r>
              <a:rPr lang="en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r>
              <a:rPr lang="en" sz="2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= 2 + (F</a:t>
            </a:r>
            <a:r>
              <a:rPr lang="en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LNA</a:t>
            </a:r>
            <a:r>
              <a:rPr lang="en" sz="2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− 1)/0.5; NF</a:t>
            </a:r>
            <a:r>
              <a:rPr lang="en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r>
              <a:rPr lang="en" sz="2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≈ 3.7 dB.</a:t>
            </a:r>
            <a:endParaRPr sz="20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47"/>
          <p:cNvSpPr txBox="1"/>
          <p:nvPr/>
        </p:nvSpPr>
        <p:spPr>
          <a:xfrm>
            <a:off x="1841500" y="4787900"/>
            <a:ext cx="8953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LNA first: F</a:t>
            </a:r>
            <a:r>
              <a:rPr lang="en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r>
              <a:rPr lang="en" sz="2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= F</a:t>
            </a:r>
            <a:r>
              <a:rPr lang="en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LNA</a:t>
            </a:r>
            <a:r>
              <a:rPr lang="en" sz="2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+ (2 − 1)/100; NF</a:t>
            </a:r>
            <a:r>
              <a:rPr lang="en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r>
              <a:rPr lang="en" sz="2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≈ 0.73 dB.</a:t>
            </a:r>
            <a:endParaRPr sz="20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47"/>
          <p:cNvSpPr txBox="1"/>
          <p:nvPr/>
        </p:nvSpPr>
        <p:spPr>
          <a:xfrm>
            <a:off x="825500" y="5410200"/>
            <a:ext cx="106044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Combined receiver NF: 3.7 dB with cable first; 0.73 dB with LNA first.</a:t>
            </a:r>
            <a:endParaRPr sz="20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NF improvement ≈ 3.0 dB, using the 290 K reference source.*</a:t>
            </a:r>
            <a:endParaRPr sz="20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47"/>
          <p:cNvSpPr txBox="1"/>
          <p:nvPr/>
        </p:nvSpPr>
        <p:spPr>
          <a:xfrm>
            <a:off x="825500" y="6045200"/>
            <a:ext cx="10604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* Matched 290 K cable: F = 2, G = 0.5. LNA: F ≈ 1.17, G = 100.</a:t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8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LNA Placement</a:t>
            </a: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Why Our Link Improves by 7.0 dB</a:t>
            </a: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48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48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48"/>
          <p:cNvSpPr txBox="1"/>
          <p:nvPr/>
        </p:nvSpPr>
        <p:spPr>
          <a:xfrm>
            <a:off x="825500" y="1841500"/>
            <a:ext cx="10604400" cy="4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61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e,total</a:t>
            </a: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= 290(F</a:t>
            </a:r>
            <a:r>
              <a:rPr lang="en" sz="161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− 1); T</a:t>
            </a:r>
            <a:r>
              <a:rPr lang="en" sz="161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sys</a:t>
            </a: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= T</a:t>
            </a:r>
            <a:r>
              <a:rPr lang="en" sz="161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+ T</a:t>
            </a:r>
            <a:r>
              <a:rPr lang="en" sz="161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e,total</a:t>
            </a: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Cable first adds 390 K. LNA first adds 52.9 K.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NF compares both arrangements with a 290 K reference source: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10 log</a:t>
            </a:r>
            <a:r>
              <a:rPr lang="en" sz="161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[(290 + 390)/(290 + 52.9)] ≈ 3.0 dB.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Our antenna has only 30 K, so the actual [S/N</a:t>
            </a:r>
            <a:r>
              <a:rPr lang="en" sz="161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] improves by: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10 log</a:t>
            </a:r>
            <a:r>
              <a:rPr lang="en" sz="161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[(30 + 390)/(30 + 52.9)] ≈ 7.0 dB.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48"/>
          <p:cNvSpPr txBox="1"/>
          <p:nvPr/>
        </p:nvSpPr>
        <p:spPr>
          <a:xfrm>
            <a:off x="914400" y="6032500"/>
            <a:ext cx="10413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* Same signal gain in both arrangements. A quieter antenna makes receiver-added noise more important.</a:t>
            </a:r>
            <a:endParaRPr sz="13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9"/>
          <p:cNvSpPr/>
          <p:nvPr/>
        </p:nvSpPr>
        <p:spPr>
          <a:xfrm>
            <a:off x="838200" y="36508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LNA Placement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What It Means for Receiver Layout</a:t>
            </a: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49"/>
          <p:cNvSpPr/>
          <p:nvPr/>
        </p:nvSpPr>
        <p:spPr>
          <a:xfrm>
            <a:off x="2667000" y="6356351"/>
            <a:ext cx="685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49"/>
          <p:cNvSpPr txBox="1"/>
          <p:nvPr/>
        </p:nvSpPr>
        <p:spPr>
          <a:xfrm>
            <a:off x="11108267" y="6434667"/>
            <a:ext cx="575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49"/>
          <p:cNvSpPr/>
          <p:nvPr/>
        </p:nvSpPr>
        <p:spPr>
          <a:xfrm>
            <a:off x="825500" y="2857500"/>
            <a:ext cx="2159100" cy="12699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49"/>
          <p:cNvSpPr txBox="1"/>
          <p:nvPr/>
        </p:nvSpPr>
        <p:spPr>
          <a:xfrm>
            <a:off x="863600" y="2895600"/>
            <a:ext cx="2082900" cy="11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Antenna</a:t>
            </a:r>
            <a:endParaRPr sz="27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feed</a:t>
            </a:r>
            <a:endParaRPr sz="27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49"/>
          <p:cNvSpPr/>
          <p:nvPr/>
        </p:nvSpPr>
        <p:spPr>
          <a:xfrm>
            <a:off x="4381500" y="2857500"/>
            <a:ext cx="2412900" cy="12699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49"/>
          <p:cNvSpPr txBox="1"/>
          <p:nvPr/>
        </p:nvSpPr>
        <p:spPr>
          <a:xfrm>
            <a:off x="4419600" y="2895600"/>
            <a:ext cx="2336700" cy="11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Low-noise</a:t>
            </a:r>
            <a:endParaRPr sz="27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amplifier</a:t>
            </a:r>
            <a:endParaRPr sz="27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49"/>
          <p:cNvSpPr/>
          <p:nvPr/>
        </p:nvSpPr>
        <p:spPr>
          <a:xfrm>
            <a:off x="8382000" y="2857500"/>
            <a:ext cx="2984400" cy="12699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49"/>
          <p:cNvSpPr txBox="1"/>
          <p:nvPr/>
        </p:nvSpPr>
        <p:spPr>
          <a:xfrm>
            <a:off x="8420100" y="2895600"/>
            <a:ext cx="2908200" cy="11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Long cable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and later receiver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4" name="Google Shape;744;p49"/>
          <p:cNvCxnSpPr/>
          <p:nvPr/>
        </p:nvCxnSpPr>
        <p:spPr>
          <a:xfrm>
            <a:off x="2984500" y="3492500"/>
            <a:ext cx="13971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5" name="Google Shape;745;p49"/>
          <p:cNvCxnSpPr/>
          <p:nvPr/>
        </p:nvCxnSpPr>
        <p:spPr>
          <a:xfrm>
            <a:off x="6794500" y="3492500"/>
            <a:ext cx="15876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46" name="Google Shape;746;p49"/>
          <p:cNvSpPr txBox="1"/>
          <p:nvPr/>
        </p:nvSpPr>
        <p:spPr>
          <a:xfrm>
            <a:off x="2286000" y="1968500"/>
            <a:ext cx="3174900" cy="8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Shortest practical</a:t>
            </a:r>
            <a:endParaRPr sz="23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low-loss connection</a:t>
            </a:r>
            <a:endParaRPr sz="23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49"/>
          <p:cNvSpPr txBox="1"/>
          <p:nvPr/>
        </p:nvSpPr>
        <p:spPr>
          <a:xfrm>
            <a:off x="889000" y="4635500"/>
            <a:ext cx="10413900" cy="11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Low LNA noise figure sets a low receiver-noise floor.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Enough early gain reduces later input-referred noise.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Check overload, stability, bandwidth, and input filtering.*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49"/>
          <p:cNvSpPr txBox="1"/>
          <p:nvPr/>
        </p:nvSpPr>
        <p:spPr>
          <a:xfrm>
            <a:off x="825500" y="6032500"/>
            <a:ext cx="106044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* Design guidance: JPL DESCANSO, Vol. 10, Ch. 2; Analog Devices AN-2622.</a:t>
            </a:r>
            <a:endParaRPr sz="1300">
              <a:solidFill>
                <a:srgbClr val="7A7A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7A7A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50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i="0" u="none" strike="noStrike" cap="non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Why DSN Uses Cryogenic LNAs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50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50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6" name="Google Shape;756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9733" y="1978377"/>
            <a:ext cx="4961472" cy="3307648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50"/>
          <p:cNvSpPr txBox="1"/>
          <p:nvPr/>
        </p:nvSpPr>
        <p:spPr>
          <a:xfrm>
            <a:off x="6163733" y="1879600"/>
            <a:ext cx="5368000" cy="5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Low-Noise Amplifier (LNA)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50"/>
          <p:cNvSpPr txBox="1"/>
          <p:nvPr/>
        </p:nvSpPr>
        <p:spPr>
          <a:xfrm>
            <a:off x="6163733" y="2540000"/>
            <a:ext cx="5283200" cy="9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alibri"/>
                <a:ea typeface="Calibri"/>
                <a:cs typeface="Calibri"/>
                <a:sym typeface="Calibri"/>
              </a:rPr>
              <a:t>A refrigerator cools the LNA.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alibri"/>
                <a:ea typeface="Calibri"/>
                <a:cs typeface="Calibri"/>
                <a:sym typeface="Calibri"/>
              </a:rPr>
              <a:t>Physical cooling can lower its NF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alibri"/>
                <a:ea typeface="Calibri"/>
                <a:cs typeface="Calibri"/>
                <a:sym typeface="Calibri"/>
              </a:rPr>
              <a:t>and receiver-added noise.*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50"/>
          <p:cNvSpPr txBox="1"/>
          <p:nvPr/>
        </p:nvSpPr>
        <p:spPr>
          <a:xfrm>
            <a:off x="6163733" y="3674533"/>
            <a:ext cx="54356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Physical Cooling, Lower Noise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50"/>
          <p:cNvSpPr txBox="1"/>
          <p:nvPr/>
        </p:nvSpPr>
        <p:spPr>
          <a:xfrm>
            <a:off x="6163733" y="4351867"/>
            <a:ext cx="5469600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alibri"/>
                <a:ea typeface="Calibri"/>
                <a:cs typeface="Calibri"/>
                <a:sym typeface="Calibri"/>
              </a:rPr>
              <a:t>A lower LNA NF reduces the receiver contribution.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alibri"/>
                <a:ea typeface="Calibri"/>
                <a:cs typeface="Calibri"/>
                <a:sym typeface="Calibri"/>
              </a:rPr>
              <a:t>The remaining antenna and feed noise limit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alibri"/>
                <a:ea typeface="Calibri"/>
                <a:cs typeface="Calibri"/>
                <a:sym typeface="Calibri"/>
              </a:rPr>
              <a:t>the improvement in total system sensitivity.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50"/>
          <p:cNvSpPr txBox="1"/>
          <p:nvPr/>
        </p:nvSpPr>
        <p:spPr>
          <a:xfrm>
            <a:off x="812800" y="6032500"/>
            <a:ext cx="107019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* Cryogenic LNA sources: JPL DESCANSO Ch. 5; S10. DSN photo: NASA/JPL-Caltech, PIA17791.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51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933"/>
              </a:spcAft>
              <a:buNone/>
            </a:pPr>
            <a:r>
              <a:rPr lang="en" sz="3900" i="0" u="none" strike="noStrike" cap="non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Receiving Sensitivity: G/T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51"/>
          <p:cNvSpPr/>
          <p:nvPr/>
        </p:nvSpPr>
        <p:spPr>
          <a:xfrm>
            <a:off x="914400" y="1964267"/>
            <a:ext cx="104140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G/T is the receiving system’s figure of merit.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Combine receive antenna gain with total system noise.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[T</a:t>
            </a:r>
            <a:r>
              <a:rPr lang="en" sz="1820" baseline="-25000">
                <a:latin typeface="Calibri"/>
                <a:ea typeface="Calibri"/>
                <a:cs typeface="Calibri"/>
                <a:sym typeface="Calibri"/>
              </a:rPr>
              <a:t>sys</a:t>
            </a: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] = 10 log</a:t>
            </a:r>
            <a:r>
              <a:rPr lang="en" sz="1820" baseline="-25000"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(T</a:t>
            </a:r>
            <a:r>
              <a:rPr lang="en" sz="1820" baseline="-25000">
                <a:latin typeface="Calibri"/>
                <a:ea typeface="Calibri"/>
                <a:cs typeface="Calibri"/>
                <a:sym typeface="Calibri"/>
              </a:rPr>
              <a:t>sys</a:t>
            </a: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/K), in dB-K.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[G/T] = [G</a:t>
            </a:r>
            <a:r>
              <a:rPr lang="en" sz="1820" baseline="-25000"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] − [T</a:t>
            </a:r>
            <a:r>
              <a:rPr lang="en" sz="1820" baseline="-25000">
                <a:latin typeface="Calibri"/>
                <a:ea typeface="Calibri"/>
                <a:cs typeface="Calibri"/>
                <a:sym typeface="Calibri"/>
              </a:rPr>
              <a:t>sys</a:t>
            </a: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], in dB/K.*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A 1.0 dB gain in [G/T] adds 1.0 dB to [S/N</a:t>
            </a:r>
            <a:r>
              <a:rPr lang="en" sz="1820" baseline="-25000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].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None/>
            </a:pP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51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51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51"/>
          <p:cNvSpPr txBox="1"/>
          <p:nvPr/>
        </p:nvSpPr>
        <p:spPr>
          <a:xfrm>
            <a:off x="914400" y="6032500"/>
            <a:ext cx="10413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* Use antenna-system gain and total noise at the same plane. Hold other link terms fixed.</a:t>
            </a:r>
            <a:endParaRPr sz="13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52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Lunar Link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Worked Example: Cryogenic Cooling</a:t>
            </a:r>
            <a:endParaRPr sz="39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52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52"/>
          <p:cNvSpPr/>
          <p:nvPr/>
        </p:nvSpPr>
        <p:spPr>
          <a:xfrm>
            <a:off x="914400" y="1964267"/>
            <a:ext cx="104140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Receiver NF: 0.69 to 0.15 dB.*  T</a:t>
            </a:r>
            <a:r>
              <a:rPr lang="en" sz="1680" baseline="-25000"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 = 290(10</a:t>
            </a:r>
            <a:r>
              <a:rPr lang="en" sz="1680" baseline="30000">
                <a:latin typeface="Calibri"/>
                <a:ea typeface="Calibri"/>
                <a:cs typeface="Calibri"/>
                <a:sym typeface="Calibri"/>
              </a:rPr>
              <a:t>NF/10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 − 1).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680" baseline="-25000">
                <a:latin typeface="Calibri"/>
                <a:ea typeface="Calibri"/>
                <a:cs typeface="Calibri"/>
                <a:sym typeface="Calibri"/>
              </a:rPr>
              <a:t>e,rx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: about 50 K to 10 K.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680" baseline="-25000">
                <a:latin typeface="Calibri"/>
                <a:ea typeface="Calibri"/>
                <a:cs typeface="Calibri"/>
                <a:sym typeface="Calibri"/>
              </a:rPr>
              <a:t>sys,A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 = T</a:t>
            </a:r>
            <a:r>
              <a:rPr lang="en" sz="1680" baseline="-25000"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 + (L</a:t>
            </a:r>
            <a:r>
              <a:rPr lang="en" sz="1680" baseline="-25000"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 − 1)T</a:t>
            </a:r>
            <a:r>
              <a:rPr lang="en" sz="1680" baseline="-25000">
                <a:latin typeface="Calibri"/>
                <a:ea typeface="Calibri"/>
                <a:cs typeface="Calibri"/>
                <a:sym typeface="Calibri"/>
              </a:rPr>
              <a:t>phys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 + L</a:t>
            </a:r>
            <a:r>
              <a:rPr lang="en" sz="1680" baseline="-25000"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680" baseline="-25000">
                <a:latin typeface="Calibri"/>
                <a:ea typeface="Calibri"/>
                <a:cs typeface="Calibri"/>
                <a:sym typeface="Calibri"/>
              </a:rPr>
              <a:t>e,rx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168.0 K (22.3 dB-K) becomes 117.7 K (20.7 dB-K).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Δ[G/T] = Δ[S/N</a:t>
            </a:r>
            <a:r>
              <a:rPr lang="en" sz="1680" baseline="-25000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] = 10 log</a:t>
            </a:r>
            <a:r>
              <a:rPr lang="en" sz="1680" baseline="-25000"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(168.0/117.7) ≈ 1.5 dB.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52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52"/>
          <p:cNvSpPr txBox="1"/>
          <p:nvPr/>
        </p:nvSpPr>
        <p:spPr>
          <a:xfrm>
            <a:off x="914400" y="6032500"/>
            <a:ext cx="10413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* Illustrative receiver specifications. Equivalent noise temperature differs from hardware temperature.</a:t>
            </a:r>
            <a:endParaRPr sz="13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53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Improving Sensitivity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Question: Which Change Helps?</a:t>
            </a:r>
            <a:endParaRPr sz="39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53"/>
          <p:cNvSpPr/>
          <p:nvPr/>
        </p:nvSpPr>
        <p:spPr>
          <a:xfrm>
            <a:off x="914400" y="1964267"/>
            <a:ext cx="104140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667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A. Increase receive antenna gain by 3 dB; hold T</a:t>
            </a:r>
            <a:r>
              <a:rPr lang="en" sz="1733" i="0" u="none" strike="noStrike" cap="none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sys</a:t>
            </a:r>
            <a:r>
              <a:rPr lang="en" sz="2667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fixed.</a:t>
            </a:r>
            <a:endParaRPr sz="2667" i="0" u="none" strike="noStrike" cap="none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667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B. Halve total system noise temperature; hold gain fixed.</a:t>
            </a:r>
            <a:endParaRPr sz="2667" i="0" u="none" strike="noStrike" cap="none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667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C. Add 20 dB of ideal gain after the receiver.</a:t>
            </a:r>
            <a:endParaRPr sz="2667" i="0" u="none" strike="noStrike" cap="none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667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Which changes G/T and S/N</a:t>
            </a:r>
            <a:r>
              <a:rPr lang="en" sz="1733" i="0" u="none" strike="noStrike" cap="none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667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? Which changes only output levels?</a:t>
            </a:r>
            <a:endParaRPr sz="2667" i="0" u="none" strike="noStrike" cap="none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53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53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54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Improving Sensitivity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Worked Answer: Gain versus Noise</a:t>
            </a:r>
            <a:endParaRPr sz="39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54"/>
          <p:cNvSpPr/>
          <p:nvPr/>
        </p:nvSpPr>
        <p:spPr>
          <a:xfrm>
            <a:off x="914400" y="1964267"/>
            <a:ext cx="104140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A. Adding 3 dB of antenna gain raises [G/T] and [S/N</a:t>
            </a:r>
            <a:r>
              <a:rPr lang="en" sz="175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] by 3 dB.</a:t>
            </a:r>
            <a:endParaRPr sz="25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B. Halving T</a:t>
            </a:r>
            <a:r>
              <a:rPr lang="en" sz="175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sys</a:t>
            </a:r>
            <a:r>
              <a:rPr lang="en" sz="2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raises [G/T] and [S/N</a:t>
            </a:r>
            <a:r>
              <a:rPr lang="en" sz="175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] by 3.0 dB.</a:t>
            </a:r>
            <a:endParaRPr sz="25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C. Ideal final gain raises signal and noise equally. The ratio is unchanged.</a:t>
            </a:r>
            <a:endParaRPr sz="25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Sensitivity improves when more signal is collected or less noise is added.</a:t>
            </a:r>
            <a:endParaRPr sz="25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Clr>
                <a:srgbClr val="000000"/>
              </a:buClr>
              <a:buSzPts val="2667"/>
              <a:buFont typeface="Calibri"/>
              <a:buNone/>
            </a:pPr>
            <a:endParaRPr sz="25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54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54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55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Lunar Link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Example Inputs and Assumptions</a:t>
            </a:r>
            <a:endParaRPr sz="39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55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55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3" name="Google Shape;803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667" y="1794933"/>
            <a:ext cx="2675467" cy="2675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35333" y="1797756"/>
            <a:ext cx="3979328" cy="2652885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55"/>
          <p:cNvSpPr txBox="1"/>
          <p:nvPr/>
        </p:nvSpPr>
        <p:spPr>
          <a:xfrm>
            <a:off x="3776133" y="2235200"/>
            <a:ext cx="3471200" cy="5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Font typeface="Calibri"/>
              <a:buNone/>
            </a:pPr>
            <a:r>
              <a:rPr lang="en" sz="3333" i="0" u="none" strike="noStrike" cap="none">
                <a:solidFill>
                  <a:srgbClr val="205580"/>
                </a:solidFill>
                <a:latin typeface="Calibri"/>
                <a:ea typeface="Calibri"/>
                <a:cs typeface="Calibri"/>
                <a:sym typeface="Calibri"/>
              </a:rPr>
              <a:t>384,400 km</a:t>
            </a:r>
            <a:endParaRPr sz="3333" i="0" u="none" strike="noStrike" cap="none">
              <a:solidFill>
                <a:srgbClr val="2055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55"/>
          <p:cNvSpPr txBox="1"/>
          <p:nvPr/>
        </p:nvSpPr>
        <p:spPr>
          <a:xfrm>
            <a:off x="3708400" y="2946400"/>
            <a:ext cx="37760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Calibri"/>
              <a:buNone/>
            </a:pPr>
            <a:r>
              <a:rPr lang="en" sz="2933" i="0" u="none" strike="noStrike" cap="none">
                <a:solidFill>
                  <a:srgbClr val="205580"/>
                </a:solidFill>
                <a:latin typeface="Calibri"/>
                <a:ea typeface="Calibri"/>
                <a:cs typeface="Calibri"/>
                <a:sym typeface="Calibri"/>
              </a:rPr>
              <a:t>Spacecraft → Earth</a:t>
            </a:r>
            <a:endParaRPr sz="2933" i="0" u="none" strike="noStrike" cap="none">
              <a:solidFill>
                <a:srgbClr val="2055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55"/>
          <p:cNvSpPr txBox="1"/>
          <p:nvPr/>
        </p:nvSpPr>
        <p:spPr>
          <a:xfrm>
            <a:off x="3691467" y="3572933"/>
            <a:ext cx="38100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" sz="2800" i="0" u="none" strike="noStrike" cap="none">
                <a:solidFill>
                  <a:srgbClr val="205580"/>
                </a:solidFill>
                <a:latin typeface="Calibri"/>
                <a:ea typeface="Calibri"/>
                <a:cs typeface="Calibri"/>
                <a:sym typeface="Calibri"/>
              </a:rPr>
              <a:t>8.4 GHz return link</a:t>
            </a:r>
            <a:endParaRPr sz="2800" i="0" u="none" strike="noStrike" cap="none">
              <a:solidFill>
                <a:srgbClr val="2055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55"/>
          <p:cNvSpPr txBox="1"/>
          <p:nvPr/>
        </p:nvSpPr>
        <p:spPr>
          <a:xfrm>
            <a:off x="829733" y="4402667"/>
            <a:ext cx="42672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" sz="2400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1 W transmitter</a:t>
            </a:r>
            <a:endParaRPr sz="2400" i="0" u="none" strike="noStrike" cap="none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0.3</a:t>
            </a:r>
            <a:r>
              <a:rPr lang="en" sz="2400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m TX dish</a:t>
            </a:r>
            <a:endParaRPr sz="2400" i="0" u="none" strike="noStrike" cap="none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55"/>
          <p:cNvSpPr txBox="1"/>
          <p:nvPr/>
        </p:nvSpPr>
        <p:spPr>
          <a:xfrm>
            <a:off x="7112000" y="4402667"/>
            <a:ext cx="46904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" sz="2400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34 m receive dish</a:t>
            </a:r>
            <a:endParaRPr sz="2400" i="0" u="none" strike="noStrike" cap="none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" sz="2400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Aperture efficiency 0.55</a:t>
            </a:r>
            <a:endParaRPr sz="2400" i="0" u="none" strike="noStrike" cap="none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55"/>
          <p:cNvSpPr txBox="1"/>
          <p:nvPr/>
        </p:nvSpPr>
        <p:spPr>
          <a:xfrm>
            <a:off x="812800" y="6032500"/>
            <a:ext cx="107019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* Illustrative link assumptions. Images: NASA SVS / LRO; NASA/JPL-Caltech, PIA17791.</a:t>
            </a:r>
            <a:endParaRPr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55"/>
          <p:cNvSpPr txBox="1"/>
          <p:nvPr/>
        </p:nvSpPr>
        <p:spPr>
          <a:xfrm>
            <a:off x="829733" y="5198533"/>
            <a:ext cx="107020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Calibri"/>
              <a:buNone/>
            </a:pPr>
            <a:r>
              <a:rPr lang="en" sz="23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TX line: 0.60 dB. T</a:t>
            </a:r>
            <a:r>
              <a:rPr lang="en" sz="161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23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= 30 K. Feed: 1 dB at 290 K.</a:t>
            </a:r>
            <a:endParaRPr sz="23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Calibri"/>
              <a:buNone/>
            </a:pPr>
            <a:r>
              <a:rPr lang="en" sz="23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Receiver NF = 0.69 dB (T</a:t>
            </a:r>
            <a:r>
              <a:rPr lang="en" sz="161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e,rx</a:t>
            </a:r>
            <a:r>
              <a:rPr lang="en" sz="23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≈ 50 K). Off the lunar disk.*</a:t>
            </a:r>
            <a:endParaRPr sz="23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56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Lunar Link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The Tools: Antenna Gain and Path Loss</a:t>
            </a:r>
            <a:endParaRPr sz="39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56"/>
          <p:cNvSpPr/>
          <p:nvPr/>
        </p:nvSpPr>
        <p:spPr>
          <a:xfrm>
            <a:off x="914400" y="1964267"/>
            <a:ext cx="104140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67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G = η(πDf/c)</a:t>
            </a:r>
            <a:r>
              <a:rPr lang="en" sz="1733" i="0" u="none" strike="noStrike" cap="none" baseline="30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None/>
            </a:pPr>
            <a:r>
              <a:rPr lang="en" sz="2667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For η = 0.55: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None/>
            </a:pPr>
            <a:r>
              <a:rPr lang="en" sz="2667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[G] = 17.8 + 20 log</a:t>
            </a:r>
            <a:r>
              <a:rPr lang="en" sz="1733" i="0" u="none" strike="noStrike" cap="none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" sz="2667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(D/m) + 20 log</a:t>
            </a:r>
            <a:r>
              <a:rPr lang="en" sz="1733" i="0" u="none" strike="noStrike" cap="none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" sz="2667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(f/GHz)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None/>
            </a:pPr>
            <a:r>
              <a:rPr lang="en" sz="2667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[L</a:t>
            </a:r>
            <a:r>
              <a:rPr lang="en" sz="1733" i="0" u="none" strike="noStrike" cap="none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" sz="2667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] = 92.4 + 20 log</a:t>
            </a:r>
            <a:r>
              <a:rPr lang="en" sz="1733" i="0" u="none" strike="noStrike" cap="none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" sz="2667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(R/km) + 20 log</a:t>
            </a:r>
            <a:r>
              <a:rPr lang="en" sz="1733" i="0" u="none" strike="noStrike" cap="none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" sz="2667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(f/GHz)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33"/>
              </a:spcBef>
              <a:spcAft>
                <a:spcPts val="933"/>
              </a:spcAft>
              <a:buNone/>
            </a:pPr>
            <a:r>
              <a:rPr lang="en" sz="2667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Use diameter in meters and range in kilometers.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56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56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7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Lunar Link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Question: Build the Signal Budget</a:t>
            </a:r>
            <a:endParaRPr sz="39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57"/>
          <p:cNvSpPr/>
          <p:nvPr/>
        </p:nvSpPr>
        <p:spPr>
          <a:xfrm>
            <a:off x="914400" y="1964267"/>
            <a:ext cx="104140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6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Let’s calculate [G</a:t>
            </a:r>
            <a:r>
              <a:rPr lang="en" sz="169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tx</a:t>
            </a:r>
            <a:r>
              <a:rPr lang="en" sz="26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], [G</a:t>
            </a:r>
            <a:r>
              <a:rPr lang="en" sz="169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" sz="26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], and [L</a:t>
            </a:r>
            <a:r>
              <a:rPr lang="en" sz="169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" sz="26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].</a:t>
            </a:r>
            <a:endParaRPr sz="26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6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Other losses: 0.1 dB atmosphere + 0.8 dB pointing</a:t>
            </a:r>
            <a:endParaRPr sz="26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6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+ 0.5 dB polarization = 1.4 dB.</a:t>
            </a:r>
            <a:endParaRPr sz="26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6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Where do the 0.6 dB TX loss and 1 dB receive-feed loss go?</a:t>
            </a:r>
            <a:endParaRPr sz="26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6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At terminal A, has the signal passed through the receive feed?</a:t>
            </a:r>
            <a:endParaRPr sz="26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57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57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58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Lunar Link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Worked Answer: Signal Power at A</a:t>
            </a:r>
            <a:endParaRPr sz="39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58"/>
          <p:cNvSpPr/>
          <p:nvPr/>
        </p:nvSpPr>
        <p:spPr>
          <a:xfrm>
            <a:off x="677333" y="2065867"/>
            <a:ext cx="7654000" cy="5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7"/>
              <a:buFont typeface="Calibri"/>
              <a:buNone/>
            </a:pPr>
            <a:r>
              <a:rPr lang="en" sz="2267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Transmitter power</a:t>
            </a:r>
            <a:endParaRPr sz="2267" i="0" u="none" strike="noStrike" cap="none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58"/>
          <p:cNvSpPr/>
          <p:nvPr/>
        </p:nvSpPr>
        <p:spPr>
          <a:xfrm>
            <a:off x="8365067" y="2065867"/>
            <a:ext cx="3149600" cy="5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" sz="2400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+0.0 dBW</a:t>
            </a:r>
            <a:endParaRPr sz="2400" i="0" u="none" strike="noStrike" cap="none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58"/>
          <p:cNvSpPr/>
          <p:nvPr/>
        </p:nvSpPr>
        <p:spPr>
          <a:xfrm>
            <a:off x="677333" y="2624667"/>
            <a:ext cx="7654000" cy="54200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7"/>
              <a:buFont typeface="Calibri"/>
              <a:buNone/>
            </a:pPr>
            <a:r>
              <a:rPr lang="en" sz="2267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Transmitter line loss</a:t>
            </a:r>
            <a:endParaRPr sz="2267" i="0" u="none" strike="noStrike" cap="none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58"/>
          <p:cNvSpPr/>
          <p:nvPr/>
        </p:nvSpPr>
        <p:spPr>
          <a:xfrm>
            <a:off x="8365067" y="2624667"/>
            <a:ext cx="3149600" cy="54200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" sz="2400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−0.6 dB</a:t>
            </a:r>
            <a:endParaRPr sz="2400" i="0" u="none" strike="noStrike" cap="none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58"/>
          <p:cNvSpPr/>
          <p:nvPr/>
        </p:nvSpPr>
        <p:spPr>
          <a:xfrm>
            <a:off x="677333" y="3183467"/>
            <a:ext cx="7654000" cy="5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7"/>
              <a:buFont typeface="Calibri"/>
              <a:buNone/>
            </a:pPr>
            <a:r>
              <a:rPr lang="en" sz="2267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Transmit antenna gain</a:t>
            </a:r>
            <a:endParaRPr sz="2267" i="0" u="none" strike="noStrike" cap="none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58"/>
          <p:cNvSpPr/>
          <p:nvPr/>
        </p:nvSpPr>
        <p:spPr>
          <a:xfrm>
            <a:off x="8365067" y="3183467"/>
            <a:ext cx="3149600" cy="5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" sz="2400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+25.8 dBi</a:t>
            </a:r>
            <a:endParaRPr sz="2400" i="0" u="none" strike="noStrike" cap="none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58"/>
          <p:cNvSpPr/>
          <p:nvPr/>
        </p:nvSpPr>
        <p:spPr>
          <a:xfrm>
            <a:off x="677333" y="3742267"/>
            <a:ext cx="7654000" cy="54200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7"/>
              <a:buFont typeface="Calibri"/>
              <a:buNone/>
            </a:pPr>
            <a:r>
              <a:rPr lang="en" sz="2267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Free-space loss</a:t>
            </a:r>
            <a:endParaRPr sz="2267" i="0" u="none" strike="noStrike" cap="none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58"/>
          <p:cNvSpPr/>
          <p:nvPr/>
        </p:nvSpPr>
        <p:spPr>
          <a:xfrm>
            <a:off x="8365067" y="3742267"/>
            <a:ext cx="3149600" cy="54200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" sz="2400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−222.6 dB</a:t>
            </a:r>
            <a:endParaRPr sz="2400" i="0" u="none" strike="noStrike" cap="none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58"/>
          <p:cNvSpPr/>
          <p:nvPr/>
        </p:nvSpPr>
        <p:spPr>
          <a:xfrm>
            <a:off x="677333" y="4301067"/>
            <a:ext cx="7654000" cy="5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7"/>
              <a:buFont typeface="Calibri"/>
              <a:buNone/>
            </a:pPr>
            <a:r>
              <a:rPr lang="en" sz="2267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Atmosphere + pointing + polarization</a:t>
            </a:r>
            <a:endParaRPr sz="2267" i="0" u="none" strike="noStrike" cap="none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58"/>
          <p:cNvSpPr/>
          <p:nvPr/>
        </p:nvSpPr>
        <p:spPr>
          <a:xfrm>
            <a:off x="8365067" y="4301067"/>
            <a:ext cx="3149600" cy="5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" sz="2400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−1.4 dB</a:t>
            </a:r>
            <a:endParaRPr sz="2400" i="0" u="none" strike="noStrike" cap="none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58"/>
          <p:cNvSpPr/>
          <p:nvPr/>
        </p:nvSpPr>
        <p:spPr>
          <a:xfrm>
            <a:off x="677333" y="4859867"/>
            <a:ext cx="7654000" cy="54200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7"/>
              <a:buFont typeface="Calibri"/>
              <a:buNone/>
            </a:pPr>
            <a:r>
              <a:rPr lang="en" sz="2267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Receive antenna gain</a:t>
            </a:r>
            <a:endParaRPr sz="2267" i="0" u="none" strike="noStrike" cap="none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58"/>
          <p:cNvSpPr/>
          <p:nvPr/>
        </p:nvSpPr>
        <p:spPr>
          <a:xfrm>
            <a:off x="8365067" y="4859867"/>
            <a:ext cx="3149600" cy="54200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" sz="2400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+66.9 dBi</a:t>
            </a:r>
            <a:endParaRPr sz="2400" i="0" u="none" strike="noStrike" cap="none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58"/>
          <p:cNvSpPr/>
          <p:nvPr/>
        </p:nvSpPr>
        <p:spPr>
          <a:xfrm>
            <a:off x="677333" y="5418667"/>
            <a:ext cx="7654000" cy="5420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7"/>
              <a:buFont typeface="Calibri"/>
              <a:buNone/>
            </a:pPr>
            <a:r>
              <a:rPr lang="en" sz="2267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Received S</a:t>
            </a:r>
            <a:r>
              <a:rPr lang="en" sz="1473" i="0" u="none" strike="noStrike" cap="none" baseline="-25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A*</a:t>
            </a:r>
            <a:endParaRPr sz="2267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58"/>
          <p:cNvSpPr/>
          <p:nvPr/>
        </p:nvSpPr>
        <p:spPr>
          <a:xfrm>
            <a:off x="8365067" y="5418667"/>
            <a:ext cx="3149600" cy="5420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" sz="24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−131.9 dBW</a:t>
            </a:r>
            <a:endParaRPr sz="240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58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58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58"/>
          <p:cNvSpPr/>
          <p:nvPr/>
        </p:nvSpPr>
        <p:spPr>
          <a:xfrm>
            <a:off x="800000" y="6032500"/>
            <a:ext cx="105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3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* Plane A precedes the receive feed. At B, the signal is 1 dB lower.</a:t>
            </a:r>
            <a:endParaRPr sz="13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13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58"/>
          <p:cNvSpPr txBox="1"/>
          <p:nvPr/>
        </p:nvSpPr>
        <p:spPr>
          <a:xfrm>
            <a:off x="825500" y="1803400"/>
            <a:ext cx="1060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[S</a:t>
            </a:r>
            <a:r>
              <a:rPr lang="en" sz="1470" baseline="-2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2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] = [P</a:t>
            </a:r>
            <a:r>
              <a:rPr lang="en" sz="1470" baseline="-2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tx</a:t>
            </a:r>
            <a:r>
              <a:rPr lang="en" sz="2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] − [L</a:t>
            </a:r>
            <a:r>
              <a:rPr lang="en" sz="1470" baseline="-2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tx</a:t>
            </a:r>
            <a:r>
              <a:rPr lang="en" sz="2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] + [G</a:t>
            </a:r>
            <a:r>
              <a:rPr lang="en" sz="1470" baseline="-2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tx</a:t>
            </a:r>
            <a:r>
              <a:rPr lang="en" sz="2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] − [L</a:t>
            </a:r>
            <a:r>
              <a:rPr lang="en" sz="1470" baseline="-2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" sz="2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] − [L</a:t>
            </a:r>
            <a:r>
              <a:rPr lang="en" sz="1470" baseline="-2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other</a:t>
            </a:r>
            <a:r>
              <a:rPr lang="en" sz="2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] + [G</a:t>
            </a:r>
            <a:r>
              <a:rPr lang="en" sz="1470" baseline="-2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" sz="2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sz="2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9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Lunar Link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Worked Answer: System Noise at A</a:t>
            </a:r>
            <a:endParaRPr sz="39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59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59"/>
          <p:cNvSpPr/>
          <p:nvPr/>
        </p:nvSpPr>
        <p:spPr>
          <a:xfrm>
            <a:off x="749300" y="1511300"/>
            <a:ext cx="106044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7"/>
              <a:buFont typeface="Calibri"/>
              <a:buNone/>
            </a:pPr>
            <a:r>
              <a:rPr lang="en" sz="3067" i="0" u="none" strike="noStrike" cap="non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All noise referred to antenna terminal A</a:t>
            </a:r>
            <a:endParaRPr sz="3067" i="0" u="none" strike="noStrike" cap="none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59"/>
          <p:cNvSpPr/>
          <p:nvPr/>
        </p:nvSpPr>
        <p:spPr>
          <a:xfrm>
            <a:off x="999067" y="3098800"/>
            <a:ext cx="1778000" cy="1032800"/>
          </a:xfrm>
          <a:prstGeom prst="rect">
            <a:avLst/>
          </a:prstGeom>
          <a:solidFill>
            <a:srgbClr val="205580"/>
          </a:solidFill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Calibri"/>
              <a:buNone/>
            </a:pPr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59"/>
          <p:cNvSpPr/>
          <p:nvPr/>
        </p:nvSpPr>
        <p:spPr>
          <a:xfrm>
            <a:off x="1083733" y="3302000"/>
            <a:ext cx="1608800" cy="609600"/>
          </a:xfrm>
          <a:prstGeom prst="rect">
            <a:avLst/>
          </a:prstGeom>
          <a:solidFill>
            <a:srgbClr val="205580"/>
          </a:solidFill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7"/>
              <a:buFont typeface="Calibri"/>
              <a:buNone/>
            </a:pPr>
            <a:r>
              <a:rPr lang="en" sz="306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30.0</a:t>
            </a:r>
            <a:endParaRPr sz="3067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59"/>
          <p:cNvSpPr/>
          <p:nvPr/>
        </p:nvSpPr>
        <p:spPr>
          <a:xfrm>
            <a:off x="2777067" y="3098800"/>
            <a:ext cx="4450400" cy="1032800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Calibri"/>
              <a:buNone/>
            </a:pPr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59"/>
          <p:cNvSpPr/>
          <p:nvPr/>
        </p:nvSpPr>
        <p:spPr>
          <a:xfrm>
            <a:off x="2861733" y="3302000"/>
            <a:ext cx="4281200" cy="609600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7"/>
              <a:buFont typeface="Calibri"/>
              <a:buNone/>
            </a:pPr>
            <a:r>
              <a:rPr lang="en" sz="306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75.1</a:t>
            </a:r>
            <a:endParaRPr sz="3067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59"/>
          <p:cNvSpPr/>
          <p:nvPr/>
        </p:nvSpPr>
        <p:spPr>
          <a:xfrm>
            <a:off x="7227401" y="3098800"/>
            <a:ext cx="3730800" cy="1032800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Calibri"/>
              <a:buNone/>
            </a:pPr>
            <a:endParaRPr sz="18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59"/>
          <p:cNvSpPr/>
          <p:nvPr/>
        </p:nvSpPr>
        <p:spPr>
          <a:xfrm>
            <a:off x="7312068" y="3302000"/>
            <a:ext cx="3561600" cy="609600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7"/>
              <a:buFont typeface="Calibri"/>
              <a:buNone/>
            </a:pPr>
            <a:r>
              <a:rPr lang="en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62.9</a:t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7"/>
              <a:buFont typeface="Calibri"/>
              <a:buNone/>
            </a:pP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59"/>
          <p:cNvSpPr/>
          <p:nvPr/>
        </p:nvSpPr>
        <p:spPr>
          <a:xfrm>
            <a:off x="914400" y="4301067"/>
            <a:ext cx="2404400" cy="5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" sz="2400" i="0" u="none" strike="noStrike" cap="none">
                <a:solidFill>
                  <a:srgbClr val="205580"/>
                </a:solidFill>
                <a:latin typeface="Calibri"/>
                <a:ea typeface="Calibri"/>
                <a:cs typeface="Calibri"/>
                <a:sym typeface="Calibri"/>
              </a:rPr>
              <a:t>Antenna</a:t>
            </a:r>
            <a:endParaRPr sz="2400" i="0" u="none" strike="noStrike" cap="none">
              <a:solidFill>
                <a:srgbClr val="2055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59"/>
          <p:cNvSpPr/>
          <p:nvPr/>
        </p:nvSpPr>
        <p:spPr>
          <a:xfrm>
            <a:off x="3742267" y="4301067"/>
            <a:ext cx="3556000" cy="5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" sz="2400" i="0" u="none" strike="noStrike" cap="none">
                <a:solidFill>
                  <a:srgbClr val="C65911"/>
                </a:solidFill>
                <a:latin typeface="Calibri"/>
                <a:ea typeface="Calibri"/>
                <a:cs typeface="Calibri"/>
                <a:sym typeface="Calibri"/>
              </a:rPr>
              <a:t>Feed emission</a:t>
            </a:r>
            <a:endParaRPr sz="2400" i="0" u="none" strike="noStrike" cap="none">
              <a:solidFill>
                <a:srgbClr val="C659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59"/>
          <p:cNvSpPr/>
          <p:nvPr/>
        </p:nvSpPr>
        <p:spPr>
          <a:xfrm>
            <a:off x="7890933" y="4301067"/>
            <a:ext cx="3793200" cy="5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" sz="2400" i="0" u="none" strike="noStrike" cap="none">
                <a:solidFill>
                  <a:srgbClr val="8064A2"/>
                </a:solidFill>
                <a:latin typeface="Calibri"/>
                <a:ea typeface="Calibri"/>
                <a:cs typeface="Calibri"/>
                <a:sym typeface="Calibri"/>
              </a:rPr>
              <a:t>Receiver via feed</a:t>
            </a:r>
            <a:endParaRPr sz="2400" i="0" u="none" strike="noStrike" cap="none">
              <a:solidFill>
                <a:srgbClr val="8064A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59"/>
          <p:cNvSpPr/>
          <p:nvPr/>
        </p:nvSpPr>
        <p:spPr>
          <a:xfrm>
            <a:off x="685800" y="5321300"/>
            <a:ext cx="108330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" sz="23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[T</a:t>
            </a:r>
            <a:r>
              <a:rPr lang="en" sz="161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sys,A</a:t>
            </a:r>
            <a:r>
              <a:rPr lang="en" sz="23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] = 10 log</a:t>
            </a:r>
            <a:r>
              <a:rPr lang="en" sz="161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" sz="23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(168.0) = 22.3 dB-K.</a:t>
            </a:r>
            <a:endParaRPr sz="23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" sz="23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[G/T]</a:t>
            </a:r>
            <a:r>
              <a:rPr lang="en" sz="161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23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= [G</a:t>
            </a:r>
            <a:r>
              <a:rPr lang="en" sz="161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" sz="23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] − [T</a:t>
            </a:r>
            <a:r>
              <a:rPr lang="en" sz="161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sys,A</a:t>
            </a:r>
            <a:r>
              <a:rPr lang="en" sz="23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] ≈ 44.7 dB/K.</a:t>
            </a:r>
            <a:endParaRPr sz="23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endParaRPr sz="23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59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47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59"/>
          <p:cNvSpPr txBox="1"/>
          <p:nvPr/>
        </p:nvSpPr>
        <p:spPr>
          <a:xfrm>
            <a:off x="762000" y="1943100"/>
            <a:ext cx="106680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" sz="1470" baseline="-250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" sz="21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= 10</a:t>
            </a:r>
            <a:r>
              <a:rPr lang="en" sz="1470" baseline="300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1.0/10</a:t>
            </a:r>
            <a:r>
              <a:rPr lang="en" sz="21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; T</a:t>
            </a:r>
            <a:r>
              <a:rPr lang="en" sz="1470" baseline="-250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sys,A</a:t>
            </a:r>
            <a:r>
              <a:rPr lang="en" sz="21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= T</a:t>
            </a:r>
            <a:r>
              <a:rPr lang="en" sz="1470" baseline="-250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21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+ (L</a:t>
            </a:r>
            <a:r>
              <a:rPr lang="en" sz="1470" baseline="-250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" sz="21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− 1)T</a:t>
            </a:r>
            <a:r>
              <a:rPr lang="en" sz="1470" baseline="-250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phys</a:t>
            </a:r>
            <a:r>
              <a:rPr lang="en" sz="21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+ L</a:t>
            </a:r>
            <a:r>
              <a:rPr lang="en" sz="1470" baseline="-250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" sz="21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470" baseline="-250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e,rx</a:t>
            </a:r>
            <a:r>
              <a:rPr lang="en" sz="21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1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Feed: (L</a:t>
            </a:r>
            <a:r>
              <a:rPr lang="en" sz="1470" baseline="-250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" sz="21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− 1)290 ≈ 75.1 K; receiver via feed: L</a:t>
            </a:r>
            <a:r>
              <a:rPr lang="en" sz="1470" baseline="-250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" sz="21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(50) ≈ 62.9 K.</a:t>
            </a:r>
            <a:endParaRPr sz="21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60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Lunar Link</a:t>
            </a: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Worked Answer: Signal-to-Noise Density</a:t>
            </a: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60"/>
          <p:cNvSpPr/>
          <p:nvPr/>
        </p:nvSpPr>
        <p:spPr>
          <a:xfrm>
            <a:off x="914400" y="1964267"/>
            <a:ext cx="104140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1750" baseline="-25000">
                <a:latin typeface="Calibri"/>
                <a:ea typeface="Calibri"/>
                <a:cs typeface="Calibri"/>
                <a:sym typeface="Calibri"/>
              </a:rPr>
              <a:t>0,A</a:t>
            </a: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 = kT</a:t>
            </a:r>
            <a:r>
              <a:rPr lang="en" sz="1750" baseline="-25000">
                <a:latin typeface="Calibri"/>
                <a:ea typeface="Calibri"/>
                <a:cs typeface="Calibri"/>
                <a:sym typeface="Calibri"/>
              </a:rPr>
              <a:t>sys,A</a:t>
            </a: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; [N</a:t>
            </a:r>
            <a:r>
              <a:rPr lang="en" sz="1750" baseline="-25000">
                <a:latin typeface="Calibri"/>
                <a:ea typeface="Calibri"/>
                <a:cs typeface="Calibri"/>
                <a:sym typeface="Calibri"/>
              </a:rPr>
              <a:t>0,A</a:t>
            </a: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] = [k] + [T</a:t>
            </a:r>
            <a:r>
              <a:rPr lang="en" sz="1750" baseline="-25000">
                <a:latin typeface="Calibri"/>
                <a:ea typeface="Calibri"/>
                <a:cs typeface="Calibri"/>
                <a:sym typeface="Calibri"/>
              </a:rPr>
              <a:t>sys,A</a:t>
            </a: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].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With [k] = −228.6: [N</a:t>
            </a:r>
            <a:r>
              <a:rPr lang="en" sz="1750" baseline="-25000">
                <a:latin typeface="Calibri"/>
                <a:ea typeface="Calibri"/>
                <a:cs typeface="Calibri"/>
                <a:sym typeface="Calibri"/>
              </a:rPr>
              <a:t>0,A</a:t>
            </a: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] ≈ −206.35 dBW/Hz.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[S/N</a:t>
            </a:r>
            <a:r>
              <a:rPr lang="en" sz="1750" baseline="-25000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] = [S</a:t>
            </a:r>
            <a:r>
              <a:rPr lang="en" sz="1750" baseline="-25000"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] − [N</a:t>
            </a:r>
            <a:r>
              <a:rPr lang="en" sz="1750" baseline="-25000">
                <a:latin typeface="Calibri"/>
                <a:ea typeface="Calibri"/>
                <a:cs typeface="Calibri"/>
                <a:sym typeface="Calibri"/>
              </a:rPr>
              <a:t>0,A</a:t>
            </a: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].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= −131.87 − (−206.35) = 74.48 ≈ 74.5 dB-Hz.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None/>
            </a:pP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60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60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61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When Bandwidth Is Needed</a:t>
            </a: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61"/>
          <p:cNvSpPr/>
          <p:nvPr/>
        </p:nvSpPr>
        <p:spPr>
          <a:xfrm>
            <a:off x="914400" y="1964267"/>
            <a:ext cx="104140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1750" baseline="-25000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 tells us the noise power per hertz.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Bandwidth B tells us how much noise a receiver or instrument admits.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We need total noise N = N</a:t>
            </a:r>
            <a:r>
              <a:rPr lang="en" sz="1750" baseline="-25000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B to compare measured powers as S/N.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[S/N] = [S/N</a:t>
            </a:r>
            <a:r>
              <a:rPr lang="en" sz="1750" baseline="-25000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] − 10 log</a:t>
            </a:r>
            <a:r>
              <a:rPr lang="en" sz="1750" baseline="-25000"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(B/Hz).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At 1 MHz: [S/N] = 74.5 − 60.0 = 14.5 dB.*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None/>
            </a:pP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61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61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61"/>
          <p:cNvSpPr txBox="1"/>
          <p:nvPr/>
        </p:nvSpPr>
        <p:spPr>
          <a:xfrm>
            <a:off x="914400" y="6032500"/>
            <a:ext cx="104139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* Narrowing B helps only while passing the needed signal. Use equivalent noise bandwidth.</a:t>
            </a:r>
            <a:endParaRPr sz="1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62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Lunar Link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The Complete Budget in One View</a:t>
            </a: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62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62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62"/>
          <p:cNvSpPr/>
          <p:nvPr/>
        </p:nvSpPr>
        <p:spPr>
          <a:xfrm>
            <a:off x="825500" y="2159000"/>
            <a:ext cx="3048000" cy="12699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62"/>
          <p:cNvSpPr txBox="1"/>
          <p:nvPr/>
        </p:nvSpPr>
        <p:spPr>
          <a:xfrm>
            <a:off x="863600" y="2197100"/>
            <a:ext cx="2971800" cy="11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TRANSMIT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[EIRP] = 25.2 dBW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62"/>
          <p:cNvSpPr/>
          <p:nvPr/>
        </p:nvSpPr>
        <p:spPr>
          <a:xfrm>
            <a:off x="4635500" y="2159000"/>
            <a:ext cx="3048000" cy="12699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62"/>
          <p:cNvSpPr txBox="1"/>
          <p:nvPr/>
        </p:nvSpPr>
        <p:spPr>
          <a:xfrm>
            <a:off x="4673600" y="2197100"/>
            <a:ext cx="2971800" cy="11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PROPAGATE</a:t>
            </a:r>
            <a:endParaRPr sz="20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Free space: −222.6 dB</a:t>
            </a:r>
            <a:endParaRPr sz="20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Other losses*: −1.4 dB</a:t>
            </a:r>
            <a:endParaRPr sz="20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62"/>
          <p:cNvSpPr/>
          <p:nvPr/>
        </p:nvSpPr>
        <p:spPr>
          <a:xfrm>
            <a:off x="8445500" y="2159000"/>
            <a:ext cx="3048000" cy="12699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62"/>
          <p:cNvSpPr txBox="1"/>
          <p:nvPr/>
        </p:nvSpPr>
        <p:spPr>
          <a:xfrm>
            <a:off x="8483600" y="2197100"/>
            <a:ext cx="2971800" cy="11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COLLECT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+66.9 dBi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[S</a:t>
            </a:r>
            <a:r>
              <a:rPr lang="en" sz="161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] = −131.9 dBW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0" name="Google Shape;900;p62"/>
          <p:cNvCxnSpPr/>
          <p:nvPr/>
        </p:nvCxnSpPr>
        <p:spPr>
          <a:xfrm>
            <a:off x="3873500" y="2794000"/>
            <a:ext cx="7620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1" name="Google Shape;901;p62"/>
          <p:cNvCxnSpPr/>
          <p:nvPr/>
        </p:nvCxnSpPr>
        <p:spPr>
          <a:xfrm>
            <a:off x="7683500" y="2794000"/>
            <a:ext cx="7620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2" name="Google Shape;902;p62"/>
          <p:cNvCxnSpPr/>
          <p:nvPr/>
        </p:nvCxnSpPr>
        <p:spPr>
          <a:xfrm>
            <a:off x="9969500" y="3429000"/>
            <a:ext cx="0" cy="57150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3" name="Google Shape;903;p62"/>
          <p:cNvCxnSpPr/>
          <p:nvPr/>
        </p:nvCxnSpPr>
        <p:spPr>
          <a:xfrm rot="10800000">
            <a:off x="2349500" y="4000500"/>
            <a:ext cx="76200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4" name="Google Shape;904;p62"/>
          <p:cNvCxnSpPr/>
          <p:nvPr/>
        </p:nvCxnSpPr>
        <p:spPr>
          <a:xfrm>
            <a:off x="2349500" y="4000500"/>
            <a:ext cx="0" cy="50790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5" name="Google Shape;905;p62"/>
          <p:cNvSpPr/>
          <p:nvPr/>
        </p:nvSpPr>
        <p:spPr>
          <a:xfrm>
            <a:off x="825500" y="4508500"/>
            <a:ext cx="3048000" cy="11685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62"/>
          <p:cNvSpPr txBox="1"/>
          <p:nvPr/>
        </p:nvSpPr>
        <p:spPr>
          <a:xfrm>
            <a:off x="863600" y="4432300"/>
            <a:ext cx="2971800" cy="14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NOISE AT A</a:t>
            </a:r>
            <a:endParaRPr sz="19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33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sys</a:t>
            </a:r>
            <a:r>
              <a:rPr lang="en" sz="19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 = 168.0 K</a:t>
            </a:r>
            <a:endParaRPr sz="19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[T</a:t>
            </a:r>
            <a:r>
              <a:rPr lang="en" sz="133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sys</a:t>
            </a:r>
            <a:r>
              <a:rPr lang="en" sz="19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] = 22.3 dB-K</a:t>
            </a:r>
            <a:endParaRPr sz="19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[N</a:t>
            </a:r>
            <a:r>
              <a:rPr lang="en" sz="133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19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] = −206.3 dBW/Hz</a:t>
            </a:r>
            <a:endParaRPr sz="19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62"/>
          <p:cNvSpPr/>
          <p:nvPr/>
        </p:nvSpPr>
        <p:spPr>
          <a:xfrm>
            <a:off x="4635500" y="4508500"/>
            <a:ext cx="3048000" cy="11685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62"/>
          <p:cNvSpPr txBox="1"/>
          <p:nvPr/>
        </p:nvSpPr>
        <p:spPr>
          <a:xfrm>
            <a:off x="4673600" y="4546600"/>
            <a:ext cx="2971800" cy="10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COMPARE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[S/N</a:t>
            </a:r>
            <a:r>
              <a:rPr lang="en" sz="1610" baseline="-250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3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] = 74.5 dB-Hz</a:t>
            </a:r>
            <a:endParaRPr sz="23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62"/>
          <p:cNvSpPr/>
          <p:nvPr/>
        </p:nvSpPr>
        <p:spPr>
          <a:xfrm>
            <a:off x="8445500" y="4508500"/>
            <a:ext cx="3048000" cy="1168500"/>
          </a:xfrm>
          <a:prstGeom prst="rect">
            <a:avLst/>
          </a:prstGeom>
          <a:solidFill>
            <a:srgbClr val="F0F7FC"/>
          </a:solidFill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62"/>
          <p:cNvSpPr txBox="1"/>
          <p:nvPr/>
        </p:nvSpPr>
        <p:spPr>
          <a:xfrm>
            <a:off x="8483600" y="4546600"/>
            <a:ext cx="2971800" cy="10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DESIGN TRADES</a:t>
            </a:r>
            <a:endParaRPr sz="22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More EIRP or G/T helps</a:t>
            </a:r>
            <a:endParaRPr sz="22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More propagation loss hurts</a:t>
            </a:r>
            <a:endParaRPr sz="22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1" name="Google Shape;911;p62"/>
          <p:cNvCxnSpPr/>
          <p:nvPr/>
        </p:nvCxnSpPr>
        <p:spPr>
          <a:xfrm>
            <a:off x="3873500" y="5092700"/>
            <a:ext cx="7620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12" name="Google Shape;912;p62"/>
          <p:cNvCxnSpPr/>
          <p:nvPr/>
        </p:nvCxnSpPr>
        <p:spPr>
          <a:xfrm>
            <a:off x="7683500" y="5092700"/>
            <a:ext cx="762000" cy="0"/>
          </a:xfrm>
          <a:prstGeom prst="straightConnector1">
            <a:avLst/>
          </a:prstGeom>
          <a:noFill/>
          <a:ln w="21600" cap="flat" cmpd="sng">
            <a:solidFill>
              <a:srgbClr val="1F4E7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3" name="Google Shape;913;p62"/>
          <p:cNvSpPr txBox="1"/>
          <p:nvPr/>
        </p:nvSpPr>
        <p:spPr>
          <a:xfrm>
            <a:off x="825500" y="6223000"/>
            <a:ext cx="106044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This is the calculated S/N</a:t>
            </a:r>
            <a:r>
              <a:rPr lang="en" sz="1190" baseline="-250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17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. Modulation will determine what value is sufficient.</a:t>
            </a:r>
            <a:endParaRPr sz="1700">
              <a:solidFill>
                <a:srgbClr val="7A7A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7A7A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62"/>
          <p:cNvSpPr txBox="1"/>
          <p:nvPr/>
        </p:nvSpPr>
        <p:spPr>
          <a:xfrm>
            <a:off x="825500" y="5918200"/>
            <a:ext cx="106044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* Other losses: atmosphere 0.1 dB + pointing 0.8 dB + polarization 0.5 dB.</a:t>
            </a:r>
            <a:endParaRPr sz="1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3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Lunar Link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What Changes When We Point at the Moon?</a:t>
            </a:r>
            <a:endParaRPr sz="39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63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63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51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2" name="Google Shape;922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533" y="1896533"/>
            <a:ext cx="3234265" cy="3234265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63"/>
          <p:cNvSpPr txBox="1"/>
          <p:nvPr/>
        </p:nvSpPr>
        <p:spPr>
          <a:xfrm>
            <a:off x="4635500" y="1816100"/>
            <a:ext cx="698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7"/>
              <a:buFont typeface="Calibri"/>
              <a:buNone/>
            </a:pPr>
            <a:r>
              <a:rPr lang="en" sz="3067" i="0" u="none" strike="noStrike" cap="none">
                <a:solidFill>
                  <a:srgbClr val="205580"/>
                </a:solidFill>
                <a:latin typeface="Calibri"/>
                <a:ea typeface="Calibri"/>
                <a:cs typeface="Calibri"/>
                <a:sym typeface="Calibri"/>
              </a:rPr>
              <a:t>Same </a:t>
            </a:r>
            <a:r>
              <a:rPr lang="en" sz="3067">
                <a:solidFill>
                  <a:srgbClr val="205580"/>
                </a:solidFill>
                <a:latin typeface="Calibri"/>
                <a:ea typeface="Calibri"/>
                <a:cs typeface="Calibri"/>
                <a:sym typeface="Calibri"/>
              </a:rPr>
              <a:t>Signal</a:t>
            </a:r>
            <a:r>
              <a:rPr lang="en" sz="3067" i="0" u="none" strike="noStrike" cap="none">
                <a:solidFill>
                  <a:srgbClr val="205580"/>
                </a:solidFill>
                <a:latin typeface="Calibri"/>
                <a:ea typeface="Calibri"/>
                <a:cs typeface="Calibri"/>
                <a:sym typeface="Calibri"/>
              </a:rPr>
              <a:t> Power</a:t>
            </a:r>
            <a:endParaRPr sz="3067" i="0" u="none" strike="noStrike" cap="none">
              <a:solidFill>
                <a:srgbClr val="2055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63"/>
          <p:cNvSpPr txBox="1"/>
          <p:nvPr/>
        </p:nvSpPr>
        <p:spPr>
          <a:xfrm>
            <a:off x="4635500" y="2476500"/>
            <a:ext cx="69849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7"/>
              <a:buFont typeface="Calibri"/>
              <a:buNone/>
            </a:pPr>
            <a:r>
              <a:rPr lang="en" sz="2400">
                <a:solidFill>
                  <a:srgbClr val="C6591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680" baseline="-25000">
                <a:solidFill>
                  <a:srgbClr val="C6591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2400">
                <a:solidFill>
                  <a:srgbClr val="C65911"/>
                </a:solidFill>
                <a:latin typeface="Calibri"/>
                <a:ea typeface="Calibri"/>
                <a:cs typeface="Calibri"/>
                <a:sym typeface="Calibri"/>
              </a:rPr>
              <a:t>: 30 K to 230 K</a:t>
            </a:r>
            <a:endParaRPr sz="2400">
              <a:solidFill>
                <a:srgbClr val="C659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7"/>
              <a:buFont typeface="Calibri"/>
              <a:buNone/>
            </a:pPr>
            <a:r>
              <a:rPr lang="en" sz="2400">
                <a:solidFill>
                  <a:srgbClr val="C6591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680" baseline="-25000">
                <a:solidFill>
                  <a:srgbClr val="C65911"/>
                </a:solidFill>
                <a:latin typeface="Calibri"/>
                <a:ea typeface="Calibri"/>
                <a:cs typeface="Calibri"/>
                <a:sym typeface="Calibri"/>
              </a:rPr>
              <a:t>sys,A</a:t>
            </a:r>
            <a:r>
              <a:rPr lang="en" sz="2400">
                <a:solidFill>
                  <a:srgbClr val="C65911"/>
                </a:solidFill>
                <a:latin typeface="Calibri"/>
                <a:ea typeface="Calibri"/>
                <a:cs typeface="Calibri"/>
                <a:sym typeface="Calibri"/>
              </a:rPr>
              <a:t>: 168.0 K to 368.0 K</a:t>
            </a:r>
            <a:endParaRPr sz="2400">
              <a:solidFill>
                <a:srgbClr val="C659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7"/>
              <a:buFont typeface="Calibri"/>
              <a:buNone/>
            </a:pPr>
            <a:r>
              <a:rPr lang="en" sz="2400">
                <a:solidFill>
                  <a:srgbClr val="C65911"/>
                </a:solidFill>
                <a:latin typeface="Calibri"/>
                <a:ea typeface="Calibri"/>
                <a:cs typeface="Calibri"/>
                <a:sym typeface="Calibri"/>
              </a:rPr>
              <a:t>[T</a:t>
            </a:r>
            <a:r>
              <a:rPr lang="en" sz="1680" baseline="-25000">
                <a:solidFill>
                  <a:srgbClr val="C65911"/>
                </a:solidFill>
                <a:latin typeface="Calibri"/>
                <a:ea typeface="Calibri"/>
                <a:cs typeface="Calibri"/>
                <a:sym typeface="Calibri"/>
              </a:rPr>
              <a:t>sys,A</a:t>
            </a:r>
            <a:r>
              <a:rPr lang="en" sz="2400">
                <a:solidFill>
                  <a:srgbClr val="C65911"/>
                </a:solidFill>
                <a:latin typeface="Calibri"/>
                <a:ea typeface="Calibri"/>
                <a:cs typeface="Calibri"/>
                <a:sym typeface="Calibri"/>
              </a:rPr>
              <a:t>]: 22.3 to 25.7 dB-K*</a:t>
            </a:r>
            <a:endParaRPr sz="2400">
              <a:solidFill>
                <a:srgbClr val="C659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7"/>
              <a:buFont typeface="Calibri"/>
              <a:buNone/>
            </a:pPr>
            <a:endParaRPr sz="2400">
              <a:solidFill>
                <a:srgbClr val="C659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63"/>
          <p:cNvSpPr txBox="1"/>
          <p:nvPr/>
        </p:nvSpPr>
        <p:spPr>
          <a:xfrm>
            <a:off x="4635500" y="4064000"/>
            <a:ext cx="69849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2200"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540" baseline="-25000">
                <a:latin typeface="Calibri"/>
                <a:ea typeface="Calibri"/>
                <a:cs typeface="Calibri"/>
                <a:sym typeface="Calibri"/>
              </a:rPr>
              <a:t>sys,new</a:t>
            </a:r>
            <a:r>
              <a:rPr lang="en" sz="2200">
                <a:latin typeface="Calibri"/>
                <a:ea typeface="Calibri"/>
                <a:cs typeface="Calibri"/>
                <a:sym typeface="Calibri"/>
              </a:rPr>
              <a:t> = T</a:t>
            </a:r>
            <a:r>
              <a:rPr lang="en" sz="1540" baseline="-25000">
                <a:latin typeface="Calibri"/>
                <a:ea typeface="Calibri"/>
                <a:cs typeface="Calibri"/>
                <a:sym typeface="Calibri"/>
              </a:rPr>
              <a:t>sys,old</a:t>
            </a:r>
            <a:r>
              <a:rPr lang="en" sz="2200">
                <a:latin typeface="Calibri"/>
                <a:ea typeface="Calibri"/>
                <a:cs typeface="Calibri"/>
                <a:sym typeface="Calibri"/>
              </a:rPr>
              <a:t> + (230 − 30) = 368.0 K.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2200">
                <a:latin typeface="Calibri"/>
                <a:ea typeface="Calibri"/>
                <a:cs typeface="Calibri"/>
                <a:sym typeface="Calibri"/>
              </a:rPr>
              <a:t>Δ[S/N</a:t>
            </a:r>
            <a:r>
              <a:rPr lang="en" sz="1540" baseline="-25000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200">
                <a:latin typeface="Calibri"/>
                <a:ea typeface="Calibri"/>
                <a:cs typeface="Calibri"/>
                <a:sym typeface="Calibri"/>
              </a:rPr>
              <a:t>] = −10 log</a:t>
            </a:r>
            <a:r>
              <a:rPr lang="en" sz="1540" baseline="-25000"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" sz="2200">
                <a:latin typeface="Calibri"/>
                <a:ea typeface="Calibri"/>
                <a:cs typeface="Calibri"/>
                <a:sym typeface="Calibri"/>
              </a:rPr>
              <a:t>(368.0/168.0) = −3.4 dB.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2200">
                <a:latin typeface="Calibri"/>
                <a:ea typeface="Calibri"/>
                <a:cs typeface="Calibri"/>
                <a:sym typeface="Calibri"/>
              </a:rPr>
              <a:t>[S/N</a:t>
            </a:r>
            <a:r>
              <a:rPr lang="en" sz="1540" baseline="-25000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200">
                <a:latin typeface="Calibri"/>
                <a:ea typeface="Calibri"/>
                <a:cs typeface="Calibri"/>
                <a:sym typeface="Calibri"/>
              </a:rPr>
              <a:t>]</a:t>
            </a:r>
            <a:r>
              <a:rPr lang="en" sz="1540" baseline="-25000">
                <a:latin typeface="Calibri"/>
                <a:ea typeface="Calibri"/>
                <a:cs typeface="Calibri"/>
                <a:sym typeface="Calibri"/>
              </a:rPr>
              <a:t>new</a:t>
            </a:r>
            <a:r>
              <a:rPr lang="en" sz="2200">
                <a:latin typeface="Calibri"/>
                <a:ea typeface="Calibri"/>
                <a:cs typeface="Calibri"/>
                <a:sym typeface="Calibri"/>
              </a:rPr>
              <a:t> = 74.5 − 3.4 = 71.1 dB-Hz.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63"/>
          <p:cNvSpPr txBox="1"/>
          <p:nvPr/>
        </p:nvSpPr>
        <p:spPr>
          <a:xfrm>
            <a:off x="812800" y="6032500"/>
            <a:ext cx="107019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* Assumed antenna temperatures at fixed signal power. Visible-light Moon image: NASA SVS / LRO.</a:t>
            </a:r>
            <a:endParaRPr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64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Lunar Link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Questions: What Changes in the Budget?</a:t>
            </a:r>
            <a:endParaRPr sz="39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64"/>
          <p:cNvSpPr/>
          <p:nvPr/>
        </p:nvSpPr>
        <p:spPr>
          <a:xfrm>
            <a:off x="914400" y="1964267"/>
            <a:ext cx="104140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1. Double received signal power; hold noise density fixed.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2. Double range; hold antenna gains and temperatures fixed.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3. Double T</a:t>
            </a:r>
            <a:r>
              <a:rPr lang="en" sz="1820" baseline="-25000">
                <a:latin typeface="Calibri"/>
                <a:ea typeface="Calibri"/>
                <a:cs typeface="Calibri"/>
                <a:sym typeface="Calibri"/>
              </a:rPr>
              <a:t>sys</a:t>
            </a: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; hold the signal budget fixed.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4. Add 0.5 dB atmospheric loss. Does N</a:t>
            </a:r>
            <a:r>
              <a:rPr lang="en" sz="1820" baseline="-25000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 also change?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64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64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52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65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Lunar Link</a:t>
            </a: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Worked Answers: Changes in S/N</a:t>
            </a:r>
            <a:r>
              <a:rPr lang="en" sz="2520" baseline="-25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520" baseline="-250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65"/>
          <p:cNvSpPr/>
          <p:nvPr/>
        </p:nvSpPr>
        <p:spPr>
          <a:xfrm>
            <a:off x="914400" y="1964267"/>
            <a:ext cx="104140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Double S: Δ[S/N</a:t>
            </a:r>
            <a:r>
              <a:rPr lang="en" sz="1680" baseline="-25000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] = 10 log</a:t>
            </a:r>
            <a:r>
              <a:rPr lang="en" sz="1680" baseline="-25000"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(2) = +3.0 dB.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Double range: Δ[L</a:t>
            </a:r>
            <a:r>
              <a:rPr lang="en" sz="1680" baseline="-25000"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] = 20 log</a:t>
            </a:r>
            <a:r>
              <a:rPr lang="en" sz="1680" baseline="-25000"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(2) = +6.0 dB.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Double T</a:t>
            </a:r>
            <a:r>
              <a:rPr lang="en" sz="1680" baseline="-25000">
                <a:latin typeface="Calibri"/>
                <a:ea typeface="Calibri"/>
                <a:cs typeface="Calibri"/>
                <a:sym typeface="Calibri"/>
              </a:rPr>
              <a:t>sys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: Δ[G/T] = −10 log</a:t>
            </a:r>
            <a:r>
              <a:rPr lang="en" sz="1680" baseline="-25000"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(2) = −3.0 dB.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Weather: Δ[S/N</a:t>
            </a:r>
            <a:r>
              <a:rPr lang="en" sz="1680" baseline="-25000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] = −Δ[L</a:t>
            </a:r>
            <a:r>
              <a:rPr lang="en" sz="1680" baseline="-25000">
                <a:latin typeface="Calibri"/>
                <a:ea typeface="Calibri"/>
                <a:cs typeface="Calibri"/>
                <a:sym typeface="Calibri"/>
              </a:rPr>
              <a:t>atm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] + Δ[G/T].*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Update both atmospheric signal loss and antenna noise.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65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65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53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65"/>
          <p:cNvSpPr txBox="1"/>
          <p:nvPr/>
        </p:nvSpPr>
        <p:spPr>
          <a:xfrm>
            <a:off x="825500" y="6032500"/>
            <a:ext cx="106044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* Other link terms held fixed. Atmospheric emission can change G/T.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66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933"/>
              </a:spcAft>
              <a:buNone/>
            </a:pPr>
            <a:r>
              <a:rPr lang="en" sz="3900" i="0" u="none" strike="noStrike" cap="non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Questions for a Ground-Network Provider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66"/>
          <p:cNvSpPr/>
          <p:nvPr/>
        </p:nvSpPr>
        <p:spPr>
          <a:xfrm>
            <a:off x="914400" y="1964267"/>
            <a:ext cx="104140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What is G/T at our frequency, elevation, and weather condition?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Which losses and reference plane are included?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What receiver NF and input losses underlie the specification?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What antenna-noise assumptions were used?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66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66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54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67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Lesson Review</a:t>
            </a:r>
            <a:endParaRPr sz="21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Questions: Putting It All Together</a:t>
            </a:r>
            <a:endParaRPr sz="39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67"/>
          <p:cNvSpPr/>
          <p:nvPr/>
        </p:nvSpPr>
        <p:spPr>
          <a:xfrm>
            <a:off x="914400" y="1964267"/>
            <a:ext cx="104140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Why should the LNA be close to the antenna?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Which LNA parameters reduce total receiver noise?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What does G/T tell us that receiver NF alone cannot?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Which S/N</a:t>
            </a:r>
            <a:r>
              <a:rPr lang="en" sz="1820" baseline="-25000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 terms can the spacecraft or ground provider change?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How would range, weather, or pointing affect the budget?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None/>
            </a:pP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67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67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55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68"/>
          <p:cNvSpPr/>
          <p:nvPr/>
        </p:nvSpPr>
        <p:spPr>
          <a:xfrm>
            <a:off x="838200" y="36508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Lesson Takeaways</a:t>
            </a: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LNA Design and Receiving Sensitivity</a:t>
            </a: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68"/>
          <p:cNvSpPr/>
          <p:nvPr/>
        </p:nvSpPr>
        <p:spPr>
          <a:xfrm>
            <a:off x="914400" y="1964267"/>
            <a:ext cx="104139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6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LNA placement: minimize loss before the first amplifier.</a:t>
            </a:r>
            <a:endParaRPr sz="26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6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LNA parameters: low NF and enough early gain reduce receiver noise.*</a:t>
            </a:r>
            <a:endParaRPr sz="26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6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Receiving system: G/T combines antenna gain with all system noise.</a:t>
            </a:r>
            <a:endParaRPr sz="26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6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Link trades: more EIRP or G/T improves S/N</a:t>
            </a:r>
            <a:r>
              <a:rPr lang="en" sz="182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6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6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6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Propagation, pointing, and polarization losses reduce it.</a:t>
            </a:r>
            <a:endParaRPr sz="26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Clr>
                <a:srgbClr val="000000"/>
              </a:buClr>
              <a:buSzPts val="2667"/>
              <a:buFont typeface="Calibri"/>
              <a:buNone/>
            </a:pPr>
            <a:endParaRPr sz="26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68"/>
          <p:cNvSpPr/>
          <p:nvPr/>
        </p:nvSpPr>
        <p:spPr>
          <a:xfrm>
            <a:off x="2667000" y="6356351"/>
            <a:ext cx="685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68"/>
          <p:cNvSpPr txBox="1"/>
          <p:nvPr/>
        </p:nvSpPr>
        <p:spPr>
          <a:xfrm>
            <a:off x="11108267" y="6434667"/>
            <a:ext cx="575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56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68"/>
          <p:cNvSpPr txBox="1"/>
          <p:nvPr/>
        </p:nvSpPr>
        <p:spPr>
          <a:xfrm>
            <a:off x="914400" y="6032500"/>
            <a:ext cx="10413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* Gain must also satisfy overload and stability limits. Antenna and feed noise remain.</a:t>
            </a:r>
            <a:endParaRPr sz="13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69"/>
          <p:cNvSpPr/>
          <p:nvPr/>
        </p:nvSpPr>
        <p:spPr>
          <a:xfrm>
            <a:off x="838200" y="36508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The Complete Link Calculation</a:t>
            </a: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The Terms Behind the Trades</a:t>
            </a: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69"/>
          <p:cNvSpPr/>
          <p:nvPr/>
        </p:nvSpPr>
        <p:spPr>
          <a:xfrm>
            <a:off x="825500" y="2997200"/>
            <a:ext cx="10604400" cy="28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EIRP: transmitter power, transmit-line loss, and transmit antenna gain.</a:t>
            </a:r>
            <a:endParaRPr sz="24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Losses: free space, atmosphere, pointing, and polarization.</a:t>
            </a:r>
            <a:endParaRPr sz="24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G/T: receive gain and total system noise at one plane.*</a:t>
            </a:r>
            <a:endParaRPr sz="24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25.2 − 222.6 − 0.1 − 0.8 − 0.5 + 44.7 + 228.6</a:t>
            </a:r>
            <a:endParaRPr sz="24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Calibri"/>
              <a:buNone/>
            </a:pP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[S/N</a:t>
            </a:r>
            <a:r>
              <a:rPr lang="en" sz="1680" baseline="-25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4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] = 74.5 dB-Hz</a:t>
            </a:r>
            <a:endParaRPr sz="24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2667"/>
              <a:buFont typeface="Calibri"/>
              <a:buNone/>
            </a:pPr>
            <a:endParaRPr sz="24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69"/>
          <p:cNvSpPr/>
          <p:nvPr/>
        </p:nvSpPr>
        <p:spPr>
          <a:xfrm>
            <a:off x="2667000" y="6356351"/>
            <a:ext cx="685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69"/>
          <p:cNvSpPr txBox="1"/>
          <p:nvPr/>
        </p:nvSpPr>
        <p:spPr>
          <a:xfrm>
            <a:off x="11108267" y="6434667"/>
            <a:ext cx="575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57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69"/>
          <p:cNvSpPr txBox="1"/>
          <p:nvPr/>
        </p:nvSpPr>
        <p:spPr>
          <a:xfrm>
            <a:off x="914400" y="6032500"/>
            <a:ext cx="10413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* Receive-feed effects are already in G/T. The constant is −[k] for EIRP in dBW and G/T in dB/K.</a:t>
            </a:r>
            <a:endParaRPr sz="13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69"/>
          <p:cNvSpPr txBox="1"/>
          <p:nvPr/>
        </p:nvSpPr>
        <p:spPr>
          <a:xfrm>
            <a:off x="571500" y="1993900"/>
            <a:ext cx="110490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[S/N</a:t>
            </a:r>
            <a:r>
              <a:rPr lang="en" sz="1610" baseline="-2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2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] = [EIRP] − [L</a:t>
            </a:r>
            <a:r>
              <a:rPr lang="en" sz="1610" baseline="-2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" sz="2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] − [L</a:t>
            </a:r>
            <a:r>
              <a:rPr lang="en" sz="1610" baseline="-2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atm</a:t>
            </a:r>
            <a:r>
              <a:rPr lang="en" sz="2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] − [L</a:t>
            </a:r>
            <a:r>
              <a:rPr lang="en" sz="1610" baseline="-2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point</a:t>
            </a:r>
            <a:r>
              <a:rPr lang="en" sz="2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] − [L</a:t>
            </a:r>
            <a:r>
              <a:rPr lang="en" sz="1610" baseline="-2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pol</a:t>
            </a:r>
            <a:r>
              <a:rPr lang="en" sz="2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] + [G/T] + 228.6</a:t>
            </a:r>
            <a:endParaRPr sz="2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70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933"/>
              </a:spcAft>
              <a:buNone/>
            </a:pPr>
            <a:r>
              <a:rPr lang="en" sz="3600">
                <a:latin typeface="Calibri"/>
                <a:ea typeface="Calibri"/>
                <a:cs typeface="Calibri"/>
                <a:sym typeface="Calibri"/>
              </a:rPr>
              <a:t>References: Noise and Receiver Models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70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70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58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70"/>
          <p:cNvSpPr txBox="1"/>
          <p:nvPr/>
        </p:nvSpPr>
        <p:spPr>
          <a:xfrm>
            <a:off x="825500" y="1778000"/>
            <a:ext cx="10668000" cy="42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JPL DESCANSO, Vol. 10, Ch. 2: System Noise Concepts with DSN Applications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NIST: Johnson-noise thermometry and SI defining constants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JPL, Report 42-143: Follow-up Receiver Noise-Temperature Contribution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Keysight: Noise Figure Application / Noise Concepts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JPL DESCANSO, Ch. 5: HEMT Low-Noise Amplifiers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Analog Devices AN-2622: Selecting an RF Low Noise Amplifier</a:t>
            </a:r>
            <a:endParaRPr sz="25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70"/>
          <p:cNvSpPr txBox="1"/>
          <p:nvPr/>
        </p:nvSpPr>
        <p:spPr>
          <a:xfrm>
            <a:off x="825500" y="6223000"/>
            <a:ext cx="106044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Complete publication links are in the separate Trusted Sources document.</a:t>
            </a:r>
            <a:endParaRPr>
              <a:solidFill>
                <a:srgbClr val="7A7A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7A7A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71"/>
          <p:cNvSpPr/>
          <p:nvPr/>
        </p:nvSpPr>
        <p:spPr>
          <a:xfrm>
            <a:off x="838200" y="365083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933"/>
              </a:spcAft>
              <a:buNone/>
            </a:pPr>
            <a:r>
              <a:rPr lang="en" sz="3600">
                <a:latin typeface="Calibri"/>
                <a:ea typeface="Calibri"/>
                <a:cs typeface="Calibri"/>
                <a:sym typeface="Calibri"/>
              </a:rPr>
              <a:t>References and Further Reading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71"/>
          <p:cNvSpPr/>
          <p:nvPr/>
        </p:nvSpPr>
        <p:spPr>
          <a:xfrm>
            <a:off x="2667000" y="6356351"/>
            <a:ext cx="685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 sz="120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ENAE 694 • Noise and the Link Budget</a:t>
            </a:r>
            <a:endParaRPr sz="120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71"/>
          <p:cNvSpPr txBox="1"/>
          <p:nvPr/>
        </p:nvSpPr>
        <p:spPr>
          <a:xfrm>
            <a:off x="11108267" y="6434667"/>
            <a:ext cx="5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16925" rIns="33850" bIns="16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59</a:t>
            </a: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71"/>
          <p:cNvSpPr txBox="1"/>
          <p:nvPr/>
        </p:nvSpPr>
        <p:spPr>
          <a:xfrm>
            <a:off x="825500" y="1752600"/>
            <a:ext cx="10668000" cy="42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DSN 810-005, Modules 104 and 105: station and environmental noise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ITU-R P.838-3: rain attenuation; P.618-14: Earth-space propagation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Condon &amp; Ransom, Essential Radio Astronomy, Chs. 1–3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Mini-Circuits PGA-103+: manufacturer LNA specifications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ITU-R P.525-5: free-space attenuation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Images: NASA SVS / LRO; NASA/JPL-Caltech; Mini-Circuits via LCSC</a:t>
            </a: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71"/>
          <p:cNvSpPr txBox="1"/>
          <p:nvPr/>
        </p:nvSpPr>
        <p:spPr>
          <a:xfrm>
            <a:off x="825500" y="6223000"/>
            <a:ext cx="106044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Figures and image credits accompany their slides. Full source links are in the source list.</a:t>
            </a:r>
            <a:endParaRPr>
              <a:solidFill>
                <a:srgbClr val="7A7A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7A7A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4986</Words>
  <Application>Microsoft Office PowerPoint</Application>
  <PresentationFormat>Widescreen</PresentationFormat>
  <Paragraphs>734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Dave Israel</dc:creator>
  <cp:lastModifiedBy>Dave Israel</cp:lastModifiedBy>
  <cp:revision>2</cp:revision>
  <dcterms:modified xsi:type="dcterms:W3CDTF">2026-10-05T02:18:37Z</dcterms:modified>
</cp:coreProperties>
</file>