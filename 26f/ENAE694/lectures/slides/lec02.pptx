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36980-B926-0686-4A8D-052ACF0EA9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B3C67D-7A75-819D-E6BF-6C8AEE1237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7CE2-E51D-FAE8-B80C-2904F624495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4ED6EB8-933A-40BF-9125-A8F5D5D4C736}" type="datetime1">
              <a:t>9/13/2026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D52AB-71A2-C339-92BD-220F6DFB689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667000" y="6356350"/>
            <a:ext cx="6858000" cy="365125"/>
          </a:xfrm>
        </p:spPr>
        <p:txBody>
          <a:bodyPr/>
          <a:lstStyle/>
          <a:p>
            <a:r>
              <a:t>ENAE694 Spacecraft Communications: Requirements and Constraints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3AF36-30E2-04B2-2807-B499A86BE6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BA16D19-4F63-4418-BEAB-0383BC96FB9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B75E1-0884-B475-1FC8-0DAA9F4E1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04AD8-0228-620D-0445-8AEF53196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2AD92-5F73-A2F2-6A7D-45B2D8B3439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14E54CC-43E5-4B75-BAFD-184AD910D0F4}" type="datetime1">
              <a:t>9/13/2026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562BF-B1BA-FEEC-CE79-07B36D6DE75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ENAE694 Spacecraft Communications: Requirements and Constraints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5D774-175E-C969-877B-645892454B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BA16D19-4F63-4418-BEAB-0383BC96FB9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CD72B-5D61-93FE-1C3D-2C2E86612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E7623C-0663-299C-97CC-01404A4A6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DF1C6-10AD-0D60-FF88-0C7017F3D24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34A3982-4059-42B9-8197-8793FF404841}" type="datetime1">
              <a:t>9/13/2026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D2EA8-F174-E171-1E24-5CAC170B92A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ENAE694 Spacecraft Communications: Requirements and Constraints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8C4D8-2854-3BCC-12EE-3CF7FACA76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BA16D19-4F63-4418-BEAB-0383BC96FB9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BA8BD-2CCB-D7BD-CB49-337DD9CE5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A9762-9FF2-C1D7-3E9B-471BD09AC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A7B5D0-9F68-B317-6EE0-03C55FF7550D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ABE63E-FB04-554B-1219-BABE9243694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0FF6EB2-26FD-44E1-A1F9-D2F246212076}" type="datetime1">
              <a:t>9/13/2026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C6BEB4-44DE-1A4D-C4A3-267BD5EB043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ENAE694 Spacecraft Communications: Requirements and Constraints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D39E1-4870-653E-7B15-578C775507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BA16D19-4F63-4418-BEAB-0383BC96FB9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6E52E-95D3-B73B-B31E-4053D461E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6F0141-BA33-8107-ADBF-793EB4A0C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4BF0C1-67B8-9A66-B40D-9790E9C4ECB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C0D682-3A5F-6E6A-2336-4AA59E5CC47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129882-C2AD-4AC9-437E-83788EEAE686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47A025-3448-28A8-24FD-89199CEBA9D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D9B6903-33D8-4D4D-8C63-0EC659EFBFF3}" type="datetime1">
              <a:t>9/13/2026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EFD58E-6D7F-E3CF-5DD4-9A2FE428038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ENAE694 Spacecraft Communications: Requirements and Constraints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068A21-9B80-8989-26D3-F1C11E6918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BA16D19-4F63-4418-BEAB-0383BC96FB9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4AA8D-E534-8BD3-5D4C-10CD6F974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25062A-4D8A-D9D1-4377-0760783C0E6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CDE505E-9B1D-4BC1-9E04-A9DD37003C8D}" type="datetime1">
              <a:t>9/13/2026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9C8CA2-CAFF-C447-76A1-43F40DEDCF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ENAE694 Spacecraft Communications: Requirements and Constraints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275110-3299-C84C-9EDD-595AB6A081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BA16D19-4F63-4418-BEAB-0383BC96FB9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F3F806-1DEF-6138-3E47-C63EE98A553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4067C06-0941-4A36-B031-CFCCEA1DA25B}" type="datetime1">
              <a:t>9/13/2026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C14BF2-BC1A-A3A2-FFE9-64F994720A6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ENAE694 Spacecraft Communications: Requirements and Constraints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808C1-FBEC-217D-3540-D91ED525B8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BA16D19-4F63-4418-BEAB-0383BC96FB9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41D2F-6AD2-00C1-F0AC-481B00FBD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9EB7D-B8B5-9B9D-76A1-FC055CB3E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3C4216-8AED-19CA-D898-58C7CEE80D2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297EB1-B856-1B45-F20B-EFA51D0EFAC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0A3DC97-6A12-4822-AAB2-27916610DBEE}" type="datetime1">
              <a:t>9/13/2026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A82C10-BD4F-814B-5F04-32FB7143915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ENAE694 Spacecraft Communications: Requirements and Constraints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345826-7BC7-0F94-0A3C-6B644FFE47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BA16D19-4F63-4418-BEAB-0383BC96FB9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B8CE6-7E21-5A44-44C3-8D5002914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9C1369-785F-7983-3299-9EB1AE7775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F811C6-9B5C-F062-8120-B44DFDF0AFD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D600A-A1F8-FA1C-63A7-B7986EB176B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3F8063E-B476-406F-B3D9-64B384A31FEC}" type="datetime1">
              <a:t>9/13/2026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7B4197-A249-7478-D9CA-1309D9EC3B7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ENAE694 Spacecraft Communications: Requirements and Constraints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51BA0-E5F2-AB01-7FE6-F82E25811F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BA16D19-4F63-4418-BEAB-0383BC96FB9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584CA-1A1B-F9F5-7CE8-3D6C72B65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2C470B-CB71-749E-98F3-2E11169B6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90414-58A3-C2D6-D3B9-CBDA8642D1C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B863A5A-4C08-431E-9FEA-F3339828C68C}" type="datetime1">
              <a:t>9/13/2026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2B39D-C30B-13C3-9349-FFD01AEEDFD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ENAE694 Spacecraft Communications: Requirements and Constraints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D595D-41FF-464F-329C-2594C563AD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BA16D19-4F63-4418-BEAB-0383BC96FB9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623085-53DF-F097-0372-172F422C5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C2C079-07E4-4A81-F4E2-968C5CB40E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A631A-BDFA-046F-F5F4-83D4ACFB248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D2FFF08-FC41-4C92-B0F6-85040F12764C}" type="datetime1">
              <a:t>9/13/2026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996B3-E6C7-A595-9F5D-E387D7F3EE3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ENAE694 Spacecraft Communications: Requirements and Constraints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46A4-6E53-90F4-4421-55AE8BD3BB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BA16D19-4F63-4418-BEAB-0383BC96FB9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B88EA8-1106-E8F3-A468-AF1D8C882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F72A9-9EE9-F7DF-1171-67F86A56A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7B18B-40A4-851C-B1AB-FA9ACD320F94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B13D7E-8C39-49DE-8F22-4CD23C136338}" type="datetime1">
              <a:t>9/13/2026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840A5-6565-6363-7EF2-763AAAE5B7B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2667000" y="6356350"/>
            <a:ext cx="68580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ENAE694 Spacecraft Communications: Requirements and Constraints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C3F24-7055-7F99-3FBE-C3499655C7A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16D19-4F63-4418-BEAB-0383BC96FB9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0" name="Rectangle 2079">
            <a:extLst>
              <a:ext uri="{FF2B5EF4-FFF2-40B4-BE49-F238E27FC236}">
                <a16:creationId xmlns:a16="http://schemas.microsoft.com/office/drawing/2014/main" id="{6F828D28-8E09-41CC-8229-3070B5467A96}"/>
              </a:ext>
            </a:extLst>
          </p:cNvPr>
          <p:cNvSpPr>
            <a:spLocks noGrp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086" name="Video 2080"/>
          <p:cNvPicPr>
            <a:picLocks noChangeAspect="1"/>
          </p:cNvPicPr>
          <p:nvPr/>
        </p:nvPicPr>
        <p:blipFill rotWithShape="1">
          <a:blip r:embed="rId3"/>
          <a:srcRect t="284" r="-1" b="-1"/>
          <a:stretch/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2082" name="Rectangle 2081">
            <a:extLst>
              <a:ext uri="{FF2B5EF4-FFF2-40B4-BE49-F238E27FC236}">
                <a16:creationId xmlns:a16="http://schemas.microsoft.com/office/drawing/2014/main" id="{D5B012D8-7F27-4758-9AC6-C889B154BD73}"/>
              </a:ext>
            </a:extLst>
          </p:cNvPr>
          <p:cNvSpPr>
            <a:spLocks noGrp="1"/>
          </p:cNvSpPr>
          <p:nvPr/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6F72ECBD-1E2B-4C9B-BE60-0018ECCB89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643467"/>
            <a:ext cx="10938934" cy="3569242"/>
          </a:xfrm>
        </p:spPr>
        <p:txBody>
          <a:bodyPr anchor="t">
            <a:normAutofit/>
          </a:bodyPr>
          <a:lstStyle/>
          <a:p>
            <a:r>
              <a:rPr sz="5200" b="1">
                <a:solidFill>
                  <a:srgbClr val="FFFFFF"/>
                </a:solidFill>
              </a:rPr>
              <a:t>Spacecraft Communications</a:t>
            </a:r>
          </a:p>
          <a:p>
            <a:r>
              <a:rPr sz="5200" b="1">
                <a:solidFill>
                  <a:srgbClr val="FFFFFF"/>
                </a:solidFill>
              </a:rPr>
              <a:t>ENAE 694 • Received Power and Link Geometry</a:t>
            </a: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F7CD9725-B9F4-461F-BFD3-8804A7E666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6" y="5127546"/>
            <a:ext cx="6671734" cy="1578054"/>
          </a:xfrm>
        </p:spPr>
        <p:txBody>
          <a:bodyPr anchor="b">
            <a:normAutofit/>
          </a:bodyPr>
          <a:lstStyle/>
          <a:p>
            <a:pPr algn="l">
              <a:buNone/>
            </a:pPr>
            <a:r>
              <a:rPr>
                <a:solidFill>
                  <a:srgbClr val="FFFFFF"/>
                </a:solidFill>
              </a:rPr>
              <a:t>Dave Israel (disrael@umd.edu)</a:t>
            </a:r>
          </a:p>
          <a:p>
            <a:pPr algn="l">
              <a:buNone/>
            </a:pPr>
            <a:r>
              <a:rPr>
                <a:solidFill>
                  <a:srgbClr val="FFFFFF"/>
                </a:solidFill>
              </a:rPr>
              <a:t>September 14, 2026</a:t>
            </a:r>
          </a:p>
        </p:txBody>
      </p:sp>
      <p:sp>
        <p:nvSpPr>
          <p:cNvPr id="2083" name="Rectangle 2082">
            <a:extLst>
              <a:ext uri="{FF2B5EF4-FFF2-40B4-BE49-F238E27FC236}">
                <a16:creationId xmlns:a16="http://schemas.microsoft.com/office/drawing/2014/main" id="{4063B759-00FC-46D1-9898-8E8625268FAF}"/>
              </a:ext>
            </a:extLst>
          </p:cNvPr>
          <p:cNvSpPr>
            <a:spLocks noGrp="1"/>
          </p:cNvSpPr>
          <p:nvPr/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7890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The Physical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591C0-FBFF-494B-8AA2-2D69F16F5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305050"/>
            <a:ext cx="9677400" cy="2190750"/>
          </a:xfrm>
        </p:spPr>
        <p:txBody>
          <a:bodyPr lIns="304800" tIns="228600" rIns="304800" bIns="228600" anchor="ctr">
            <a:normAutofit/>
          </a:bodyPr>
          <a:lstStyle/>
          <a:p>
            <a:pPr marL="0" indent="0" algn="ctr">
              <a:lnSpc>
                <a:spcPct val="98000"/>
              </a:lnSpc>
              <a:spcBef>
                <a:spcPts val="0"/>
              </a:spcBef>
              <a:spcAft>
                <a:spcPts val="900"/>
              </a:spcAft>
              <a:buNone/>
              <a:defRPr sz="3375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How much signal power reaches the receiver</a:t>
            </a:r>
            <a:r>
              <a:rPr sz="337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Received Power and Link Geometry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8A612-E74C-068B-10F2-ADD2E903A8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598689-54C9-18A7-3A19-ED76AA08988F}" type="slidenum">
              <a:rPr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B2EB5-D060-4D9F-9C57-776A5B189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lIns="95250" tIns="47625" rIns="95250" bIns="47625" anchor="ctr">
            <a:normAutofit/>
          </a:bodyPr>
          <a:lstStyle/>
          <a:p>
            <a:r>
              <a:t>Tonight’s Three Parts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EF6D7-1AEF-2931-7F73-DBBD46EE3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t>Link Geometry and Slant Range</a:t>
            </a:r>
          </a:p>
          <a:p>
            <a:pPr marL="514350" lvl="0" indent="-514350">
              <a:buFont typeface="+mj-lt"/>
              <a:buAutoNum type="arabicPeriod"/>
            </a:pPr>
            <a:r>
              <a:t>Received Power: Gains and Losses</a:t>
            </a:r>
          </a:p>
          <a:p>
            <a:pPr marL="514350" lvl="0" indent="-514350">
              <a:buFont typeface="+mj-lt"/>
              <a:buAutoNum type="arabicPeriod"/>
            </a:pPr>
            <a:r>
              <a:t>The TERPSat Link Budget and Design Trades</a:t>
            </a:r>
          </a:p>
          <a:p>
            <a:pPr marL="514350" indent="-514350">
              <a:buFont typeface="+mj-lt"/>
              <a:buAutoNum type="arabicPeriod"/>
            </a:pPr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39848-ADED-3165-2B31-5571E33300F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667000" y="6356350"/>
            <a:ext cx="6858000" cy="365125"/>
          </a:xfrm>
        </p:spPr>
        <p:txBody>
          <a:bodyPr/>
          <a:lstStyle/>
          <a:p>
            <a:r>
              <a:t>ENAE 694 • Received Power and Link Geometry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6172A-6130-DD2C-F9DA-650478B69E4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02359C0-8A7A-196E-DD58-8E6569619F09}" type="slidenum">
              <a:rPr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3588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B2EB5-D060-4D9F-9C57-776A5B189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One Link, Two Design Viewpoints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39848-ADED-3165-2B31-5571E33300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Received Power and Link Geometry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6172A-6130-DD2C-F9DA-650478B69E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D6AB9A-5F9E-5F59-51AB-3C8734130965}" type="slidenum">
              <a:rPr/>
              <a:t>4</a:t>
            </a:fld>
            <a:endParaRPr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2591" y="2238375"/>
            <a:ext cx="10206817" cy="3429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3393657-E575-4197-A193-743809244B3C}"/>
              </a:ext>
            </a:extLst>
          </p:cNvPr>
          <p:cNvSpPr>
            <a:spLocks noGrp="1"/>
          </p:cNvSpPr>
          <p:nvPr/>
        </p:nvSpPr>
        <p:spPr>
          <a:xfrm>
            <a:off x="952500" y="1714500"/>
            <a:ext cx="4191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25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Spacecraft Team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BA4D79-C896-4068-A6C3-8B16832F1242}"/>
              </a:ext>
            </a:extLst>
          </p:cNvPr>
          <p:cNvSpPr>
            <a:spLocks noGrp="1"/>
          </p:cNvSpPr>
          <p:nvPr/>
        </p:nvSpPr>
        <p:spPr>
          <a:xfrm>
            <a:off x="7620000" y="1714500"/>
            <a:ext cx="37147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225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Network Provider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1DC590E-5141-4907-A473-FB2DFCF3ADDD}"/>
              </a:ext>
            </a:extLst>
          </p:cNvPr>
          <p:cNvSpPr>
            <a:spLocks noGrp="1"/>
          </p:cNvSpPr>
          <p:nvPr/>
        </p:nvSpPr>
        <p:spPr>
          <a:xfrm>
            <a:off x="3619500" y="3714750"/>
            <a:ext cx="5429250" cy="114300"/>
          </a:xfrm>
          <a:prstGeom prst="rightArrow">
            <a:avLst/>
          </a:prstGeom>
          <a:solidFill>
            <a:srgbClr val="20558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F02BDE-F129-4C13-96B2-C44D124F634D}"/>
              </a:ext>
            </a:extLst>
          </p:cNvPr>
          <p:cNvSpPr>
            <a:spLocks noGrp="1"/>
          </p:cNvSpPr>
          <p:nvPr/>
        </p:nvSpPr>
        <p:spPr>
          <a:xfrm>
            <a:off x="1000125" y="4695825"/>
            <a:ext cx="4905375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Transmit Power and Antenna</a:t>
            </a:r>
          </a:p>
          <a:p>
            <a:pPr algn="l">
              <a:defRPr sz="19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Pointing and Orbit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FB7EBD-00AA-4A1A-AC4A-B121FA0B8D6D}"/>
              </a:ext>
            </a:extLst>
          </p:cNvPr>
          <p:cNvSpPr>
            <a:spLocks noGrp="1"/>
          </p:cNvSpPr>
          <p:nvPr/>
        </p:nvSpPr>
        <p:spPr>
          <a:xfrm>
            <a:off x="6000750" y="5743575"/>
            <a:ext cx="5334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8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Station Antenna and Receiver</a:t>
            </a:r>
          </a:p>
          <a:p>
            <a:pPr algn="r">
              <a:defRPr sz="18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Supported Frequencies and Scheduling</a:t>
            </a:r>
          </a:p>
        </p:txBody>
      </p:sp>
    </p:spTree>
    <p:extLst>
      <p:ext uri="{BB962C8B-B14F-4D97-AF65-F5344CB8AC3E}">
        <p14:creationId xmlns:p14="http://schemas.microsoft.com/office/powerpoint/2010/main" val="2283588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1" name="Picture 2"/>
          <p:cNvPicPr>
            <a:picLocks noChangeAspect="1"/>
          </p:cNvPicPr>
          <p:nvPr/>
        </p:nvPicPr>
        <p:blipFill rotWithShape="1">
          <a:blip r:embed="rId3"/>
          <a:srcRect t="1330" r="2" b="13125"/>
          <a:stretch/>
        </p:blipFill>
        <p:spPr>
          <a:xfrm>
            <a:off x="457202" y="468638"/>
            <a:ext cx="5426764" cy="2611361"/>
          </a:xfrm>
          <a:prstGeom prst="rect">
            <a:avLst/>
          </a:prstGeom>
        </p:spPr>
      </p:pic>
      <p:sp>
        <p:nvSpPr>
          <p:cNvPr id="1045" name="Rectangle 1044">
            <a:extLst>
              <a:ext uri="{FF2B5EF4-FFF2-40B4-BE49-F238E27FC236}">
                <a16:creationId xmlns:a16="http://schemas.microsoft.com/office/drawing/2014/main" id="{417CDA24-35F8-4540-8C52-3096D6D94949}"/>
              </a:ext>
            </a:extLst>
          </p:cNvPr>
          <p:cNvSpPr>
            <a:spLocks noGrp="1"/>
          </p:cNvSpPr>
          <p:nvPr/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053" name="Picture 6"/>
          <p:cNvPicPr>
            <a:picLocks noChangeAspect="1"/>
          </p:cNvPicPr>
          <p:nvPr/>
        </p:nvPicPr>
        <p:blipFill rotWithShape="1">
          <a:blip r:embed="rId4"/>
          <a:srcRect t="2150" r="2" b="16008"/>
          <a:stretch/>
        </p:blipFill>
        <p:spPr>
          <a:xfrm>
            <a:off x="6308034" y="377797"/>
            <a:ext cx="5112595" cy="2793044"/>
          </a:xfrm>
          <a:prstGeom prst="rect">
            <a:avLst/>
          </a:prstGeom>
        </p:spPr>
      </p:pic>
      <p:sp>
        <p:nvSpPr>
          <p:cNvPr id="1044" name="Rectangle 1043">
            <a:extLst>
              <a:ext uri="{FF2B5EF4-FFF2-40B4-BE49-F238E27FC236}">
                <a16:creationId xmlns:a16="http://schemas.microsoft.com/office/drawing/2014/main" id="{8658BFE0-4E65-4174-9C75-687C94E88273}"/>
              </a:ext>
            </a:extLst>
          </p:cNvPr>
          <p:cNvSpPr>
            <a:spLocks noGrp="1"/>
          </p:cNvSpPr>
          <p:nvPr/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FA75DFED-A0C1-4A83-BE1D-0271C1826EF6}"/>
              </a:ext>
            </a:extLst>
          </p:cNvPr>
          <p:cNvSpPr>
            <a:spLocks noGrp="1"/>
          </p:cNvSpPr>
          <p:nvPr/>
        </p:nvSpPr>
        <p:spPr>
          <a:xfrm>
            <a:off x="606552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056" name="Picture 8"/>
          <p:cNvPicPr>
            <a:picLocks noChangeAspect="1"/>
          </p:cNvPicPr>
          <p:nvPr/>
        </p:nvPicPr>
        <p:blipFill rotWithShape="1">
          <a:blip r:embed="rId5"/>
          <a:srcRect r="-2" b="2981"/>
          <a:stretch/>
        </p:blipFill>
        <p:spPr>
          <a:xfrm>
            <a:off x="641305" y="3631096"/>
            <a:ext cx="5058556" cy="276056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8C62F3-31F7-4B03-2672-74307BC9EC4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57201" y="6356350"/>
            <a:ext cx="5426764" cy="365125"/>
          </a:xfrm>
        </p:spPr>
        <p:txBody>
          <a:bodyPr vert="horz" lIns="91440" tIns="45720" rIns="91440" bIns="45720" anchor="ctr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rPr>
              <a:t>ENAE 694 • Received Power and Link Geometry</a:t>
            </a:r>
          </a:p>
        </p:txBody>
      </p:sp>
      <p:pic>
        <p:nvPicPr>
          <p:cNvPr id="1058" name="Picture 6"/>
          <p:cNvPicPr>
            <a:picLocks noChangeAspect="1"/>
          </p:cNvPicPr>
          <p:nvPr/>
        </p:nvPicPr>
        <p:blipFill rotWithShape="1">
          <a:blip r:embed="rId6"/>
          <a:srcRect t="14545" r="-2" b="-2"/>
          <a:stretch/>
        </p:blipFill>
        <p:spPr>
          <a:xfrm>
            <a:off x="6308034" y="3782600"/>
            <a:ext cx="5112595" cy="245755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A3277A-147B-3767-BB3F-329B0715893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anchor="ctr">
            <a:normAutofit/>
          </a:bodyPr>
          <a:lstStyle/>
          <a:p>
            <a:pPr>
              <a:spcAft>
                <a:spcPts val="600"/>
              </a:spcAft>
              <a:buNone/>
            </a:pPr>
            <a:fld id="{EE5B3003-2C54-13C6-9832-7637201064DE}" type="slidenum"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8656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357B1F59-1E81-4B71-9EF8-4DD02C9F6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One Direction at a Time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CEAE83-915E-5D0F-8D47-9B4BCDF2640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2667000" y="6356350"/>
            <a:ext cx="6858000" cy="365125"/>
          </a:xfrm>
        </p:spPr>
        <p:txBody>
          <a:bodyPr/>
          <a:lstStyle/>
          <a:p>
            <a:r>
              <a:t>ENAE 694 • Received Power and Link Geometry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0977EE1-811D-219C-157D-B7C9E612AE2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C630A04-5A25-9E0C-9436-126091DB86B3}" type="slidenum">
              <a:rPr/>
              <a:t>6</a:t>
            </a:fld>
            <a:endParaRPr/>
          </a:p>
        </p:txBody>
      </p:sp>
      <p:sp>
        <p:nvSpPr>
          <p:cNvPr id="117763" name="visual-box">
            <a:extLst>
              <a:ext uri="{FF2B5EF4-FFF2-40B4-BE49-F238E27FC236}">
                <a16:creationId xmlns:a16="http://schemas.microsoft.com/office/drawing/2014/main" id="{84D33BB0-2FE3-40E7-B4CA-F838AA05BD04}"/>
              </a:ext>
            </a:extLst>
          </p:cNvPr>
          <p:cNvSpPr>
            <a:spLocks noGrp="1"/>
          </p:cNvSpPr>
          <p:nvPr/>
        </p:nvSpPr>
        <p:spPr>
          <a:xfrm>
            <a:off x="1238250" y="2571750"/>
            <a:ext cx="1714500" cy="1714500"/>
          </a:xfrm>
          <a:prstGeom prst="ellipse">
            <a:avLst/>
          </a:prstGeom>
          <a:solidFill>
            <a:srgbClr val="FCE4D6"/>
          </a:solidFill>
          <a:ln w="19050">
            <a:solidFill>
              <a:srgbClr val="C659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2550" b="1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TX</a:t>
            </a:r>
          </a:p>
        </p:txBody>
      </p:sp>
      <p:sp>
        <p:nvSpPr>
          <p:cNvPr id="117764" name="visual-box">
            <a:extLst>
              <a:ext uri="{FF2B5EF4-FFF2-40B4-BE49-F238E27FC236}">
                <a16:creationId xmlns:a16="http://schemas.microsoft.com/office/drawing/2014/main" id="{45AB1245-1633-4903-86AD-7BAC864B71AD}"/>
              </a:ext>
            </a:extLst>
          </p:cNvPr>
          <p:cNvSpPr>
            <a:spLocks noGrp="1"/>
          </p:cNvSpPr>
          <p:nvPr/>
        </p:nvSpPr>
        <p:spPr>
          <a:xfrm>
            <a:off x="9239250" y="2571750"/>
            <a:ext cx="1714500" cy="1714500"/>
          </a:xfrm>
          <a:prstGeom prst="ellipse">
            <a:avLst/>
          </a:prstGeom>
          <a:solidFill>
            <a:srgbClr val="EAF2F8"/>
          </a:solidFill>
          <a:ln w="19050">
            <a:solidFill>
              <a:srgbClr val="1F4E7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25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RX</a:t>
            </a:r>
          </a:p>
        </p:txBody>
      </p:sp>
      <p:sp>
        <p:nvSpPr>
          <p:cNvPr id="117765" name="visual-line">
            <a:extLst>
              <a:ext uri="{FF2B5EF4-FFF2-40B4-BE49-F238E27FC236}">
                <a16:creationId xmlns:a16="http://schemas.microsoft.com/office/drawing/2014/main" id="{6453C640-505E-41D4-AFEB-01DB4A8EF566}"/>
              </a:ext>
            </a:extLst>
          </p:cNvPr>
          <p:cNvSpPr>
            <a:spLocks noGrp="1"/>
          </p:cNvSpPr>
          <p:nvPr/>
        </p:nvSpPr>
        <p:spPr>
          <a:xfrm>
            <a:off x="3105150" y="3429000"/>
            <a:ext cx="5962650" cy="95"/>
          </a:xfrm>
          <a:prstGeom prst="line">
            <a:avLst/>
          </a:prstGeom>
          <a:noFill/>
          <a:ln w="47625">
            <a:solidFill>
              <a:srgbClr val="4472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7766" name="wavefront">
            <a:extLst>
              <a:ext uri="{FF2B5EF4-FFF2-40B4-BE49-F238E27FC236}">
                <a16:creationId xmlns:a16="http://schemas.microsoft.com/office/drawing/2014/main" id="{FE6D4789-2DB3-4B58-A751-CAF923CBE428}"/>
              </a:ext>
            </a:extLst>
          </p:cNvPr>
          <p:cNvSpPr>
            <a:spLocks noGrp="1"/>
          </p:cNvSpPr>
          <p:nvPr/>
        </p:nvSpPr>
        <p:spPr>
          <a:xfrm>
            <a:off x="4000500" y="3000375"/>
            <a:ext cx="666750" cy="857250"/>
          </a:xfrm>
          <a:prstGeom prst="arc">
            <a:avLst/>
          </a:prstGeom>
          <a:noFill/>
          <a:ln w="28575">
            <a:solidFill>
              <a:srgbClr val="C659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7767" name="wavefront">
            <a:extLst>
              <a:ext uri="{FF2B5EF4-FFF2-40B4-BE49-F238E27FC236}">
                <a16:creationId xmlns:a16="http://schemas.microsoft.com/office/drawing/2014/main" id="{7BFA47AC-7442-491D-9B3A-04645B07938D}"/>
              </a:ext>
            </a:extLst>
          </p:cNvPr>
          <p:cNvSpPr>
            <a:spLocks noGrp="1"/>
          </p:cNvSpPr>
          <p:nvPr/>
        </p:nvSpPr>
        <p:spPr>
          <a:xfrm>
            <a:off x="5238750" y="3000375"/>
            <a:ext cx="666750" cy="857250"/>
          </a:xfrm>
          <a:prstGeom prst="arc">
            <a:avLst/>
          </a:prstGeom>
          <a:noFill/>
          <a:ln w="28575">
            <a:solidFill>
              <a:srgbClr val="C659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7768" name="wavefront">
            <a:extLst>
              <a:ext uri="{FF2B5EF4-FFF2-40B4-BE49-F238E27FC236}">
                <a16:creationId xmlns:a16="http://schemas.microsoft.com/office/drawing/2014/main" id="{B2FBEE06-FA77-4827-8024-AFDAE1A8B9D3}"/>
              </a:ext>
            </a:extLst>
          </p:cNvPr>
          <p:cNvSpPr>
            <a:spLocks noGrp="1"/>
          </p:cNvSpPr>
          <p:nvPr/>
        </p:nvSpPr>
        <p:spPr>
          <a:xfrm>
            <a:off x="6477000" y="3000375"/>
            <a:ext cx="666750" cy="857250"/>
          </a:xfrm>
          <a:prstGeom prst="arc">
            <a:avLst/>
          </a:prstGeom>
          <a:noFill/>
          <a:ln w="28575">
            <a:solidFill>
              <a:srgbClr val="C659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7769" name="wavefront">
            <a:extLst>
              <a:ext uri="{FF2B5EF4-FFF2-40B4-BE49-F238E27FC236}">
                <a16:creationId xmlns:a16="http://schemas.microsoft.com/office/drawing/2014/main" id="{8DEE06E3-DF6A-4A97-B1D0-9A80674BC32A}"/>
              </a:ext>
            </a:extLst>
          </p:cNvPr>
          <p:cNvSpPr>
            <a:spLocks noGrp="1"/>
          </p:cNvSpPr>
          <p:nvPr/>
        </p:nvSpPr>
        <p:spPr>
          <a:xfrm>
            <a:off x="7715250" y="3000375"/>
            <a:ext cx="666750" cy="857250"/>
          </a:xfrm>
          <a:prstGeom prst="arc">
            <a:avLst/>
          </a:prstGeom>
          <a:noFill/>
          <a:ln w="28575">
            <a:solidFill>
              <a:srgbClr val="C659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7770" name="visual-arrow">
            <a:extLst>
              <a:ext uri="{FF2B5EF4-FFF2-40B4-BE49-F238E27FC236}">
                <a16:creationId xmlns:a16="http://schemas.microsoft.com/office/drawing/2014/main" id="{ADEAFBF9-4526-4FDB-BB79-74CBFE3EFE13}"/>
              </a:ext>
            </a:extLst>
          </p:cNvPr>
          <p:cNvSpPr>
            <a:spLocks noGrp="1"/>
          </p:cNvSpPr>
          <p:nvPr/>
        </p:nvSpPr>
        <p:spPr>
          <a:xfrm>
            <a:off x="7067550" y="3295650"/>
            <a:ext cx="666750" cy="266700"/>
          </a:xfrm>
          <a:prstGeom prst="rightArrow">
            <a:avLst/>
          </a:prstGeom>
          <a:solidFill>
            <a:srgbClr val="C65911"/>
          </a:solidFill>
          <a:ln w="0">
            <a:solidFill>
              <a:srgbClr val="C659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7771" name="visual-label">
            <a:extLst>
              <a:ext uri="{FF2B5EF4-FFF2-40B4-BE49-F238E27FC236}">
                <a16:creationId xmlns:a16="http://schemas.microsoft.com/office/drawing/2014/main" id="{B5625EB4-9157-43C8-88E7-52D75782E67C}"/>
              </a:ext>
            </a:extLst>
          </p:cNvPr>
          <p:cNvSpPr>
            <a:spLocks noGrp="1"/>
          </p:cNvSpPr>
          <p:nvPr/>
        </p:nvSpPr>
        <p:spPr>
          <a:xfrm>
            <a:off x="3429000" y="2076450"/>
            <a:ext cx="533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one transmitter  →  one receiver  →  one direction</a:t>
            </a:r>
          </a:p>
        </p:txBody>
      </p:sp>
      <p:sp>
        <p:nvSpPr>
          <p:cNvPr id="117772" name="visual-label">
            <a:extLst>
              <a:ext uri="{FF2B5EF4-FFF2-40B4-BE49-F238E27FC236}">
                <a16:creationId xmlns:a16="http://schemas.microsoft.com/office/drawing/2014/main" id="{8FAB0AAE-5223-460A-BD6B-82F369775270}"/>
              </a:ext>
            </a:extLst>
          </p:cNvPr>
          <p:cNvSpPr>
            <a:spLocks noGrp="1"/>
          </p:cNvSpPr>
          <p:nvPr/>
        </p:nvSpPr>
        <p:spPr>
          <a:xfrm>
            <a:off x="1428750" y="4514850"/>
            <a:ext cx="933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 i="0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The reciprocal link needs its own budget. Transmitter and receiver parameters can differ.</a:t>
            </a:r>
          </a:p>
        </p:txBody>
      </p:sp>
    </p:spTree>
    <p:extLst>
      <p:ext uri="{BB962C8B-B14F-4D97-AF65-F5344CB8AC3E}">
        <p14:creationId xmlns:p14="http://schemas.microsoft.com/office/powerpoint/2010/main" val="449412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B2EB5-D060-4D9F-9C57-776A5B189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Received Power Is Only a Start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B5C1D-01E6-42ED-8E78-01ED47C14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2925"/>
          </a:xfrm>
        </p:spPr>
        <p:txBody>
          <a:bodyPr lIns="152400" tIns="114300" rIns="152400" bIns="114300" anchor="t">
            <a:normAutofit/>
          </a:bodyPr>
          <a:lstStyle/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Tonight we calculate carrier power at the receiver input</a:t>
            </a:r>
          </a:p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We do not yet know whether the receiver can recover the data</a:t>
            </a:r>
          </a:p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That requires noise, waveform performance, and margin</a:t>
            </a:r>
          </a:p>
          <a:p>
            <a:pPr algn="l">
              <a:lnSpc>
                <a:spcPct val="98000"/>
              </a:lnSpc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 respectable number in dBW is not yet a working communications service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39848-ADED-3165-2B31-5571E33300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Received Power and Link Geometry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6172A-6130-DD2C-F9DA-650478B69E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3D7D1C8-AE23-AA48-DF65-C742588DBE47}" type="slidenum">
              <a:rPr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3588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When Does a Path Exist?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Received Power and Link Geometry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8A612-E74C-068B-10F2-ADD2E903A8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A58DA2A-B818-18A9-29C1-B697728D5BCE}" type="slidenum">
              <a:rPr/>
              <a:t>8</a:t>
            </a:fld>
            <a:endParaRPr/>
          </a:p>
        </p:txBody>
      </p:sp>
      <p:sp>
        <p:nvSpPr>
          <p:cNvPr id="7" name="visual-label">
            <a:extLst>
              <a:ext uri="{FF2B5EF4-FFF2-40B4-BE49-F238E27FC236}">
                <a16:creationId xmlns:a16="http://schemas.microsoft.com/office/drawing/2014/main" id="{6E560CEA-6864-4B74-BB1D-A7986642E1EA}"/>
              </a:ext>
            </a:extLst>
          </p:cNvPr>
          <p:cNvSpPr>
            <a:spLocks noGrp="1"/>
          </p:cNvSpPr>
          <p:nvPr/>
        </p:nvSpPr>
        <p:spPr>
          <a:xfrm>
            <a:off x="952500" y="1809750"/>
            <a:ext cx="3667125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1  Earth, terrain, or structures</a:t>
            </a:r>
          </a:p>
          <a:p>
            <a:pPr algn="l">
              <a:buNone/>
              <a:defRPr sz="1500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    can block line of sight</a:t>
            </a:r>
          </a:p>
          <a:p>
            <a:endParaRPr sz="1500" b="1" i="0">
              <a:solidFill>
                <a:srgbClr val="1F4E79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500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2  Service begins above eₘᵢₙ</a:t>
            </a:r>
          </a:p>
          <a:p>
            <a:endParaRPr sz="1500" b="1" i="0">
              <a:solidFill>
                <a:srgbClr val="1F4E79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500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3  Slant range R(t) changes</a:t>
            </a:r>
          </a:p>
          <a:p>
            <a:pPr algn="l">
              <a:buNone/>
              <a:defRPr sz="1500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    throughout the pass</a:t>
            </a:r>
          </a:p>
          <a:p>
            <a:endParaRPr sz="1500" b="1" i="0">
              <a:solidFill>
                <a:srgbClr val="1F4E79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500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4  Design to the worst useful</a:t>
            </a:r>
          </a:p>
          <a:p>
            <a:pPr algn="l">
              <a:buNone/>
              <a:defRPr sz="1500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    geometry—not merely visibility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70907BA-7551-42E0-AE5F-688C95FB6D27}"/>
              </a:ext>
            </a:extLst>
          </p:cNvPr>
          <p:cNvSpPr>
            <a:spLocks noGrp="1"/>
          </p:cNvSpPr>
          <p:nvPr/>
        </p:nvSpPr>
        <p:spPr>
          <a:xfrm>
            <a:off x="5238750" y="3952875"/>
            <a:ext cx="5619750" cy="2143125"/>
          </a:xfrm>
          <a:prstGeom prst="ellipse">
            <a:avLst/>
          </a:prstGeom>
          <a:solidFill>
            <a:srgbClr val="EDF4F9"/>
          </a:solidFill>
          <a:ln w="28575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D48FAA7B-C400-460D-8714-C4C40CEE5E4A}"/>
              </a:ext>
            </a:extLst>
          </p:cNvPr>
          <p:cNvSpPr>
            <a:spLocks noGrp="1"/>
          </p:cNvSpPr>
          <p:nvPr/>
        </p:nvSpPr>
        <p:spPr>
          <a:xfrm>
            <a:off x="7953375" y="3924300"/>
            <a:ext cx="3429000" cy="0"/>
          </a:xfrm>
          <a:prstGeom prst="line">
            <a:avLst/>
          </a:prstGeom>
          <a:noFill/>
          <a:ln w="19050">
            <a:solidFill>
              <a:srgbClr val="7E889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C33D04E0-D806-4457-82CE-99FE40DEA8A1}"/>
              </a:ext>
            </a:extLst>
          </p:cNvPr>
          <p:cNvSpPr>
            <a:spLocks noGrp="1"/>
          </p:cNvSpPr>
          <p:nvPr/>
        </p:nvSpPr>
        <p:spPr>
          <a:xfrm rot="-957600">
            <a:off x="7888034" y="3443288"/>
            <a:ext cx="3569303" cy="0"/>
          </a:xfrm>
          <a:prstGeom prst="line">
            <a:avLst/>
          </a:prstGeom>
          <a:noFill/>
          <a:ln w="28575">
            <a:solidFill>
              <a:srgbClr val="7393A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8E67A5C3-4823-4161-A128-05DA804FBFBF}"/>
              </a:ext>
            </a:extLst>
          </p:cNvPr>
          <p:cNvSpPr>
            <a:spLocks noGrp="1"/>
          </p:cNvSpPr>
          <p:nvPr/>
        </p:nvSpPr>
        <p:spPr>
          <a:xfrm rot="-1793400">
            <a:off x="7722870" y="3100388"/>
            <a:ext cx="3347085" cy="0"/>
          </a:xfrm>
          <a:prstGeom prst="line">
            <a:avLst/>
          </a:prstGeom>
          <a:noFill/>
          <a:ln w="3810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0004504-52E6-4319-8F05-F18FA67896B8}"/>
              </a:ext>
            </a:extLst>
          </p:cNvPr>
          <p:cNvSpPr>
            <a:spLocks noGrp="1"/>
          </p:cNvSpPr>
          <p:nvPr/>
        </p:nvSpPr>
        <p:spPr>
          <a:xfrm>
            <a:off x="7877175" y="3857625"/>
            <a:ext cx="152400" cy="152400"/>
          </a:xfrm>
          <a:prstGeom prst="ellipse">
            <a:avLst/>
          </a:prstGeom>
          <a:solidFill>
            <a:srgbClr val="20558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A05033B-8FD4-4E16-BB27-EB3E880DB4D8}"/>
              </a:ext>
            </a:extLst>
          </p:cNvPr>
          <p:cNvSpPr>
            <a:spLocks noGrp="1"/>
          </p:cNvSpPr>
          <p:nvPr/>
        </p:nvSpPr>
        <p:spPr>
          <a:xfrm>
            <a:off x="10839450" y="1752600"/>
            <a:ext cx="876300" cy="523875"/>
          </a:xfrm>
          <a:prstGeom prst="roundRect">
            <a:avLst>
              <a:gd name="adj" fmla="val 14545"/>
            </a:avLst>
          </a:prstGeom>
          <a:solidFill>
            <a:srgbClr val="EDF4F9"/>
          </a:solidFill>
          <a:ln w="19050">
            <a:solidFill>
              <a:srgbClr val="2055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A1845F-12D8-454A-852E-0F76D548D81A}"/>
              </a:ext>
            </a:extLst>
          </p:cNvPr>
          <p:cNvSpPr>
            <a:spLocks noGrp="1"/>
          </p:cNvSpPr>
          <p:nvPr/>
        </p:nvSpPr>
        <p:spPr>
          <a:xfrm>
            <a:off x="10953750" y="1838325"/>
            <a:ext cx="6667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S/C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7BD4D9-74B5-43C7-8F94-21C1F2C805CA}"/>
              </a:ext>
            </a:extLst>
          </p:cNvPr>
          <p:cNvSpPr>
            <a:spLocks noGrp="1"/>
          </p:cNvSpPr>
          <p:nvPr/>
        </p:nvSpPr>
        <p:spPr>
          <a:xfrm>
            <a:off x="6381750" y="3476625"/>
            <a:ext cx="195262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Ground Station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3590F5-27B0-4330-804D-E5E5B49F301B}"/>
              </a:ext>
            </a:extLst>
          </p:cNvPr>
          <p:cNvSpPr>
            <a:spLocks noGrp="1"/>
          </p:cNvSpPr>
          <p:nvPr/>
        </p:nvSpPr>
        <p:spPr>
          <a:xfrm>
            <a:off x="9372600" y="4029075"/>
            <a:ext cx="23431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Local Horizon (0°)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EE4A73-0828-4261-8D99-AB1386EA06D6}"/>
              </a:ext>
            </a:extLst>
          </p:cNvPr>
          <p:cNvSpPr>
            <a:spLocks noGrp="1"/>
          </p:cNvSpPr>
          <p:nvPr/>
        </p:nvSpPr>
        <p:spPr>
          <a:xfrm>
            <a:off x="9305925" y="3352800"/>
            <a:ext cx="2381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Minimum Elevation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789280-046F-45FE-B85A-8069F9E93FAD}"/>
              </a:ext>
            </a:extLst>
          </p:cNvPr>
          <p:cNvSpPr>
            <a:spLocks noGrp="1"/>
          </p:cNvSpPr>
          <p:nvPr/>
        </p:nvSpPr>
        <p:spPr>
          <a:xfrm>
            <a:off x="8620125" y="2305050"/>
            <a:ext cx="2381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Slant Range R(t)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9839327-C5AB-4278-BE7B-2EC423E06DEA}"/>
              </a:ext>
            </a:extLst>
          </p:cNvPr>
          <p:cNvSpPr>
            <a:spLocks noGrp="1"/>
          </p:cNvSpPr>
          <p:nvPr/>
        </p:nvSpPr>
        <p:spPr>
          <a:xfrm>
            <a:off x="6858000" y="5191125"/>
            <a:ext cx="2286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250" b="0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Earth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8441B5-4A29-4FE3-8E00-F13BA96D7CEB}"/>
              </a:ext>
            </a:extLst>
          </p:cNvPr>
          <p:cNvSpPr>
            <a:spLocks noGrp="1"/>
          </p:cNvSpPr>
          <p:nvPr/>
        </p:nvSpPr>
        <p:spPr>
          <a:xfrm>
            <a:off x="5429250" y="6200775"/>
            <a:ext cx="6096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Higher Elevation Mask: Shorter Maximum Range, Less Contact Time</a:t>
            </a:r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32AA2-4FC2-401D-A90C-7983DD463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A Pass Is Not One Range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8AA49A-754E-036B-F054-15AAAF0632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Received Power and Link Geometry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D177F-236A-7D0C-CBDB-826FC95B41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88657AE-30A1-5A7A-6A7F-315D84436430}" type="slidenum">
              <a:rPr/>
              <a:t>9</a:t>
            </a:fld>
            <a:endParaRPr/>
          </a:p>
        </p:txBody>
      </p:sp>
      <p:pic>
        <p:nvPicPr>
          <p:cNvPr id="18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762149" y="1619250"/>
            <a:ext cx="7582102" cy="4267200"/>
          </a:xfrm>
          <a:prstGeom prst="rect">
            <a:avLst/>
          </a:prstGeom>
        </p:spPr>
      </p:pic>
      <p:sp>
        <p:nvSpPr>
          <p:cNvPr id="8" name="visual-label">
            <a:extLst>
              <a:ext uri="{FF2B5EF4-FFF2-40B4-BE49-F238E27FC236}">
                <a16:creationId xmlns:a16="http://schemas.microsoft.com/office/drawing/2014/main" id="{62D4515A-F4CA-4385-9EEC-6ABF7B402DAF}"/>
              </a:ext>
            </a:extLst>
          </p:cNvPr>
          <p:cNvSpPr>
            <a:spLocks noGrp="1"/>
          </p:cNvSpPr>
          <p:nvPr/>
        </p:nvSpPr>
        <p:spPr>
          <a:xfrm>
            <a:off x="809625" y="1905000"/>
            <a:ext cx="1952625" cy="2762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AOS</a:t>
            </a:r>
          </a:p>
          <a:p>
            <a:pPr algn="ctr">
              <a:buNone/>
              <a:defRPr sz="1425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long range</a:t>
            </a:r>
          </a:p>
          <a:p>
            <a:pPr algn="ctr">
              <a:buNone/>
              <a:defRPr sz="1425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weakest power</a:t>
            </a:r>
          </a:p>
          <a:p>
            <a:endParaRPr sz="1425" b="1" i="0">
              <a:solidFill>
                <a:srgbClr val="1F4E79"/>
              </a:solidFill>
              <a:latin typeface="Calibri"/>
              <a:ea typeface="Calibri"/>
              <a:cs typeface="Calibri"/>
            </a:endParaRPr>
          </a:p>
          <a:p>
            <a:pPr algn="ctr">
              <a:buNone/>
              <a:defRPr sz="1425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MAXIMUM</a:t>
            </a:r>
          </a:p>
          <a:p>
            <a:pPr algn="ctr">
              <a:buNone/>
              <a:defRPr sz="1425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ELEVATION</a:t>
            </a:r>
          </a:p>
          <a:p>
            <a:pPr algn="ctr">
              <a:buNone/>
              <a:defRPr sz="1425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shortest range</a:t>
            </a:r>
          </a:p>
          <a:p>
            <a:pPr algn="ctr">
              <a:buNone/>
              <a:defRPr sz="1425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strongest power</a:t>
            </a:r>
          </a:p>
          <a:p>
            <a:endParaRPr sz="1425" b="1" i="0">
              <a:solidFill>
                <a:srgbClr val="1F4E79"/>
              </a:solidFill>
              <a:latin typeface="Calibri"/>
              <a:ea typeface="Calibri"/>
              <a:cs typeface="Calibri"/>
            </a:endParaRPr>
          </a:p>
          <a:p>
            <a:pPr algn="ctr">
              <a:buNone/>
              <a:defRPr sz="1425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LOS</a:t>
            </a:r>
          </a:p>
          <a:p>
            <a:pPr algn="ctr">
              <a:buNone/>
              <a:defRPr sz="1425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long range</a:t>
            </a:r>
          </a:p>
          <a:p>
            <a:pPr algn="ctr">
              <a:buNone/>
              <a:defRPr sz="1425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weakest power</a:t>
            </a:r>
          </a:p>
        </p:txBody>
      </p:sp>
      <p:sp>
        <p:nvSpPr>
          <p:cNvPr id="9" name="visual-box">
            <a:extLst>
              <a:ext uri="{FF2B5EF4-FFF2-40B4-BE49-F238E27FC236}">
                <a16:creationId xmlns:a16="http://schemas.microsoft.com/office/drawing/2014/main" id="{E471AA69-8513-4726-AC08-8F97B2A01E63}"/>
              </a:ext>
            </a:extLst>
          </p:cNvPr>
          <p:cNvSpPr>
            <a:spLocks noGrp="1"/>
          </p:cNvSpPr>
          <p:nvPr/>
        </p:nvSpPr>
        <p:spPr>
          <a:xfrm>
            <a:off x="2905125" y="1771650"/>
            <a:ext cx="1238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RISING</a:t>
            </a:r>
          </a:p>
        </p:txBody>
      </p:sp>
      <p:sp>
        <p:nvSpPr>
          <p:cNvPr id="10" name="visual-box">
            <a:extLst>
              <a:ext uri="{FF2B5EF4-FFF2-40B4-BE49-F238E27FC236}">
                <a16:creationId xmlns:a16="http://schemas.microsoft.com/office/drawing/2014/main" id="{CEC4389A-EDEC-465F-9A96-E23E6DB8B975}"/>
              </a:ext>
            </a:extLst>
          </p:cNvPr>
          <p:cNvSpPr>
            <a:spLocks noGrp="1"/>
          </p:cNvSpPr>
          <p:nvPr/>
        </p:nvSpPr>
        <p:spPr>
          <a:xfrm>
            <a:off x="5486400" y="1752600"/>
            <a:ext cx="1352550" cy="400050"/>
          </a:xfrm>
          <a:prstGeom prst="roundRect">
            <a:avLst>
              <a:gd name="adj" fmla="val 14286"/>
            </a:avLst>
          </a:prstGeom>
          <a:solidFill>
            <a:srgbClr val="FCE4D6"/>
          </a:solidFill>
          <a:ln w="19050">
            <a:solidFill>
              <a:srgbClr val="C659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OVERHEAD</a:t>
            </a:r>
          </a:p>
        </p:txBody>
      </p:sp>
      <p:sp>
        <p:nvSpPr>
          <p:cNvPr id="11" name="visual-box">
            <a:extLst>
              <a:ext uri="{FF2B5EF4-FFF2-40B4-BE49-F238E27FC236}">
                <a16:creationId xmlns:a16="http://schemas.microsoft.com/office/drawing/2014/main" id="{C3780532-7D7B-4F69-B362-2E34F309E575}"/>
              </a:ext>
            </a:extLst>
          </p:cNvPr>
          <p:cNvSpPr>
            <a:spLocks noGrp="1"/>
          </p:cNvSpPr>
          <p:nvPr/>
        </p:nvSpPr>
        <p:spPr>
          <a:xfrm>
            <a:off x="9096375" y="1771650"/>
            <a:ext cx="1238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SETTING</a:t>
            </a:r>
          </a:p>
        </p:txBody>
      </p:sp>
      <p:sp>
        <p:nvSpPr>
          <p:cNvPr id="12" name="visual-label">
            <a:extLst>
              <a:ext uri="{FF2B5EF4-FFF2-40B4-BE49-F238E27FC236}">
                <a16:creationId xmlns:a16="http://schemas.microsoft.com/office/drawing/2014/main" id="{A9458AC7-9686-4F11-A000-4A8BF6C2764F}"/>
              </a:ext>
            </a:extLst>
          </p:cNvPr>
          <p:cNvSpPr>
            <a:spLocks noGrp="1"/>
          </p:cNvSpPr>
          <p:nvPr/>
        </p:nvSpPr>
        <p:spPr>
          <a:xfrm>
            <a:off x="3000375" y="5391150"/>
            <a:ext cx="7334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0" i="1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500" b="0" i="1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Range, path loss, and pointing change continuously.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C18987-95EE-4455-B7A9-935DF6FDC12C}"/>
              </a:ext>
            </a:extLst>
          </p:cNvPr>
          <p:cNvSpPr>
            <a:spLocks noGrp="1"/>
          </p:cNvSpPr>
          <p:nvPr/>
        </p:nvSpPr>
        <p:spPr>
          <a:xfrm>
            <a:off x="1905000" y="5934075"/>
            <a:ext cx="8382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0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AOS = Acquisition of Signal     LOS = Loss of Signal</a:t>
            </a:r>
          </a:p>
        </p:txBody>
      </p:sp>
    </p:spTree>
    <p:extLst>
      <p:ext uri="{BB962C8B-B14F-4D97-AF65-F5344CB8AC3E}">
        <p14:creationId xmlns:p14="http://schemas.microsoft.com/office/powerpoint/2010/main" val="2608522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B2EB5-D060-4D9F-9C57-776A5B189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TERPSat Link Geometry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39848-ADED-3165-2B31-5571E33300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Received Power and Link Geometry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6172A-6130-DD2C-F9DA-650478B69E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B7BEEEC-A170-5376-2B6E-CB54687B0CB1}" type="slidenum">
              <a:rPr/>
              <a:t>10</a:t>
            </a:fld>
            <a:endParaRPr/>
          </a:p>
        </p:txBody>
      </p:sp>
      <p:sp>
        <p:nvSpPr>
          <p:cNvPr id="7" name="visual-label">
            <a:extLst>
              <a:ext uri="{FF2B5EF4-FFF2-40B4-BE49-F238E27FC236}">
                <a16:creationId xmlns:a16="http://schemas.microsoft.com/office/drawing/2014/main" id="{D0829721-640F-4001-BC59-5C97E49BD9B5}"/>
              </a:ext>
            </a:extLst>
          </p:cNvPr>
          <p:cNvSpPr>
            <a:spLocks noGrp="1"/>
          </p:cNvSpPr>
          <p:nvPr/>
        </p:nvSpPr>
        <p:spPr>
          <a:xfrm>
            <a:off x="952500" y="1809750"/>
            <a:ext cx="34290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725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EARTH RADIUS</a:t>
            </a:r>
          </a:p>
          <a:p>
            <a:pPr algn="ctr">
              <a:buNone/>
              <a:defRPr sz="1725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6,378 km</a:t>
            </a:r>
          </a:p>
          <a:p>
            <a:endParaRPr sz="1725" b="1" i="0">
              <a:solidFill>
                <a:srgbClr val="1F4E79"/>
              </a:solidFill>
              <a:latin typeface="Calibri"/>
              <a:ea typeface="Calibri"/>
              <a:cs typeface="Calibri"/>
            </a:endParaRPr>
          </a:p>
          <a:p>
            <a:pPr algn="ctr">
              <a:buNone/>
              <a:defRPr sz="1725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ORBIT ALTITUDE</a:t>
            </a:r>
          </a:p>
          <a:p>
            <a:pPr algn="ctr">
              <a:buNone/>
              <a:defRPr sz="1725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705 km</a:t>
            </a:r>
          </a:p>
          <a:p>
            <a:endParaRPr sz="1725" b="1" i="0">
              <a:solidFill>
                <a:srgbClr val="1F4E79"/>
              </a:solidFill>
              <a:latin typeface="Calibri"/>
              <a:ea typeface="Calibri"/>
              <a:cs typeface="Calibri"/>
            </a:endParaRPr>
          </a:p>
          <a:p>
            <a:pPr algn="ctr">
              <a:buNone/>
              <a:defRPr sz="1725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MINIMUM ELEVATION</a:t>
            </a:r>
          </a:p>
          <a:p>
            <a:pPr algn="ctr">
              <a:buNone/>
              <a:defRPr sz="1725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5°</a:t>
            </a:r>
          </a:p>
        </p:txBody>
      </p:sp>
      <p:sp>
        <p:nvSpPr>
          <p:cNvPr id="9" name="earth-cross-section">
            <a:extLst>
              <a:ext uri="{FF2B5EF4-FFF2-40B4-BE49-F238E27FC236}">
                <a16:creationId xmlns:a16="http://schemas.microsoft.com/office/drawing/2014/main" id="{31E244E8-9BA3-474D-BE9B-8F5DA826229A}"/>
              </a:ext>
            </a:extLst>
          </p:cNvPr>
          <p:cNvSpPr>
            <a:spLocks noGrp="1"/>
          </p:cNvSpPr>
          <p:nvPr/>
        </p:nvSpPr>
        <p:spPr>
          <a:xfrm>
            <a:off x="5715000" y="2905125"/>
            <a:ext cx="3429000" cy="3429000"/>
          </a:xfrm>
          <a:prstGeom prst="ellipse">
            <a:avLst/>
          </a:prstGeom>
          <a:noFill/>
          <a:ln w="381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visual-line">
            <a:extLst>
              <a:ext uri="{FF2B5EF4-FFF2-40B4-BE49-F238E27FC236}">
                <a16:creationId xmlns:a16="http://schemas.microsoft.com/office/drawing/2014/main" id="{DFE60B51-9840-4946-BC91-1CE6F1EB6BE4}"/>
              </a:ext>
            </a:extLst>
          </p:cNvPr>
          <p:cNvSpPr>
            <a:spLocks noGrp="1"/>
          </p:cNvSpPr>
          <p:nvPr/>
        </p:nvSpPr>
        <p:spPr>
          <a:xfrm>
            <a:off x="7429500" y="2905125"/>
            <a:ext cx="95" cy="1714500"/>
          </a:xfrm>
          <a:prstGeom prst="line">
            <a:avLst/>
          </a:prstGeom>
          <a:noFill/>
          <a:ln w="28575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visual-line">
            <a:extLst>
              <a:ext uri="{FF2B5EF4-FFF2-40B4-BE49-F238E27FC236}">
                <a16:creationId xmlns:a16="http://schemas.microsoft.com/office/drawing/2014/main" id="{D7077BC7-883F-451A-A683-CF7D69F7BBDE}"/>
              </a:ext>
            </a:extLst>
          </p:cNvPr>
          <p:cNvSpPr>
            <a:spLocks noGrp="1"/>
          </p:cNvSpPr>
          <p:nvPr/>
        </p:nvSpPr>
        <p:spPr>
          <a:xfrm flipV="1">
            <a:off x="7429500" y="2619375"/>
            <a:ext cx="3238500" cy="2000250"/>
          </a:xfrm>
          <a:prstGeom prst="line">
            <a:avLst/>
          </a:prstGeom>
          <a:noFill/>
          <a:ln w="28575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visual-line">
            <a:extLst>
              <a:ext uri="{FF2B5EF4-FFF2-40B4-BE49-F238E27FC236}">
                <a16:creationId xmlns:a16="http://schemas.microsoft.com/office/drawing/2014/main" id="{A573A1EE-C2F5-468F-B7BF-B29005BCB61A}"/>
              </a:ext>
            </a:extLst>
          </p:cNvPr>
          <p:cNvSpPr>
            <a:spLocks noGrp="1"/>
          </p:cNvSpPr>
          <p:nvPr/>
        </p:nvSpPr>
        <p:spPr>
          <a:xfrm flipV="1">
            <a:off x="7429500" y="2619375"/>
            <a:ext cx="3238500" cy="285750"/>
          </a:xfrm>
          <a:prstGeom prst="line">
            <a:avLst/>
          </a:prstGeom>
          <a:noFill/>
          <a:ln w="47625">
            <a:solidFill>
              <a:srgbClr val="C659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visual-line">
            <a:extLst>
              <a:ext uri="{FF2B5EF4-FFF2-40B4-BE49-F238E27FC236}">
                <a16:creationId xmlns:a16="http://schemas.microsoft.com/office/drawing/2014/main" id="{DEE9AFB4-9EB2-4313-906D-013D00015CD3}"/>
              </a:ext>
            </a:extLst>
          </p:cNvPr>
          <p:cNvSpPr>
            <a:spLocks noGrp="1"/>
          </p:cNvSpPr>
          <p:nvPr/>
        </p:nvSpPr>
        <p:spPr>
          <a:xfrm>
            <a:off x="7429500" y="2905125"/>
            <a:ext cx="2286000" cy="95"/>
          </a:xfrm>
          <a:prstGeom prst="line">
            <a:avLst/>
          </a:prstGeom>
          <a:noFill/>
          <a:ln w="19050">
            <a:solidFill>
              <a:srgbClr val="667085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4" name="visual-point">
            <a:extLst>
              <a:ext uri="{FF2B5EF4-FFF2-40B4-BE49-F238E27FC236}">
                <a16:creationId xmlns:a16="http://schemas.microsoft.com/office/drawing/2014/main" id="{3D350B6E-58BA-4026-94C4-93F74557F1EB}"/>
              </a:ext>
            </a:extLst>
          </p:cNvPr>
          <p:cNvSpPr>
            <a:spLocks noGrp="1"/>
          </p:cNvSpPr>
          <p:nvPr/>
        </p:nvSpPr>
        <p:spPr>
          <a:xfrm>
            <a:off x="7353300" y="4543425"/>
            <a:ext cx="152400" cy="152400"/>
          </a:xfrm>
          <a:prstGeom prst="ellipse">
            <a:avLst/>
          </a:prstGeom>
          <a:solidFill>
            <a:srgbClr val="1F4E7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visual-point">
            <a:extLst>
              <a:ext uri="{FF2B5EF4-FFF2-40B4-BE49-F238E27FC236}">
                <a16:creationId xmlns:a16="http://schemas.microsoft.com/office/drawing/2014/main" id="{9138A04A-B004-4DDF-84BF-0A2536D7EA71}"/>
              </a:ext>
            </a:extLst>
          </p:cNvPr>
          <p:cNvSpPr>
            <a:spLocks noGrp="1"/>
          </p:cNvSpPr>
          <p:nvPr/>
        </p:nvSpPr>
        <p:spPr>
          <a:xfrm>
            <a:off x="7353300" y="2828925"/>
            <a:ext cx="152400" cy="152400"/>
          </a:xfrm>
          <a:prstGeom prst="ellipse">
            <a:avLst/>
          </a:prstGeom>
          <a:solidFill>
            <a:srgbClr val="1F4E7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visual-box">
            <a:extLst>
              <a:ext uri="{FF2B5EF4-FFF2-40B4-BE49-F238E27FC236}">
                <a16:creationId xmlns:a16="http://schemas.microsoft.com/office/drawing/2014/main" id="{EA6458A1-ABFA-42B2-A144-C4C98121082B}"/>
              </a:ext>
            </a:extLst>
          </p:cNvPr>
          <p:cNvSpPr>
            <a:spLocks noGrp="1"/>
          </p:cNvSpPr>
          <p:nvPr/>
        </p:nvSpPr>
        <p:spPr>
          <a:xfrm>
            <a:off x="10287000" y="2286000"/>
            <a:ext cx="838200" cy="552450"/>
          </a:xfrm>
          <a:prstGeom prst="roundRect">
            <a:avLst>
              <a:gd name="adj" fmla="val 10345"/>
            </a:avLst>
          </a:prstGeom>
          <a:solidFill>
            <a:srgbClr val="FCE4D6"/>
          </a:solidFill>
          <a:ln w="19050">
            <a:solidFill>
              <a:srgbClr val="C659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S/C</a:t>
            </a:r>
          </a:p>
        </p:txBody>
      </p:sp>
      <p:sp>
        <p:nvSpPr>
          <p:cNvPr id="17" name="visual-label">
            <a:extLst>
              <a:ext uri="{FF2B5EF4-FFF2-40B4-BE49-F238E27FC236}">
                <a16:creationId xmlns:a16="http://schemas.microsoft.com/office/drawing/2014/main" id="{2D3351A3-87B2-401A-98BD-5BB017153517}"/>
              </a:ext>
            </a:extLst>
          </p:cNvPr>
          <p:cNvSpPr>
            <a:spLocks noGrp="1"/>
          </p:cNvSpPr>
          <p:nvPr/>
        </p:nvSpPr>
        <p:spPr>
          <a:xfrm>
            <a:off x="6667500" y="3619500"/>
            <a:ext cx="114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725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Rₑ</a:t>
            </a:r>
          </a:p>
        </p:txBody>
      </p:sp>
      <p:sp>
        <p:nvSpPr>
          <p:cNvPr id="18" name="visual-label">
            <a:extLst>
              <a:ext uri="{FF2B5EF4-FFF2-40B4-BE49-F238E27FC236}">
                <a16:creationId xmlns:a16="http://schemas.microsoft.com/office/drawing/2014/main" id="{9E303FE9-9B84-41A9-9ADC-937730802A6D}"/>
              </a:ext>
            </a:extLst>
          </p:cNvPr>
          <p:cNvSpPr>
            <a:spLocks noGrp="1"/>
          </p:cNvSpPr>
          <p:nvPr/>
        </p:nvSpPr>
        <p:spPr>
          <a:xfrm>
            <a:off x="8953500" y="3895725"/>
            <a:ext cx="142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 i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Rₑ + h</a:t>
            </a:r>
          </a:p>
        </p:txBody>
      </p:sp>
      <p:sp>
        <p:nvSpPr>
          <p:cNvPr id="19" name="visual-label">
            <a:extLst>
              <a:ext uri="{FF2B5EF4-FFF2-40B4-BE49-F238E27FC236}">
                <a16:creationId xmlns:a16="http://schemas.microsoft.com/office/drawing/2014/main" id="{81E82E9D-8981-4C89-B168-A6103483C031}"/>
              </a:ext>
            </a:extLst>
          </p:cNvPr>
          <p:cNvSpPr>
            <a:spLocks noGrp="1"/>
          </p:cNvSpPr>
          <p:nvPr/>
        </p:nvSpPr>
        <p:spPr>
          <a:xfrm>
            <a:off x="8858250" y="2266950"/>
            <a:ext cx="114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950" b="1" i="0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d</a:t>
            </a:r>
          </a:p>
        </p:txBody>
      </p:sp>
      <p:sp>
        <p:nvSpPr>
          <p:cNvPr id="20" name="visual-label">
            <a:extLst>
              <a:ext uri="{FF2B5EF4-FFF2-40B4-BE49-F238E27FC236}">
                <a16:creationId xmlns:a16="http://schemas.microsoft.com/office/drawing/2014/main" id="{1EE27EED-BCD4-4854-9A46-A8FEB698A3FE}"/>
              </a:ext>
            </a:extLst>
          </p:cNvPr>
          <p:cNvSpPr>
            <a:spLocks noGrp="1"/>
          </p:cNvSpPr>
          <p:nvPr/>
        </p:nvSpPr>
        <p:spPr>
          <a:xfrm>
            <a:off x="7572375" y="2419350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 i="0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e = 5°</a:t>
            </a:r>
          </a:p>
        </p:txBody>
      </p:sp>
    </p:spTree>
    <p:extLst>
      <p:ext uri="{BB962C8B-B14F-4D97-AF65-F5344CB8AC3E}">
        <p14:creationId xmlns:p14="http://schemas.microsoft.com/office/powerpoint/2010/main" val="2283588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32AA2-4FC2-401D-A90C-7983DD463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Calculating Slant Range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8AA49A-754E-036B-F054-15AAAF0632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Received Power and Link Geometry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D177F-236A-7D0C-CBDB-826FC95B41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0394428-F1DC-E5F6-DB0C-7DE31F3D8A23}" type="slidenum">
              <a:rPr/>
              <a:t>11</a:t>
            </a:fld>
            <a:endParaRPr/>
          </a:p>
        </p:txBody>
      </p:sp>
      <p:sp>
        <p:nvSpPr>
          <p:cNvPr id="7" name="visual-label">
            <a:extLst>
              <a:ext uri="{FF2B5EF4-FFF2-40B4-BE49-F238E27FC236}">
                <a16:creationId xmlns:a16="http://schemas.microsoft.com/office/drawing/2014/main" id="{32ABF151-9B8A-42B9-8C2F-D412FFFAC4C3}"/>
              </a:ext>
            </a:extLst>
          </p:cNvPr>
          <p:cNvSpPr>
            <a:spLocks noGrp="1"/>
          </p:cNvSpPr>
          <p:nvPr/>
        </p:nvSpPr>
        <p:spPr>
          <a:xfrm>
            <a:off x="904875" y="1885950"/>
            <a:ext cx="6191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2025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d =</a:t>
            </a:r>
          </a:p>
        </p:txBody>
      </p:sp>
      <p:sp>
        <p:nvSpPr>
          <p:cNvPr id="8" name="visual-line">
            <a:extLst>
              <a:ext uri="{FF2B5EF4-FFF2-40B4-BE49-F238E27FC236}">
                <a16:creationId xmlns:a16="http://schemas.microsoft.com/office/drawing/2014/main" id="{0F62FD8B-5823-40CB-A97C-6D46140C6336}"/>
              </a:ext>
            </a:extLst>
          </p:cNvPr>
          <p:cNvSpPr>
            <a:spLocks noGrp="1"/>
          </p:cNvSpPr>
          <p:nvPr/>
        </p:nvSpPr>
        <p:spPr>
          <a:xfrm>
            <a:off x="1562100" y="2152650"/>
            <a:ext cx="114300" cy="133350"/>
          </a:xfrm>
          <a:prstGeom prst="line">
            <a:avLst/>
          </a:prstGeom>
          <a:noFill/>
          <a:ln w="381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visual-line">
            <a:extLst>
              <a:ext uri="{FF2B5EF4-FFF2-40B4-BE49-F238E27FC236}">
                <a16:creationId xmlns:a16="http://schemas.microsoft.com/office/drawing/2014/main" id="{EC0B2741-7ECC-4B9E-B196-CAA15CF504AA}"/>
              </a:ext>
            </a:extLst>
          </p:cNvPr>
          <p:cNvSpPr>
            <a:spLocks noGrp="1"/>
          </p:cNvSpPr>
          <p:nvPr/>
        </p:nvSpPr>
        <p:spPr>
          <a:xfrm flipV="1">
            <a:off x="1676400" y="1809750"/>
            <a:ext cx="171450" cy="476250"/>
          </a:xfrm>
          <a:prstGeom prst="line">
            <a:avLst/>
          </a:prstGeom>
          <a:noFill/>
          <a:ln w="381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visual-line">
            <a:extLst>
              <a:ext uri="{FF2B5EF4-FFF2-40B4-BE49-F238E27FC236}">
                <a16:creationId xmlns:a16="http://schemas.microsoft.com/office/drawing/2014/main" id="{1BF466ED-9DE8-4C44-AEAB-C2F6D12D6EC0}"/>
              </a:ext>
            </a:extLst>
          </p:cNvPr>
          <p:cNvSpPr>
            <a:spLocks noGrp="1"/>
          </p:cNvSpPr>
          <p:nvPr/>
        </p:nvSpPr>
        <p:spPr>
          <a:xfrm>
            <a:off x="1847850" y="1809750"/>
            <a:ext cx="3400425" cy="95"/>
          </a:xfrm>
          <a:prstGeom prst="line">
            <a:avLst/>
          </a:prstGeom>
          <a:noFill/>
          <a:ln w="381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visual-label">
            <a:extLst>
              <a:ext uri="{FF2B5EF4-FFF2-40B4-BE49-F238E27FC236}">
                <a16:creationId xmlns:a16="http://schemas.microsoft.com/office/drawing/2014/main" id="{23C45EEA-6D23-4027-846D-4AADA24B4D54}"/>
              </a:ext>
            </a:extLst>
          </p:cNvPr>
          <p:cNvSpPr>
            <a:spLocks noGrp="1"/>
          </p:cNvSpPr>
          <p:nvPr/>
        </p:nvSpPr>
        <p:spPr>
          <a:xfrm>
            <a:off x="1924050" y="1857375"/>
            <a:ext cx="32861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75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(Rₑ + h)² − Rₑ² cos² e</a:t>
            </a:r>
          </a:p>
        </p:txBody>
      </p:sp>
      <p:sp>
        <p:nvSpPr>
          <p:cNvPr id="12" name="visual-label">
            <a:extLst>
              <a:ext uri="{FF2B5EF4-FFF2-40B4-BE49-F238E27FC236}">
                <a16:creationId xmlns:a16="http://schemas.microsoft.com/office/drawing/2014/main" id="{3FBA45C8-7D4B-4F7A-97EA-0D74EE303308}"/>
              </a:ext>
            </a:extLst>
          </p:cNvPr>
          <p:cNvSpPr>
            <a:spLocks noGrp="1"/>
          </p:cNvSpPr>
          <p:nvPr/>
        </p:nvSpPr>
        <p:spPr>
          <a:xfrm>
            <a:off x="5314950" y="1857375"/>
            <a:ext cx="16954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− Rₑ sin e</a:t>
            </a:r>
          </a:p>
        </p:txBody>
      </p:sp>
      <p:sp>
        <p:nvSpPr>
          <p:cNvPr id="13" name="visual-label">
            <a:extLst>
              <a:ext uri="{FF2B5EF4-FFF2-40B4-BE49-F238E27FC236}">
                <a16:creationId xmlns:a16="http://schemas.microsoft.com/office/drawing/2014/main" id="{796780CA-CD91-4833-9BBA-C729E8BE5B09}"/>
              </a:ext>
            </a:extLst>
          </p:cNvPr>
          <p:cNvSpPr>
            <a:spLocks noGrp="1"/>
          </p:cNvSpPr>
          <p:nvPr/>
        </p:nvSpPr>
        <p:spPr>
          <a:xfrm>
            <a:off x="1000125" y="3000375"/>
            <a:ext cx="5810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 i="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Rₑ = 6,378 km   •   h = 705 km   •   e = 5°</a:t>
            </a:r>
          </a:p>
        </p:txBody>
      </p:sp>
      <p:sp>
        <p:nvSpPr>
          <p:cNvPr id="14" name="visual-box">
            <a:extLst>
              <a:ext uri="{FF2B5EF4-FFF2-40B4-BE49-F238E27FC236}">
                <a16:creationId xmlns:a16="http://schemas.microsoft.com/office/drawing/2014/main" id="{B4EDEF0F-57BD-41D1-857D-0D4C43E5DFA2}"/>
              </a:ext>
            </a:extLst>
          </p:cNvPr>
          <p:cNvSpPr>
            <a:spLocks noGrp="1"/>
          </p:cNvSpPr>
          <p:nvPr/>
        </p:nvSpPr>
        <p:spPr>
          <a:xfrm>
            <a:off x="1571625" y="4095750"/>
            <a:ext cx="4667250" cy="895350"/>
          </a:xfrm>
          <a:prstGeom prst="roundRect">
            <a:avLst>
              <a:gd name="adj" fmla="val 6383"/>
            </a:avLst>
          </a:prstGeom>
          <a:solidFill>
            <a:srgbClr val="FCE4D6"/>
          </a:solidFill>
          <a:ln w="19050">
            <a:solidFill>
              <a:srgbClr val="C659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2550" b="1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d ≈ 2,574 km</a:t>
            </a:r>
          </a:p>
        </p:txBody>
      </p:sp>
      <p:sp>
        <p:nvSpPr>
          <p:cNvPr id="15" name="earth-limb">
            <a:extLst>
              <a:ext uri="{FF2B5EF4-FFF2-40B4-BE49-F238E27FC236}">
                <a16:creationId xmlns:a16="http://schemas.microsoft.com/office/drawing/2014/main" id="{537838C2-422C-47BB-8DD5-F63CA96C3D71}"/>
              </a:ext>
            </a:extLst>
          </p:cNvPr>
          <p:cNvSpPr>
            <a:spLocks noGrp="1"/>
          </p:cNvSpPr>
          <p:nvPr/>
        </p:nvSpPr>
        <p:spPr>
          <a:xfrm>
            <a:off x="7334250" y="3143250"/>
            <a:ext cx="3238500" cy="3238500"/>
          </a:xfrm>
          <a:prstGeom prst="ellipse">
            <a:avLst/>
          </a:prstGeom>
          <a:solidFill>
            <a:srgbClr val="EAF2F8"/>
          </a:solidFill>
          <a:ln w="3810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visual-point">
            <a:extLst>
              <a:ext uri="{FF2B5EF4-FFF2-40B4-BE49-F238E27FC236}">
                <a16:creationId xmlns:a16="http://schemas.microsoft.com/office/drawing/2014/main" id="{1FE33535-BFD9-4114-A260-66A8D15ED8EE}"/>
              </a:ext>
            </a:extLst>
          </p:cNvPr>
          <p:cNvSpPr>
            <a:spLocks noGrp="1"/>
          </p:cNvSpPr>
          <p:nvPr/>
        </p:nvSpPr>
        <p:spPr>
          <a:xfrm>
            <a:off x="8877300" y="4686300"/>
            <a:ext cx="152400" cy="152400"/>
          </a:xfrm>
          <a:prstGeom prst="ellipse">
            <a:avLst/>
          </a:prstGeom>
          <a:solidFill>
            <a:srgbClr val="1F4E7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visual-line">
            <a:extLst>
              <a:ext uri="{FF2B5EF4-FFF2-40B4-BE49-F238E27FC236}">
                <a16:creationId xmlns:a16="http://schemas.microsoft.com/office/drawing/2014/main" id="{B36D87C5-1A27-4BF5-8876-B837935881C9}"/>
              </a:ext>
            </a:extLst>
          </p:cNvPr>
          <p:cNvSpPr>
            <a:spLocks noGrp="1"/>
          </p:cNvSpPr>
          <p:nvPr/>
        </p:nvSpPr>
        <p:spPr>
          <a:xfrm>
            <a:off x="8953500" y="3143250"/>
            <a:ext cx="95" cy="1619250"/>
          </a:xfrm>
          <a:prstGeom prst="line">
            <a:avLst/>
          </a:prstGeom>
          <a:noFill/>
          <a:ln w="28575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visual-line">
            <a:extLst>
              <a:ext uri="{FF2B5EF4-FFF2-40B4-BE49-F238E27FC236}">
                <a16:creationId xmlns:a16="http://schemas.microsoft.com/office/drawing/2014/main" id="{FA77C283-0F65-4D58-B6FB-4FE522AD2BAE}"/>
              </a:ext>
            </a:extLst>
          </p:cNvPr>
          <p:cNvSpPr>
            <a:spLocks noGrp="1"/>
          </p:cNvSpPr>
          <p:nvPr/>
        </p:nvSpPr>
        <p:spPr>
          <a:xfrm flipV="1">
            <a:off x="8953500" y="2952750"/>
            <a:ext cx="2095500" cy="190500"/>
          </a:xfrm>
          <a:prstGeom prst="line">
            <a:avLst/>
          </a:prstGeom>
          <a:noFill/>
          <a:ln w="47625">
            <a:solidFill>
              <a:srgbClr val="C659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visual-line">
            <a:extLst>
              <a:ext uri="{FF2B5EF4-FFF2-40B4-BE49-F238E27FC236}">
                <a16:creationId xmlns:a16="http://schemas.microsoft.com/office/drawing/2014/main" id="{C1DB62D2-FD15-4B7E-B6A5-02921F8EBADC}"/>
              </a:ext>
            </a:extLst>
          </p:cNvPr>
          <p:cNvSpPr>
            <a:spLocks noGrp="1"/>
          </p:cNvSpPr>
          <p:nvPr/>
        </p:nvSpPr>
        <p:spPr>
          <a:xfrm flipV="1">
            <a:off x="8953500" y="2952750"/>
            <a:ext cx="2095500" cy="1809750"/>
          </a:xfrm>
          <a:prstGeom prst="line">
            <a:avLst/>
          </a:prstGeom>
          <a:noFill/>
          <a:ln w="28575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visual-line">
            <a:extLst>
              <a:ext uri="{FF2B5EF4-FFF2-40B4-BE49-F238E27FC236}">
                <a16:creationId xmlns:a16="http://schemas.microsoft.com/office/drawing/2014/main" id="{854B5C17-0E83-40A9-A21B-C6222F021EDA}"/>
              </a:ext>
            </a:extLst>
          </p:cNvPr>
          <p:cNvSpPr>
            <a:spLocks noGrp="1"/>
          </p:cNvSpPr>
          <p:nvPr/>
        </p:nvSpPr>
        <p:spPr>
          <a:xfrm>
            <a:off x="8953500" y="3143250"/>
            <a:ext cx="1714500" cy="95"/>
          </a:xfrm>
          <a:prstGeom prst="line">
            <a:avLst/>
          </a:prstGeom>
          <a:noFill/>
          <a:ln w="19050">
            <a:solidFill>
              <a:srgbClr val="667085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1" name="visual-label">
            <a:extLst>
              <a:ext uri="{FF2B5EF4-FFF2-40B4-BE49-F238E27FC236}">
                <a16:creationId xmlns:a16="http://schemas.microsoft.com/office/drawing/2014/main" id="{B8E6A9E4-6D1E-409C-9871-9A5550AB2E92}"/>
              </a:ext>
            </a:extLst>
          </p:cNvPr>
          <p:cNvSpPr>
            <a:spLocks noGrp="1"/>
          </p:cNvSpPr>
          <p:nvPr/>
        </p:nvSpPr>
        <p:spPr>
          <a:xfrm>
            <a:off x="9525000" y="2476500"/>
            <a:ext cx="1381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 i="0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2,574 km</a:t>
            </a:r>
          </a:p>
        </p:txBody>
      </p:sp>
      <p:sp>
        <p:nvSpPr>
          <p:cNvPr id="22" name="visual-label">
            <a:extLst>
              <a:ext uri="{FF2B5EF4-FFF2-40B4-BE49-F238E27FC236}">
                <a16:creationId xmlns:a16="http://schemas.microsoft.com/office/drawing/2014/main" id="{B5B81D8D-FACC-426D-A7FD-CA8772B714D6}"/>
              </a:ext>
            </a:extLst>
          </p:cNvPr>
          <p:cNvSpPr>
            <a:spLocks noGrp="1"/>
          </p:cNvSpPr>
          <p:nvPr/>
        </p:nvSpPr>
        <p:spPr>
          <a:xfrm>
            <a:off x="9067800" y="3067050"/>
            <a:ext cx="85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 i="0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e = 5°</a:t>
            </a:r>
          </a:p>
        </p:txBody>
      </p:sp>
      <p:sp>
        <p:nvSpPr>
          <p:cNvPr id="23" name="visual-label">
            <a:extLst>
              <a:ext uri="{FF2B5EF4-FFF2-40B4-BE49-F238E27FC236}">
                <a16:creationId xmlns:a16="http://schemas.microsoft.com/office/drawing/2014/main" id="{90EC116A-197B-4F61-9CCA-1EF20253D78F}"/>
              </a:ext>
            </a:extLst>
          </p:cNvPr>
          <p:cNvSpPr>
            <a:spLocks noGrp="1"/>
          </p:cNvSpPr>
          <p:nvPr/>
        </p:nvSpPr>
        <p:spPr>
          <a:xfrm>
            <a:off x="7572375" y="5105400"/>
            <a:ext cx="2762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At 90°: d = h = 705 km</a:t>
            </a:r>
          </a:p>
        </p:txBody>
      </p:sp>
      <p:sp>
        <p:nvSpPr>
          <p:cNvPr id="24" name="visual-label">
            <a:extLst>
              <a:ext uri="{FF2B5EF4-FFF2-40B4-BE49-F238E27FC236}">
                <a16:creationId xmlns:a16="http://schemas.microsoft.com/office/drawing/2014/main" id="{FDECB52F-1C70-4CC3-A123-214D05C1CE18}"/>
              </a:ext>
            </a:extLst>
          </p:cNvPr>
          <p:cNvSpPr>
            <a:spLocks noGrp="1"/>
          </p:cNvSpPr>
          <p:nvPr/>
        </p:nvSpPr>
        <p:spPr>
          <a:xfrm>
            <a:off x="1143000" y="5381625"/>
            <a:ext cx="4953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 i="0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Geometry alone creates a 3.65:1 range swing.</a:t>
            </a:r>
          </a:p>
        </p:txBody>
      </p:sp>
    </p:spTree>
    <p:extLst>
      <p:ext uri="{BB962C8B-B14F-4D97-AF65-F5344CB8AC3E}">
        <p14:creationId xmlns:p14="http://schemas.microsoft.com/office/powerpoint/2010/main" val="2608522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37C69-EE5D-4D82-94E1-549C9A730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Why Power Falls with Range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4C34D1-6105-BA29-9BED-5ECCFDCA971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Received Power and Link Geometry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C26E0-AD3C-E67C-7D13-F6E02C73D2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DB16885-0D3F-A391-B669-3211DB3B26E8}" type="slidenum">
              <a:rPr/>
              <a:t>12</a:t>
            </a:fld>
            <a:endParaRPr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0" y="1706274"/>
            <a:ext cx="7239000" cy="4074102"/>
          </a:xfrm>
          <a:prstGeom prst="rect">
            <a:avLst/>
          </a:prstGeom>
        </p:spPr>
      </p:pic>
      <p:sp>
        <p:nvSpPr>
          <p:cNvPr id="8" name="visual-label">
            <a:extLst>
              <a:ext uri="{FF2B5EF4-FFF2-40B4-BE49-F238E27FC236}">
                <a16:creationId xmlns:a16="http://schemas.microsoft.com/office/drawing/2014/main" id="{2728DA55-BA5B-450E-BE09-FC238BE387C1}"/>
              </a:ext>
            </a:extLst>
          </p:cNvPr>
          <p:cNvSpPr>
            <a:spLocks noGrp="1"/>
          </p:cNvSpPr>
          <p:nvPr/>
        </p:nvSpPr>
        <p:spPr>
          <a:xfrm>
            <a:off x="857250" y="1828800"/>
            <a:ext cx="314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Same transmitted power.</a:t>
            </a:r>
          </a:p>
          <a:p>
            <a:pPr algn="ctr">
              <a:buNone/>
              <a:defRPr sz="1800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Larger spherical area.</a:t>
            </a:r>
          </a:p>
        </p:txBody>
      </p:sp>
      <p:sp>
        <p:nvSpPr>
          <p:cNvPr id="9" name="visual-box">
            <a:extLst>
              <a:ext uri="{FF2B5EF4-FFF2-40B4-BE49-F238E27FC236}">
                <a16:creationId xmlns:a16="http://schemas.microsoft.com/office/drawing/2014/main" id="{FD58561D-A23B-48C1-A135-7D005E191E06}"/>
              </a:ext>
            </a:extLst>
          </p:cNvPr>
          <p:cNvSpPr>
            <a:spLocks noGrp="1"/>
          </p:cNvSpPr>
          <p:nvPr/>
        </p:nvSpPr>
        <p:spPr>
          <a:xfrm>
            <a:off x="1066800" y="2686050"/>
            <a:ext cx="2571750" cy="742950"/>
          </a:xfrm>
          <a:prstGeom prst="roundRect">
            <a:avLst>
              <a:gd name="adj" fmla="val 7692"/>
            </a:avLst>
          </a:prstGeom>
          <a:solidFill>
            <a:srgbClr val="EAF2F8"/>
          </a:solidFill>
          <a:ln w="19050">
            <a:solidFill>
              <a:srgbClr val="1F4E7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8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AREA = 4πR²</a:t>
            </a:r>
          </a:p>
        </p:txBody>
      </p:sp>
      <p:sp>
        <p:nvSpPr>
          <p:cNvPr id="10" name="visual-box">
            <a:extLst>
              <a:ext uri="{FF2B5EF4-FFF2-40B4-BE49-F238E27FC236}">
                <a16:creationId xmlns:a16="http://schemas.microsoft.com/office/drawing/2014/main" id="{5584A126-B687-4985-A9E7-13488C780671}"/>
              </a:ext>
            </a:extLst>
          </p:cNvPr>
          <p:cNvSpPr>
            <a:spLocks noGrp="1"/>
          </p:cNvSpPr>
          <p:nvPr/>
        </p:nvSpPr>
        <p:spPr>
          <a:xfrm>
            <a:off x="1066800" y="3714750"/>
            <a:ext cx="2571750" cy="742950"/>
          </a:xfrm>
          <a:prstGeom prst="roundRect">
            <a:avLst>
              <a:gd name="adj" fmla="val 7692"/>
            </a:avLst>
          </a:prstGeom>
          <a:solidFill>
            <a:srgbClr val="FCE4D6"/>
          </a:solidFill>
          <a:ln w="19050">
            <a:solidFill>
              <a:srgbClr val="C659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875" b="1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FLUX ∝ 1/R²</a:t>
            </a:r>
          </a:p>
        </p:txBody>
      </p:sp>
      <p:sp>
        <p:nvSpPr>
          <p:cNvPr id="11" name="visual-label">
            <a:extLst>
              <a:ext uri="{FF2B5EF4-FFF2-40B4-BE49-F238E27FC236}">
                <a16:creationId xmlns:a16="http://schemas.microsoft.com/office/drawing/2014/main" id="{754E67FE-7A91-453A-B1B3-12FB2756D012}"/>
              </a:ext>
            </a:extLst>
          </p:cNvPr>
          <p:cNvSpPr>
            <a:spLocks noGrp="1"/>
          </p:cNvSpPr>
          <p:nvPr/>
        </p:nvSpPr>
        <p:spPr>
          <a:xfrm>
            <a:off x="876300" y="4724400"/>
            <a:ext cx="2952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 i="0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R → 2R</a:t>
            </a:r>
          </a:p>
          <a:p>
            <a:pPr algn="ctr">
              <a:buNone/>
              <a:defRPr sz="1575" b="1" i="0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area ×4  •  flux ÷4</a:t>
            </a:r>
          </a:p>
          <a:p>
            <a:pPr algn="ctr">
              <a:buNone/>
              <a:defRPr sz="1575" b="1" i="0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Δ[Pᵣ] = −6 dB</a:t>
            </a:r>
          </a:p>
        </p:txBody>
      </p:sp>
    </p:spTree>
    <p:extLst>
      <p:ext uri="{BB962C8B-B14F-4D97-AF65-F5344CB8AC3E}">
        <p14:creationId xmlns:p14="http://schemas.microsoft.com/office/powerpoint/2010/main" val="539630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What Is a Decibel?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591C0-FBFF-494B-8AA2-2D69F16F5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114550"/>
            <a:ext cx="9601200" cy="2857500"/>
          </a:xfrm>
        </p:spPr>
        <p:txBody>
          <a:bodyPr lIns="152400" tIns="114300" rIns="152400" bIns="114300" anchor="t">
            <a:noAutofit/>
          </a:bodyPr>
          <a:lstStyle/>
          <a:p>
            <a:pPr algn="l">
              <a:spcAft>
                <a:spcPts val="14"/>
              </a:spcAft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Power ratio in dB = 10 log₁₀(P₂ / P₁)</a:t>
            </a:r>
          </a:p>
          <a:p>
            <a:pPr algn="l">
              <a:spcAft>
                <a:spcPts val="14"/>
              </a:spcAft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[P] in dBW = 10 log₁₀(P / 1 W)</a:t>
            </a:r>
          </a:p>
          <a:p>
            <a:pPr algn="l">
              <a:spcAft>
                <a:spcPts val="14"/>
              </a:spcAft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 is linear power; [P] is its decibel representation.</a:t>
            </a:r>
          </a:p>
          <a:p>
            <a:pPr algn="l">
              <a:spcAft>
                <a:spcPts val="14"/>
              </a:spcAft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Try it: 1 W → 10 W → 100 W. What about 2 W?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Received Power and Link Geometry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8A612-E74C-068B-10F2-ADD2E903A8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DD23107-4986-8758-3A93-3D74F35908CC}" type="slidenum">
              <a:rPr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32AA2-4FC2-401D-A90C-7983DD463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Linear Power and Decibel Power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8AA49A-754E-036B-F054-15AAAF0632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Received Power and Link Geometry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D177F-236A-7D0C-CBDB-826FC95B41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27921A4-25C4-3DB4-06B1-32693CEE2241}" type="slidenum">
              <a:rPr/>
              <a:t>14</a:t>
            </a:fld>
            <a:endParaRPr/>
          </a:p>
        </p:txBody>
      </p:sp>
      <p:sp>
        <p:nvSpPr>
          <p:cNvPr id="7" name="visual-label">
            <a:extLst>
              <a:ext uri="{FF2B5EF4-FFF2-40B4-BE49-F238E27FC236}">
                <a16:creationId xmlns:a16="http://schemas.microsoft.com/office/drawing/2014/main" id="{60D87128-F54F-42F1-BAB7-A1D6B2697B32}"/>
              </a:ext>
            </a:extLst>
          </p:cNvPr>
          <p:cNvSpPr>
            <a:spLocks noGrp="1"/>
          </p:cNvSpPr>
          <p:nvPr/>
        </p:nvSpPr>
        <p:spPr>
          <a:xfrm>
            <a:off x="904875" y="1695450"/>
            <a:ext cx="10382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725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Course notation:  P is linear power; [P] is that power expressed in dB.</a:t>
            </a:r>
          </a:p>
        </p:txBody>
      </p:sp>
      <p:sp>
        <p:nvSpPr>
          <p:cNvPr id="8" name="visual-line">
            <a:extLst>
              <a:ext uri="{FF2B5EF4-FFF2-40B4-BE49-F238E27FC236}">
                <a16:creationId xmlns:a16="http://schemas.microsoft.com/office/drawing/2014/main" id="{24F1D93D-E24B-4ED1-A24E-959E20C1F5CB}"/>
              </a:ext>
            </a:extLst>
          </p:cNvPr>
          <p:cNvSpPr>
            <a:spLocks noGrp="1"/>
          </p:cNvSpPr>
          <p:nvPr/>
        </p:nvSpPr>
        <p:spPr>
          <a:xfrm>
            <a:off x="1428750" y="3429000"/>
            <a:ext cx="9334500" cy="95"/>
          </a:xfrm>
          <a:prstGeom prst="line">
            <a:avLst/>
          </a:prstGeom>
          <a:noFill/>
          <a:ln w="47625">
            <a:solidFill>
              <a:srgbClr val="1736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visual-line">
            <a:extLst>
              <a:ext uri="{FF2B5EF4-FFF2-40B4-BE49-F238E27FC236}">
                <a16:creationId xmlns:a16="http://schemas.microsoft.com/office/drawing/2014/main" id="{3C53A6BC-7DA8-4789-BDB1-99800202A877}"/>
              </a:ext>
            </a:extLst>
          </p:cNvPr>
          <p:cNvSpPr>
            <a:spLocks noGrp="1"/>
          </p:cNvSpPr>
          <p:nvPr/>
        </p:nvSpPr>
        <p:spPr>
          <a:xfrm>
            <a:off x="1428750" y="3219450"/>
            <a:ext cx="95" cy="419100"/>
          </a:xfrm>
          <a:prstGeom prst="line">
            <a:avLst/>
          </a:prstGeom>
          <a:noFill/>
          <a:ln w="28575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visual-label">
            <a:extLst>
              <a:ext uri="{FF2B5EF4-FFF2-40B4-BE49-F238E27FC236}">
                <a16:creationId xmlns:a16="http://schemas.microsoft.com/office/drawing/2014/main" id="{C2ABE98A-6CBE-4831-B67D-504F86EA12A8}"/>
              </a:ext>
            </a:extLst>
          </p:cNvPr>
          <p:cNvSpPr>
            <a:spLocks noGrp="1"/>
          </p:cNvSpPr>
          <p:nvPr/>
        </p:nvSpPr>
        <p:spPr>
          <a:xfrm>
            <a:off x="428625" y="2514600"/>
            <a:ext cx="200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 = 1 mW</a:t>
            </a:r>
          </a:p>
        </p:txBody>
      </p:sp>
      <p:sp>
        <p:nvSpPr>
          <p:cNvPr id="11" name="visual-label">
            <a:extLst>
              <a:ext uri="{FF2B5EF4-FFF2-40B4-BE49-F238E27FC236}">
                <a16:creationId xmlns:a16="http://schemas.microsoft.com/office/drawing/2014/main" id="{830A91EA-1923-4B76-AE12-94E4E61F1120}"/>
              </a:ext>
            </a:extLst>
          </p:cNvPr>
          <p:cNvSpPr>
            <a:spLocks noGrp="1"/>
          </p:cNvSpPr>
          <p:nvPr/>
        </p:nvSpPr>
        <p:spPr>
          <a:xfrm>
            <a:off x="400050" y="3771900"/>
            <a:ext cx="2057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 i="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[P] = −30 dBW</a:t>
            </a:r>
          </a:p>
        </p:txBody>
      </p:sp>
      <p:sp>
        <p:nvSpPr>
          <p:cNvPr id="12" name="visual-label">
            <a:extLst>
              <a:ext uri="{FF2B5EF4-FFF2-40B4-BE49-F238E27FC236}">
                <a16:creationId xmlns:a16="http://schemas.microsoft.com/office/drawing/2014/main" id="{68ED7557-86A7-429E-8223-A239F5276411}"/>
              </a:ext>
            </a:extLst>
          </p:cNvPr>
          <p:cNvSpPr>
            <a:spLocks noGrp="1"/>
          </p:cNvSpPr>
          <p:nvPr/>
        </p:nvSpPr>
        <p:spPr>
          <a:xfrm>
            <a:off x="400050" y="4267200"/>
            <a:ext cx="2057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0" i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[P] = 0 dBm</a:t>
            </a:r>
          </a:p>
        </p:txBody>
      </p:sp>
      <p:sp>
        <p:nvSpPr>
          <p:cNvPr id="13" name="visual-line">
            <a:extLst>
              <a:ext uri="{FF2B5EF4-FFF2-40B4-BE49-F238E27FC236}">
                <a16:creationId xmlns:a16="http://schemas.microsoft.com/office/drawing/2014/main" id="{AC2903DE-D932-4DAB-A466-4C6F0C6A3DC0}"/>
              </a:ext>
            </a:extLst>
          </p:cNvPr>
          <p:cNvSpPr>
            <a:spLocks noGrp="1"/>
          </p:cNvSpPr>
          <p:nvPr/>
        </p:nvSpPr>
        <p:spPr>
          <a:xfrm>
            <a:off x="3762375" y="3219450"/>
            <a:ext cx="95" cy="419100"/>
          </a:xfrm>
          <a:prstGeom prst="line">
            <a:avLst/>
          </a:prstGeom>
          <a:noFill/>
          <a:ln w="28575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visual-label">
            <a:extLst>
              <a:ext uri="{FF2B5EF4-FFF2-40B4-BE49-F238E27FC236}">
                <a16:creationId xmlns:a16="http://schemas.microsoft.com/office/drawing/2014/main" id="{D549B55D-A457-4F27-A75B-712A92968742}"/>
              </a:ext>
            </a:extLst>
          </p:cNvPr>
          <p:cNvSpPr>
            <a:spLocks noGrp="1"/>
          </p:cNvSpPr>
          <p:nvPr/>
        </p:nvSpPr>
        <p:spPr>
          <a:xfrm>
            <a:off x="2762250" y="2514600"/>
            <a:ext cx="200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 = 10 mW</a:t>
            </a:r>
          </a:p>
        </p:txBody>
      </p:sp>
      <p:sp>
        <p:nvSpPr>
          <p:cNvPr id="15" name="visual-label">
            <a:extLst>
              <a:ext uri="{FF2B5EF4-FFF2-40B4-BE49-F238E27FC236}">
                <a16:creationId xmlns:a16="http://schemas.microsoft.com/office/drawing/2014/main" id="{B91AC715-3F23-4F5B-BA02-871E31DBC3FB}"/>
              </a:ext>
            </a:extLst>
          </p:cNvPr>
          <p:cNvSpPr>
            <a:spLocks noGrp="1"/>
          </p:cNvSpPr>
          <p:nvPr/>
        </p:nvSpPr>
        <p:spPr>
          <a:xfrm>
            <a:off x="2733675" y="3771900"/>
            <a:ext cx="2057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 i="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[P] = −20 dBW</a:t>
            </a:r>
          </a:p>
        </p:txBody>
      </p:sp>
      <p:sp>
        <p:nvSpPr>
          <p:cNvPr id="16" name="visual-label">
            <a:extLst>
              <a:ext uri="{FF2B5EF4-FFF2-40B4-BE49-F238E27FC236}">
                <a16:creationId xmlns:a16="http://schemas.microsoft.com/office/drawing/2014/main" id="{2AF41082-F2CC-443A-A73B-FD2B8BC8E55B}"/>
              </a:ext>
            </a:extLst>
          </p:cNvPr>
          <p:cNvSpPr>
            <a:spLocks noGrp="1"/>
          </p:cNvSpPr>
          <p:nvPr/>
        </p:nvSpPr>
        <p:spPr>
          <a:xfrm>
            <a:off x="2733675" y="4267200"/>
            <a:ext cx="2057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0" i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[P] = 10 dBm</a:t>
            </a:r>
          </a:p>
        </p:txBody>
      </p:sp>
      <p:sp>
        <p:nvSpPr>
          <p:cNvPr id="17" name="visual-line">
            <a:extLst>
              <a:ext uri="{FF2B5EF4-FFF2-40B4-BE49-F238E27FC236}">
                <a16:creationId xmlns:a16="http://schemas.microsoft.com/office/drawing/2014/main" id="{915E5551-1AC9-4D56-9229-AACC87A18338}"/>
              </a:ext>
            </a:extLst>
          </p:cNvPr>
          <p:cNvSpPr>
            <a:spLocks noGrp="1"/>
          </p:cNvSpPr>
          <p:nvPr/>
        </p:nvSpPr>
        <p:spPr>
          <a:xfrm>
            <a:off x="6096000" y="3219450"/>
            <a:ext cx="95" cy="419100"/>
          </a:xfrm>
          <a:prstGeom prst="line">
            <a:avLst/>
          </a:prstGeom>
          <a:noFill/>
          <a:ln w="28575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visual-label">
            <a:extLst>
              <a:ext uri="{FF2B5EF4-FFF2-40B4-BE49-F238E27FC236}">
                <a16:creationId xmlns:a16="http://schemas.microsoft.com/office/drawing/2014/main" id="{0C080FD7-8B34-493B-9639-9F5565EDAA4E}"/>
              </a:ext>
            </a:extLst>
          </p:cNvPr>
          <p:cNvSpPr>
            <a:spLocks noGrp="1"/>
          </p:cNvSpPr>
          <p:nvPr/>
        </p:nvSpPr>
        <p:spPr>
          <a:xfrm>
            <a:off x="5095875" y="2514600"/>
            <a:ext cx="200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 = 0.1 W</a:t>
            </a:r>
          </a:p>
        </p:txBody>
      </p:sp>
      <p:sp>
        <p:nvSpPr>
          <p:cNvPr id="19" name="visual-label">
            <a:extLst>
              <a:ext uri="{FF2B5EF4-FFF2-40B4-BE49-F238E27FC236}">
                <a16:creationId xmlns:a16="http://schemas.microsoft.com/office/drawing/2014/main" id="{1E85A5CD-CD80-4231-A60E-E3189E0A4458}"/>
              </a:ext>
            </a:extLst>
          </p:cNvPr>
          <p:cNvSpPr>
            <a:spLocks noGrp="1"/>
          </p:cNvSpPr>
          <p:nvPr/>
        </p:nvSpPr>
        <p:spPr>
          <a:xfrm>
            <a:off x="5067300" y="3771900"/>
            <a:ext cx="2057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 i="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[P] = −10 dBW</a:t>
            </a:r>
          </a:p>
        </p:txBody>
      </p:sp>
      <p:sp>
        <p:nvSpPr>
          <p:cNvPr id="20" name="visual-label">
            <a:extLst>
              <a:ext uri="{FF2B5EF4-FFF2-40B4-BE49-F238E27FC236}">
                <a16:creationId xmlns:a16="http://schemas.microsoft.com/office/drawing/2014/main" id="{694E8A5E-8A11-4A89-8224-E9D797AD458F}"/>
              </a:ext>
            </a:extLst>
          </p:cNvPr>
          <p:cNvSpPr>
            <a:spLocks noGrp="1"/>
          </p:cNvSpPr>
          <p:nvPr/>
        </p:nvSpPr>
        <p:spPr>
          <a:xfrm>
            <a:off x="5067300" y="4267200"/>
            <a:ext cx="2057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0" i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[P] = 20 dBm</a:t>
            </a:r>
          </a:p>
        </p:txBody>
      </p:sp>
      <p:sp>
        <p:nvSpPr>
          <p:cNvPr id="21" name="visual-line">
            <a:extLst>
              <a:ext uri="{FF2B5EF4-FFF2-40B4-BE49-F238E27FC236}">
                <a16:creationId xmlns:a16="http://schemas.microsoft.com/office/drawing/2014/main" id="{9F8ACCB4-FDCB-41A1-8FDE-0A74A9E427A8}"/>
              </a:ext>
            </a:extLst>
          </p:cNvPr>
          <p:cNvSpPr>
            <a:spLocks noGrp="1"/>
          </p:cNvSpPr>
          <p:nvPr/>
        </p:nvSpPr>
        <p:spPr>
          <a:xfrm>
            <a:off x="8429625" y="3219450"/>
            <a:ext cx="95" cy="419100"/>
          </a:xfrm>
          <a:prstGeom prst="line">
            <a:avLst/>
          </a:prstGeom>
          <a:noFill/>
          <a:ln w="47625">
            <a:solidFill>
              <a:srgbClr val="C659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visual-label">
            <a:extLst>
              <a:ext uri="{FF2B5EF4-FFF2-40B4-BE49-F238E27FC236}">
                <a16:creationId xmlns:a16="http://schemas.microsoft.com/office/drawing/2014/main" id="{9A909FB7-6726-41F9-950E-1DB875414A38}"/>
              </a:ext>
            </a:extLst>
          </p:cNvPr>
          <p:cNvSpPr>
            <a:spLocks noGrp="1"/>
          </p:cNvSpPr>
          <p:nvPr/>
        </p:nvSpPr>
        <p:spPr>
          <a:xfrm>
            <a:off x="7429500" y="2514600"/>
            <a:ext cx="200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 i="0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P = 1 W</a:t>
            </a:r>
          </a:p>
        </p:txBody>
      </p:sp>
      <p:sp>
        <p:nvSpPr>
          <p:cNvPr id="23" name="visual-label">
            <a:extLst>
              <a:ext uri="{FF2B5EF4-FFF2-40B4-BE49-F238E27FC236}">
                <a16:creationId xmlns:a16="http://schemas.microsoft.com/office/drawing/2014/main" id="{00210FA0-CAD6-40F2-9F58-08ABB63B78C6}"/>
              </a:ext>
            </a:extLst>
          </p:cNvPr>
          <p:cNvSpPr>
            <a:spLocks noGrp="1"/>
          </p:cNvSpPr>
          <p:nvPr/>
        </p:nvSpPr>
        <p:spPr>
          <a:xfrm>
            <a:off x="7400925" y="3771900"/>
            <a:ext cx="2057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 i="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[P] = 0 dBW</a:t>
            </a:r>
          </a:p>
        </p:txBody>
      </p:sp>
      <p:sp>
        <p:nvSpPr>
          <p:cNvPr id="24" name="visual-label">
            <a:extLst>
              <a:ext uri="{FF2B5EF4-FFF2-40B4-BE49-F238E27FC236}">
                <a16:creationId xmlns:a16="http://schemas.microsoft.com/office/drawing/2014/main" id="{6D434CF8-1ADB-4D09-BB00-DF75A9CBE8A9}"/>
              </a:ext>
            </a:extLst>
          </p:cNvPr>
          <p:cNvSpPr>
            <a:spLocks noGrp="1"/>
          </p:cNvSpPr>
          <p:nvPr/>
        </p:nvSpPr>
        <p:spPr>
          <a:xfrm>
            <a:off x="7400925" y="4267200"/>
            <a:ext cx="2057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0" i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[P] = 30 dBm</a:t>
            </a:r>
          </a:p>
        </p:txBody>
      </p:sp>
      <p:sp>
        <p:nvSpPr>
          <p:cNvPr id="25" name="visual-line">
            <a:extLst>
              <a:ext uri="{FF2B5EF4-FFF2-40B4-BE49-F238E27FC236}">
                <a16:creationId xmlns:a16="http://schemas.microsoft.com/office/drawing/2014/main" id="{0113BAB4-BB70-43C5-9C3B-0DA77730A9DB}"/>
              </a:ext>
            </a:extLst>
          </p:cNvPr>
          <p:cNvSpPr>
            <a:spLocks noGrp="1"/>
          </p:cNvSpPr>
          <p:nvPr/>
        </p:nvSpPr>
        <p:spPr>
          <a:xfrm>
            <a:off x="10763250" y="3219450"/>
            <a:ext cx="95" cy="419100"/>
          </a:xfrm>
          <a:prstGeom prst="line">
            <a:avLst/>
          </a:prstGeom>
          <a:noFill/>
          <a:ln w="28575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visual-label">
            <a:extLst>
              <a:ext uri="{FF2B5EF4-FFF2-40B4-BE49-F238E27FC236}">
                <a16:creationId xmlns:a16="http://schemas.microsoft.com/office/drawing/2014/main" id="{0B5F9E0B-B73D-4648-85CB-CCBFF5EDFF56}"/>
              </a:ext>
            </a:extLst>
          </p:cNvPr>
          <p:cNvSpPr>
            <a:spLocks noGrp="1"/>
          </p:cNvSpPr>
          <p:nvPr/>
        </p:nvSpPr>
        <p:spPr>
          <a:xfrm>
            <a:off x="9763125" y="2514600"/>
            <a:ext cx="200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 = 10 W</a:t>
            </a:r>
          </a:p>
        </p:txBody>
      </p:sp>
      <p:sp>
        <p:nvSpPr>
          <p:cNvPr id="27" name="visual-label">
            <a:extLst>
              <a:ext uri="{FF2B5EF4-FFF2-40B4-BE49-F238E27FC236}">
                <a16:creationId xmlns:a16="http://schemas.microsoft.com/office/drawing/2014/main" id="{4DAEC701-C8A4-42BE-A0DC-08BB69EB9601}"/>
              </a:ext>
            </a:extLst>
          </p:cNvPr>
          <p:cNvSpPr>
            <a:spLocks noGrp="1"/>
          </p:cNvSpPr>
          <p:nvPr/>
        </p:nvSpPr>
        <p:spPr>
          <a:xfrm>
            <a:off x="9734550" y="3771900"/>
            <a:ext cx="2057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 i="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[P] = 10 dBW</a:t>
            </a:r>
          </a:p>
        </p:txBody>
      </p:sp>
      <p:sp>
        <p:nvSpPr>
          <p:cNvPr id="28" name="visual-label">
            <a:extLst>
              <a:ext uri="{FF2B5EF4-FFF2-40B4-BE49-F238E27FC236}">
                <a16:creationId xmlns:a16="http://schemas.microsoft.com/office/drawing/2014/main" id="{F5DEBAA1-F331-486A-94BA-6EB4F4BC0967}"/>
              </a:ext>
            </a:extLst>
          </p:cNvPr>
          <p:cNvSpPr>
            <a:spLocks noGrp="1"/>
          </p:cNvSpPr>
          <p:nvPr/>
        </p:nvSpPr>
        <p:spPr>
          <a:xfrm>
            <a:off x="9734550" y="4267200"/>
            <a:ext cx="2057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0" i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[P] = 40 dBm</a:t>
            </a:r>
          </a:p>
        </p:txBody>
      </p:sp>
      <p:sp>
        <p:nvSpPr>
          <p:cNvPr id="29" name="visual-label">
            <a:extLst>
              <a:ext uri="{FF2B5EF4-FFF2-40B4-BE49-F238E27FC236}">
                <a16:creationId xmlns:a16="http://schemas.microsoft.com/office/drawing/2014/main" id="{725B79AF-BE5C-4E3B-B8BE-DDB758B2C2FB}"/>
              </a:ext>
            </a:extLst>
          </p:cNvPr>
          <p:cNvSpPr>
            <a:spLocks noGrp="1"/>
          </p:cNvSpPr>
          <p:nvPr/>
        </p:nvSpPr>
        <p:spPr>
          <a:xfrm>
            <a:off x="1714500" y="514350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 i="0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Every +10 dB step multiplies power by 10. Gains add; losses subtract.</a:t>
            </a:r>
          </a:p>
        </p:txBody>
      </p:sp>
    </p:spTree>
    <p:extLst>
      <p:ext uri="{BB962C8B-B14F-4D97-AF65-F5344CB8AC3E}">
        <p14:creationId xmlns:p14="http://schemas.microsoft.com/office/powerpoint/2010/main" val="2608522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B2EB5-D060-4D9F-9C57-776A5B189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 b="1">
                <a:solidFill>
                  <a:srgbClr val="205580"/>
                </a:solidFill>
                <a:latin typeface="Calibri Light"/>
                <a:ea typeface="Calibri Light"/>
                <a:cs typeface="Calibri Light"/>
              </a:rPr>
              <a:t>Useful Decibel Relationships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39848-ADED-3165-2B31-5571E33300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Received Power and Link Geometry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6172A-6130-DD2C-F9DA-650478B69E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A83FA91-883A-0168-8075-96CEB9DCA3C2}" type="slidenum">
              <a:rPr/>
              <a:t>15</a:t>
            </a:fld>
            <a:endParaRPr/>
          </a:p>
        </p:txBody>
      </p:sp>
      <p:sp>
        <p:nvSpPr>
          <p:cNvPr id="7" name="visual-label">
            <a:extLst>
              <a:ext uri="{FF2B5EF4-FFF2-40B4-BE49-F238E27FC236}">
                <a16:creationId xmlns:a16="http://schemas.microsoft.com/office/drawing/2014/main" id="{513999FF-444C-48F2-937A-B6CD01D5B202}"/>
              </a:ext>
            </a:extLst>
          </p:cNvPr>
          <p:cNvSpPr>
            <a:spLocks noGrp="1"/>
          </p:cNvSpPr>
          <p:nvPr/>
        </p:nvSpPr>
        <p:spPr>
          <a:xfrm>
            <a:off x="952500" y="17716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Predict the sign and scale before touching the calculator.</a:t>
            </a:r>
          </a:p>
        </p:txBody>
      </p:sp>
      <p:sp>
        <p:nvSpPr>
          <p:cNvPr id="8" name="visual-label">
            <a:extLst>
              <a:ext uri="{FF2B5EF4-FFF2-40B4-BE49-F238E27FC236}">
                <a16:creationId xmlns:a16="http://schemas.microsoft.com/office/drawing/2014/main" id="{7D37B8A4-8659-4452-BF46-16D3092CA7BF}"/>
              </a:ext>
            </a:extLst>
          </p:cNvPr>
          <p:cNvSpPr>
            <a:spLocks noGrp="1"/>
          </p:cNvSpPr>
          <p:nvPr/>
        </p:nvSpPr>
        <p:spPr>
          <a:xfrm>
            <a:off x="1143000" y="2571750"/>
            <a:ext cx="2000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 i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CHANGE</a:t>
            </a:r>
          </a:p>
        </p:txBody>
      </p:sp>
      <p:sp>
        <p:nvSpPr>
          <p:cNvPr id="9" name="visual-label">
            <a:extLst>
              <a:ext uri="{FF2B5EF4-FFF2-40B4-BE49-F238E27FC236}">
                <a16:creationId xmlns:a16="http://schemas.microsoft.com/office/drawing/2014/main" id="{B7CFC9AC-552E-4B7A-80A6-03C199E83F44}"/>
              </a:ext>
            </a:extLst>
          </p:cNvPr>
          <p:cNvSpPr>
            <a:spLocks noGrp="1"/>
          </p:cNvSpPr>
          <p:nvPr/>
        </p:nvSpPr>
        <p:spPr>
          <a:xfrm>
            <a:off x="3714750" y="2571750"/>
            <a:ext cx="2286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 i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PHYSICAL EFFECT</a:t>
            </a:r>
          </a:p>
        </p:txBody>
      </p:sp>
      <p:sp>
        <p:nvSpPr>
          <p:cNvPr id="10" name="visual-label">
            <a:extLst>
              <a:ext uri="{FF2B5EF4-FFF2-40B4-BE49-F238E27FC236}">
                <a16:creationId xmlns:a16="http://schemas.microsoft.com/office/drawing/2014/main" id="{608928DC-CE2F-4521-B264-1DC881CAC898}"/>
              </a:ext>
            </a:extLst>
          </p:cNvPr>
          <p:cNvSpPr>
            <a:spLocks noGrp="1"/>
          </p:cNvSpPr>
          <p:nvPr/>
        </p:nvSpPr>
        <p:spPr>
          <a:xfrm>
            <a:off x="7524750" y="2571750"/>
            <a:ext cx="266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 i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RECEIVED POWER</a:t>
            </a:r>
          </a:p>
        </p:txBody>
      </p:sp>
      <p:sp>
        <p:nvSpPr>
          <p:cNvPr id="11" name="visual-box">
            <a:extLst>
              <a:ext uri="{FF2B5EF4-FFF2-40B4-BE49-F238E27FC236}">
                <a16:creationId xmlns:a16="http://schemas.microsoft.com/office/drawing/2014/main" id="{BFBBA13A-82F1-431C-B872-8F51DFA07496}"/>
              </a:ext>
            </a:extLst>
          </p:cNvPr>
          <p:cNvSpPr>
            <a:spLocks noGrp="1"/>
          </p:cNvSpPr>
          <p:nvPr/>
        </p:nvSpPr>
        <p:spPr>
          <a:xfrm>
            <a:off x="1143000" y="3238500"/>
            <a:ext cx="20002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POWER ×2</a:t>
            </a:r>
          </a:p>
        </p:txBody>
      </p:sp>
      <p:sp>
        <p:nvSpPr>
          <p:cNvPr id="12" name="visual-arrow">
            <a:extLst>
              <a:ext uri="{FF2B5EF4-FFF2-40B4-BE49-F238E27FC236}">
                <a16:creationId xmlns:a16="http://schemas.microsoft.com/office/drawing/2014/main" id="{CDB8838F-92E8-46E5-AA00-423060CAAE06}"/>
              </a:ext>
            </a:extLst>
          </p:cNvPr>
          <p:cNvSpPr>
            <a:spLocks noGrp="1"/>
          </p:cNvSpPr>
          <p:nvPr/>
        </p:nvSpPr>
        <p:spPr>
          <a:xfrm>
            <a:off x="3286125" y="3362325"/>
            <a:ext cx="419100" cy="247650"/>
          </a:xfrm>
          <a:prstGeom prst="rightArrow">
            <a:avLst/>
          </a:prstGeom>
          <a:solidFill>
            <a:srgbClr val="4472C4"/>
          </a:solidFill>
          <a:ln w="0">
            <a:solidFill>
              <a:srgbClr val="4472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visual-label">
            <a:extLst>
              <a:ext uri="{FF2B5EF4-FFF2-40B4-BE49-F238E27FC236}">
                <a16:creationId xmlns:a16="http://schemas.microsoft.com/office/drawing/2014/main" id="{DCF2D418-D1FF-4B6C-847D-CA62F2755753}"/>
              </a:ext>
            </a:extLst>
          </p:cNvPr>
          <p:cNvSpPr>
            <a:spLocks noGrp="1"/>
          </p:cNvSpPr>
          <p:nvPr/>
        </p:nvSpPr>
        <p:spPr>
          <a:xfrm>
            <a:off x="3857625" y="3238500"/>
            <a:ext cx="314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0" i="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twice the watts</a:t>
            </a:r>
          </a:p>
        </p:txBody>
      </p:sp>
      <p:sp>
        <p:nvSpPr>
          <p:cNvPr id="14" name="visual-box">
            <a:extLst>
              <a:ext uri="{FF2B5EF4-FFF2-40B4-BE49-F238E27FC236}">
                <a16:creationId xmlns:a16="http://schemas.microsoft.com/office/drawing/2014/main" id="{0FD1B7EC-AB7D-4A0A-861A-46C9528C6225}"/>
              </a:ext>
            </a:extLst>
          </p:cNvPr>
          <p:cNvSpPr>
            <a:spLocks noGrp="1"/>
          </p:cNvSpPr>
          <p:nvPr/>
        </p:nvSpPr>
        <p:spPr>
          <a:xfrm>
            <a:off x="7524750" y="3238500"/>
            <a:ext cx="2667000" cy="514350"/>
          </a:xfrm>
          <a:prstGeom prst="roundRect">
            <a:avLst>
              <a:gd name="adj" fmla="val 11111"/>
            </a:avLst>
          </a:prstGeom>
          <a:solidFill>
            <a:srgbClr val="EAF2F8"/>
          </a:solidFill>
          <a:ln w="19050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Δ[Pᵣ] = +3 dB</a:t>
            </a:r>
          </a:p>
        </p:txBody>
      </p:sp>
      <p:sp>
        <p:nvSpPr>
          <p:cNvPr id="15" name="visual-box">
            <a:extLst>
              <a:ext uri="{FF2B5EF4-FFF2-40B4-BE49-F238E27FC236}">
                <a16:creationId xmlns:a16="http://schemas.microsoft.com/office/drawing/2014/main" id="{4FD66B41-160A-45BA-A744-20D24F926268}"/>
              </a:ext>
            </a:extLst>
          </p:cNvPr>
          <p:cNvSpPr>
            <a:spLocks noGrp="1"/>
          </p:cNvSpPr>
          <p:nvPr/>
        </p:nvSpPr>
        <p:spPr>
          <a:xfrm>
            <a:off x="1143000" y="3905250"/>
            <a:ext cx="20002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POWER ×10</a:t>
            </a:r>
          </a:p>
        </p:txBody>
      </p:sp>
      <p:sp>
        <p:nvSpPr>
          <p:cNvPr id="16" name="visual-arrow">
            <a:extLst>
              <a:ext uri="{FF2B5EF4-FFF2-40B4-BE49-F238E27FC236}">
                <a16:creationId xmlns:a16="http://schemas.microsoft.com/office/drawing/2014/main" id="{A7030E56-AD1E-4C83-802B-8EF25C172E9A}"/>
              </a:ext>
            </a:extLst>
          </p:cNvPr>
          <p:cNvSpPr>
            <a:spLocks noGrp="1"/>
          </p:cNvSpPr>
          <p:nvPr/>
        </p:nvSpPr>
        <p:spPr>
          <a:xfrm>
            <a:off x="3286125" y="4029075"/>
            <a:ext cx="419100" cy="247650"/>
          </a:xfrm>
          <a:prstGeom prst="rightArrow">
            <a:avLst/>
          </a:prstGeom>
          <a:solidFill>
            <a:srgbClr val="4472C4"/>
          </a:solidFill>
          <a:ln w="0">
            <a:solidFill>
              <a:srgbClr val="4472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visual-label">
            <a:extLst>
              <a:ext uri="{FF2B5EF4-FFF2-40B4-BE49-F238E27FC236}">
                <a16:creationId xmlns:a16="http://schemas.microsoft.com/office/drawing/2014/main" id="{106AD2AF-E7E1-4AA8-8831-3F139DE3A99C}"/>
              </a:ext>
            </a:extLst>
          </p:cNvPr>
          <p:cNvSpPr>
            <a:spLocks noGrp="1"/>
          </p:cNvSpPr>
          <p:nvPr/>
        </p:nvSpPr>
        <p:spPr>
          <a:xfrm>
            <a:off x="3857625" y="3905250"/>
            <a:ext cx="314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0" i="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ten times the watts</a:t>
            </a:r>
          </a:p>
        </p:txBody>
      </p:sp>
      <p:sp>
        <p:nvSpPr>
          <p:cNvPr id="18" name="visual-box">
            <a:extLst>
              <a:ext uri="{FF2B5EF4-FFF2-40B4-BE49-F238E27FC236}">
                <a16:creationId xmlns:a16="http://schemas.microsoft.com/office/drawing/2014/main" id="{5F7A8376-0A17-48AA-8984-1598DADA4070}"/>
              </a:ext>
            </a:extLst>
          </p:cNvPr>
          <p:cNvSpPr>
            <a:spLocks noGrp="1"/>
          </p:cNvSpPr>
          <p:nvPr/>
        </p:nvSpPr>
        <p:spPr>
          <a:xfrm>
            <a:off x="7524750" y="3905250"/>
            <a:ext cx="2667000" cy="514350"/>
          </a:xfrm>
          <a:prstGeom prst="roundRect">
            <a:avLst>
              <a:gd name="adj" fmla="val 11111"/>
            </a:avLst>
          </a:prstGeom>
          <a:solidFill>
            <a:srgbClr val="EAF2F8"/>
          </a:solidFill>
          <a:ln w="19050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Δ[Pᵣ] = +10 dB</a:t>
            </a:r>
          </a:p>
        </p:txBody>
      </p:sp>
      <p:sp>
        <p:nvSpPr>
          <p:cNvPr id="19" name="visual-box">
            <a:extLst>
              <a:ext uri="{FF2B5EF4-FFF2-40B4-BE49-F238E27FC236}">
                <a16:creationId xmlns:a16="http://schemas.microsoft.com/office/drawing/2014/main" id="{A4DF836D-7FC7-4163-A363-7C5351D79679}"/>
              </a:ext>
            </a:extLst>
          </p:cNvPr>
          <p:cNvSpPr>
            <a:spLocks noGrp="1"/>
          </p:cNvSpPr>
          <p:nvPr/>
        </p:nvSpPr>
        <p:spPr>
          <a:xfrm>
            <a:off x="1143000" y="4572000"/>
            <a:ext cx="20002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C659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RANGE ×2</a:t>
            </a:r>
          </a:p>
        </p:txBody>
      </p:sp>
      <p:sp>
        <p:nvSpPr>
          <p:cNvPr id="20" name="visual-arrow">
            <a:extLst>
              <a:ext uri="{FF2B5EF4-FFF2-40B4-BE49-F238E27FC236}">
                <a16:creationId xmlns:a16="http://schemas.microsoft.com/office/drawing/2014/main" id="{C5228A58-F082-4F4E-8672-4FAD99AC9EFD}"/>
              </a:ext>
            </a:extLst>
          </p:cNvPr>
          <p:cNvSpPr>
            <a:spLocks noGrp="1"/>
          </p:cNvSpPr>
          <p:nvPr/>
        </p:nvSpPr>
        <p:spPr>
          <a:xfrm>
            <a:off x="3286125" y="4695825"/>
            <a:ext cx="419100" cy="247650"/>
          </a:xfrm>
          <a:prstGeom prst="rightArrow">
            <a:avLst/>
          </a:prstGeom>
          <a:solidFill>
            <a:srgbClr val="C65911"/>
          </a:solidFill>
          <a:ln w="0">
            <a:solidFill>
              <a:srgbClr val="C659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visual-label">
            <a:extLst>
              <a:ext uri="{FF2B5EF4-FFF2-40B4-BE49-F238E27FC236}">
                <a16:creationId xmlns:a16="http://schemas.microsoft.com/office/drawing/2014/main" id="{87E2E9D7-7726-4B6E-8515-33951634AE0E}"/>
              </a:ext>
            </a:extLst>
          </p:cNvPr>
          <p:cNvSpPr>
            <a:spLocks noGrp="1"/>
          </p:cNvSpPr>
          <p:nvPr/>
        </p:nvSpPr>
        <p:spPr>
          <a:xfrm>
            <a:off x="3857625" y="4572000"/>
            <a:ext cx="314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0" i="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four times the sphere area</a:t>
            </a:r>
          </a:p>
        </p:txBody>
      </p:sp>
      <p:sp>
        <p:nvSpPr>
          <p:cNvPr id="22" name="visual-box">
            <a:extLst>
              <a:ext uri="{FF2B5EF4-FFF2-40B4-BE49-F238E27FC236}">
                <a16:creationId xmlns:a16="http://schemas.microsoft.com/office/drawing/2014/main" id="{96095758-AE4E-4B73-A5EA-E35C76C266B6}"/>
              </a:ext>
            </a:extLst>
          </p:cNvPr>
          <p:cNvSpPr>
            <a:spLocks noGrp="1"/>
          </p:cNvSpPr>
          <p:nvPr/>
        </p:nvSpPr>
        <p:spPr>
          <a:xfrm>
            <a:off x="7524750" y="4572000"/>
            <a:ext cx="2667000" cy="514350"/>
          </a:xfrm>
          <a:prstGeom prst="roundRect">
            <a:avLst>
              <a:gd name="adj" fmla="val 11111"/>
            </a:avLst>
          </a:prstGeom>
          <a:solidFill>
            <a:srgbClr val="FCE4D6"/>
          </a:solidFill>
          <a:ln w="19050">
            <a:solidFill>
              <a:srgbClr val="C659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Δ[Pᵣ] = −6 dB</a:t>
            </a:r>
          </a:p>
        </p:txBody>
      </p:sp>
      <p:sp>
        <p:nvSpPr>
          <p:cNvPr id="23" name="visual-box">
            <a:extLst>
              <a:ext uri="{FF2B5EF4-FFF2-40B4-BE49-F238E27FC236}">
                <a16:creationId xmlns:a16="http://schemas.microsoft.com/office/drawing/2014/main" id="{AE93FE1D-81BD-4876-92D3-29BB39993429}"/>
              </a:ext>
            </a:extLst>
          </p:cNvPr>
          <p:cNvSpPr>
            <a:spLocks noGrp="1"/>
          </p:cNvSpPr>
          <p:nvPr/>
        </p:nvSpPr>
        <p:spPr>
          <a:xfrm>
            <a:off x="1143000" y="5238750"/>
            <a:ext cx="200025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A61B1B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A61B1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RANGE ×10</a:t>
            </a:r>
          </a:p>
        </p:txBody>
      </p:sp>
      <p:sp>
        <p:nvSpPr>
          <p:cNvPr id="24" name="visual-arrow">
            <a:extLst>
              <a:ext uri="{FF2B5EF4-FFF2-40B4-BE49-F238E27FC236}">
                <a16:creationId xmlns:a16="http://schemas.microsoft.com/office/drawing/2014/main" id="{35B96CB5-35A9-4697-A2D2-AEFDC7654AE3}"/>
              </a:ext>
            </a:extLst>
          </p:cNvPr>
          <p:cNvSpPr>
            <a:spLocks noGrp="1"/>
          </p:cNvSpPr>
          <p:nvPr/>
        </p:nvSpPr>
        <p:spPr>
          <a:xfrm>
            <a:off x="3286125" y="5362575"/>
            <a:ext cx="419100" cy="247650"/>
          </a:xfrm>
          <a:prstGeom prst="rightArrow">
            <a:avLst/>
          </a:prstGeom>
          <a:solidFill>
            <a:srgbClr val="A61B1B"/>
          </a:solidFill>
          <a:ln w="0">
            <a:solidFill>
              <a:srgbClr val="A61B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visual-label">
            <a:extLst>
              <a:ext uri="{FF2B5EF4-FFF2-40B4-BE49-F238E27FC236}">
                <a16:creationId xmlns:a16="http://schemas.microsoft.com/office/drawing/2014/main" id="{C9480A61-5022-4033-89BC-64BA6449321F}"/>
              </a:ext>
            </a:extLst>
          </p:cNvPr>
          <p:cNvSpPr>
            <a:spLocks noGrp="1"/>
          </p:cNvSpPr>
          <p:nvPr/>
        </p:nvSpPr>
        <p:spPr>
          <a:xfrm>
            <a:off x="3857625" y="5238750"/>
            <a:ext cx="314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0" i="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one hundred times the area</a:t>
            </a:r>
          </a:p>
        </p:txBody>
      </p:sp>
      <p:sp>
        <p:nvSpPr>
          <p:cNvPr id="26" name="visual-box">
            <a:extLst>
              <a:ext uri="{FF2B5EF4-FFF2-40B4-BE49-F238E27FC236}">
                <a16:creationId xmlns:a16="http://schemas.microsoft.com/office/drawing/2014/main" id="{33B5966B-E7A7-4C66-A401-B974C1C546BD}"/>
              </a:ext>
            </a:extLst>
          </p:cNvPr>
          <p:cNvSpPr>
            <a:spLocks noGrp="1"/>
          </p:cNvSpPr>
          <p:nvPr/>
        </p:nvSpPr>
        <p:spPr>
          <a:xfrm>
            <a:off x="7524750" y="5238750"/>
            <a:ext cx="2667000" cy="514350"/>
          </a:xfrm>
          <a:prstGeom prst="roundRect">
            <a:avLst>
              <a:gd name="adj" fmla="val 11111"/>
            </a:avLst>
          </a:prstGeom>
          <a:solidFill>
            <a:srgbClr val="FCE4D6"/>
          </a:solidFill>
          <a:ln w="19050">
            <a:solidFill>
              <a:srgbClr val="A61B1B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A61B1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Δ[Pᵣ] = −20 dB</a:t>
            </a:r>
          </a:p>
        </p:txBody>
      </p:sp>
    </p:spTree>
    <p:extLst>
      <p:ext uri="{BB962C8B-B14F-4D97-AF65-F5344CB8AC3E}">
        <p14:creationId xmlns:p14="http://schemas.microsoft.com/office/powerpoint/2010/main" val="2283588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B85BE-10EC-4A7C-83B4-D62CC2A71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Equivalent Isotropically Radiated Power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2B6AC4-8D6C-11A0-D426-B3EEC8C60A6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Received Power and Link Geometry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A9FA0-2E8B-C9DD-B59C-EF95EF029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C9C7607-4BA3-B4DC-A00F-2E67A9FCFF7E}" type="slidenum">
              <a:rPr/>
              <a:t>16</a:t>
            </a:fld>
            <a:endParaRPr/>
          </a:p>
        </p:txBody>
      </p:sp>
      <p:sp>
        <p:nvSpPr>
          <p:cNvPr id="7" name="visual-label">
            <a:extLst>
              <a:ext uri="{FF2B5EF4-FFF2-40B4-BE49-F238E27FC236}">
                <a16:creationId xmlns:a16="http://schemas.microsoft.com/office/drawing/2014/main" id="{44BB2EE6-84CE-4A8D-AEDC-B6AA91BA802A}"/>
              </a:ext>
            </a:extLst>
          </p:cNvPr>
          <p:cNvSpPr>
            <a:spLocks noGrp="1"/>
          </p:cNvSpPr>
          <p:nvPr/>
        </p:nvSpPr>
        <p:spPr>
          <a:xfrm>
            <a:off x="952500" y="169545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025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[EIRP] = [Pₜ] − [Lₜ] + [Gₜ]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134241" y="2143125"/>
            <a:ext cx="5923518" cy="3333750"/>
          </a:xfrm>
          <a:prstGeom prst="rect">
            <a:avLst/>
          </a:prstGeom>
        </p:spPr>
      </p:pic>
      <p:sp>
        <p:nvSpPr>
          <p:cNvPr id="9" name="visual-box">
            <a:extLst>
              <a:ext uri="{FF2B5EF4-FFF2-40B4-BE49-F238E27FC236}">
                <a16:creationId xmlns:a16="http://schemas.microsoft.com/office/drawing/2014/main" id="{FF936564-1621-4BE4-B864-2A408B940DD0}"/>
              </a:ext>
            </a:extLst>
          </p:cNvPr>
          <p:cNvSpPr>
            <a:spLocks noGrp="1"/>
          </p:cNvSpPr>
          <p:nvPr/>
        </p:nvSpPr>
        <p:spPr>
          <a:xfrm>
            <a:off x="1714500" y="2343150"/>
            <a:ext cx="209550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ISOTROPIC REFERENCE</a:t>
            </a:r>
          </a:p>
        </p:txBody>
      </p:sp>
      <p:sp>
        <p:nvSpPr>
          <p:cNvPr id="10" name="visual-box">
            <a:extLst>
              <a:ext uri="{FF2B5EF4-FFF2-40B4-BE49-F238E27FC236}">
                <a16:creationId xmlns:a16="http://schemas.microsoft.com/office/drawing/2014/main" id="{D13D28F3-FFBC-4543-9CB6-694A71BE48D2}"/>
              </a:ext>
            </a:extLst>
          </p:cNvPr>
          <p:cNvSpPr>
            <a:spLocks noGrp="1"/>
          </p:cNvSpPr>
          <p:nvPr/>
        </p:nvSpPr>
        <p:spPr>
          <a:xfrm>
            <a:off x="7239000" y="2343150"/>
            <a:ext cx="2381250" cy="419100"/>
          </a:xfrm>
          <a:prstGeom prst="roundRect">
            <a:avLst>
              <a:gd name="adj" fmla="val 13636"/>
            </a:avLst>
          </a:prstGeom>
          <a:solidFill>
            <a:srgbClr val="FCE4D6"/>
          </a:solidFill>
          <a:ln w="19050">
            <a:solidFill>
              <a:srgbClr val="C659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DIRECTIONAL ANTENNA</a:t>
            </a:r>
          </a:p>
        </p:txBody>
      </p:sp>
      <p:sp>
        <p:nvSpPr>
          <p:cNvPr id="11" name="visual-label">
            <a:extLst>
              <a:ext uri="{FF2B5EF4-FFF2-40B4-BE49-F238E27FC236}">
                <a16:creationId xmlns:a16="http://schemas.microsoft.com/office/drawing/2014/main" id="{6319D982-9E1D-4E15-8016-41964487CA65}"/>
              </a:ext>
            </a:extLst>
          </p:cNvPr>
          <p:cNvSpPr>
            <a:spLocks noGrp="1"/>
          </p:cNvSpPr>
          <p:nvPr/>
        </p:nvSpPr>
        <p:spPr>
          <a:xfrm>
            <a:off x="1143000" y="5391150"/>
            <a:ext cx="990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 i="0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Equivalent on-axis intensity—not a new power amplifier.</a:t>
            </a:r>
          </a:p>
        </p:txBody>
      </p:sp>
    </p:spTree>
    <p:extLst>
      <p:ext uri="{BB962C8B-B14F-4D97-AF65-F5344CB8AC3E}">
        <p14:creationId xmlns:p14="http://schemas.microsoft.com/office/powerpoint/2010/main" val="2595174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Collecting the Power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Received Power and Link Geometry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8A612-E74C-068B-10F2-ADD2E903A8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0F7333B-44AC-F7E9-D49D-FE92F45E0477}" type="slidenum">
              <a:rPr/>
              <a:t>17</a:t>
            </a:fld>
            <a:endParaRPr/>
          </a:p>
        </p:txBody>
      </p:sp>
      <p:sp>
        <p:nvSpPr>
          <p:cNvPr id="7" name="visual-label">
            <a:extLst>
              <a:ext uri="{FF2B5EF4-FFF2-40B4-BE49-F238E27FC236}">
                <a16:creationId xmlns:a16="http://schemas.microsoft.com/office/drawing/2014/main" id="{56F3A8B2-A143-469B-91A9-64C1E69D1584}"/>
              </a:ext>
            </a:extLst>
          </p:cNvPr>
          <p:cNvSpPr>
            <a:spLocks noGrp="1"/>
          </p:cNvSpPr>
          <p:nvPr/>
        </p:nvSpPr>
        <p:spPr>
          <a:xfrm>
            <a:off x="4320475" y="5672171"/>
            <a:ext cx="1047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025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Pᵣ = S Aₑ    (linear quantities)</a:t>
            </a:r>
          </a:p>
        </p:txBody>
      </p:sp>
      <p:sp>
        <p:nvSpPr>
          <p:cNvPr id="8" name="visual-point">
            <a:extLst>
              <a:ext uri="{FF2B5EF4-FFF2-40B4-BE49-F238E27FC236}">
                <a16:creationId xmlns:a16="http://schemas.microsoft.com/office/drawing/2014/main" id="{5E2BCC31-CE64-44BB-8E42-F262FCEDEF5E}"/>
              </a:ext>
            </a:extLst>
          </p:cNvPr>
          <p:cNvSpPr>
            <a:spLocks noGrp="1"/>
          </p:cNvSpPr>
          <p:nvPr/>
        </p:nvSpPr>
        <p:spPr>
          <a:xfrm>
            <a:off x="3622855" y="3631748"/>
            <a:ext cx="342900" cy="342900"/>
          </a:xfrm>
          <a:prstGeom prst="ellipse">
            <a:avLst/>
          </a:prstGeom>
          <a:solidFill>
            <a:srgbClr val="C6591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wavefront">
            <a:extLst>
              <a:ext uri="{FF2B5EF4-FFF2-40B4-BE49-F238E27FC236}">
                <a16:creationId xmlns:a16="http://schemas.microsoft.com/office/drawing/2014/main" id="{6C2DF4F0-86C8-4C57-8991-903997A18FE2}"/>
              </a:ext>
            </a:extLst>
          </p:cNvPr>
          <p:cNvSpPr>
            <a:spLocks noGrp="1"/>
          </p:cNvSpPr>
          <p:nvPr/>
        </p:nvSpPr>
        <p:spPr>
          <a:xfrm>
            <a:off x="3127555" y="3136448"/>
            <a:ext cx="1333500" cy="1333500"/>
          </a:xfrm>
          <a:prstGeom prst="ellips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wavefront">
            <a:extLst>
              <a:ext uri="{FF2B5EF4-FFF2-40B4-BE49-F238E27FC236}">
                <a16:creationId xmlns:a16="http://schemas.microsoft.com/office/drawing/2014/main" id="{B0D4DB8C-7D3B-4507-9727-3FD7A1A3C52A}"/>
              </a:ext>
            </a:extLst>
          </p:cNvPr>
          <p:cNvSpPr>
            <a:spLocks noGrp="1"/>
          </p:cNvSpPr>
          <p:nvPr/>
        </p:nvSpPr>
        <p:spPr>
          <a:xfrm>
            <a:off x="2603680" y="2612573"/>
            <a:ext cx="2381250" cy="2381250"/>
          </a:xfrm>
          <a:prstGeom prst="ellips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wavefront">
            <a:extLst>
              <a:ext uri="{FF2B5EF4-FFF2-40B4-BE49-F238E27FC236}">
                <a16:creationId xmlns:a16="http://schemas.microsoft.com/office/drawing/2014/main" id="{FBE1AA19-4AC9-4BC9-B765-3B6CD46D0F46}"/>
              </a:ext>
            </a:extLst>
          </p:cNvPr>
          <p:cNvSpPr>
            <a:spLocks noGrp="1"/>
          </p:cNvSpPr>
          <p:nvPr/>
        </p:nvSpPr>
        <p:spPr>
          <a:xfrm>
            <a:off x="2079805" y="2088698"/>
            <a:ext cx="3429000" cy="3429000"/>
          </a:xfrm>
          <a:prstGeom prst="ellips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wavefront">
            <a:extLst>
              <a:ext uri="{FF2B5EF4-FFF2-40B4-BE49-F238E27FC236}">
                <a16:creationId xmlns:a16="http://schemas.microsoft.com/office/drawing/2014/main" id="{0623E79E-AF76-4608-A977-EE2ABC135CF8}"/>
              </a:ext>
            </a:extLst>
          </p:cNvPr>
          <p:cNvSpPr>
            <a:spLocks noGrp="1"/>
          </p:cNvSpPr>
          <p:nvPr/>
        </p:nvSpPr>
        <p:spPr>
          <a:xfrm>
            <a:off x="1555930" y="1564823"/>
            <a:ext cx="4476750" cy="4476750"/>
          </a:xfrm>
          <a:prstGeom prst="ellips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visual-label">
            <a:extLst>
              <a:ext uri="{FF2B5EF4-FFF2-40B4-BE49-F238E27FC236}">
                <a16:creationId xmlns:a16="http://schemas.microsoft.com/office/drawing/2014/main" id="{CB91FAD6-C72D-4F7B-8C8A-F4D9151E2529}"/>
              </a:ext>
            </a:extLst>
          </p:cNvPr>
          <p:cNvSpPr>
            <a:spLocks noGrp="1"/>
          </p:cNvSpPr>
          <p:nvPr/>
        </p:nvSpPr>
        <p:spPr>
          <a:xfrm>
            <a:off x="2194105" y="6098723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 i="0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S = EIRP / (4πR²), in W/m²</a:t>
            </a:r>
          </a:p>
        </p:txBody>
      </p:sp>
      <p:sp>
        <p:nvSpPr>
          <p:cNvPr id="15" name="visual-line">
            <a:extLst>
              <a:ext uri="{FF2B5EF4-FFF2-40B4-BE49-F238E27FC236}">
                <a16:creationId xmlns:a16="http://schemas.microsoft.com/office/drawing/2014/main" id="{32CC43D8-EE09-4BC1-88DC-438D4E23A857}"/>
              </a:ext>
            </a:extLst>
          </p:cNvPr>
          <p:cNvSpPr>
            <a:spLocks noGrp="1"/>
          </p:cNvSpPr>
          <p:nvPr/>
        </p:nvSpPr>
        <p:spPr>
          <a:xfrm>
            <a:off x="8608845" y="2792914"/>
            <a:ext cx="475190" cy="592601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visual-label">
            <a:extLst>
              <a:ext uri="{FF2B5EF4-FFF2-40B4-BE49-F238E27FC236}">
                <a16:creationId xmlns:a16="http://schemas.microsoft.com/office/drawing/2014/main" id="{C2FCDC7F-2A6D-4E39-A3C7-AC71E569F0AD}"/>
              </a:ext>
            </a:extLst>
          </p:cNvPr>
          <p:cNvSpPr>
            <a:spLocks noGrp="1"/>
          </p:cNvSpPr>
          <p:nvPr/>
        </p:nvSpPr>
        <p:spPr>
          <a:xfrm>
            <a:off x="7672691" y="5158945"/>
            <a:ext cx="3905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 i="0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1575" b="1" i="0" dirty="0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Only the field crossing the</a:t>
            </a:r>
          </a:p>
          <a:p>
            <a:pPr algn="ctr">
              <a:buNone/>
              <a:defRPr sz="1575" b="1" i="0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1575" b="1" i="0" dirty="0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effective collecting area is captured.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EEBBE3-6943-3F4E-5756-0AA85CF68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77300" y="3429000"/>
            <a:ext cx="1520825" cy="1520825"/>
          </a:xfrm>
          <a:prstGeom prst="rect">
            <a:avLst/>
          </a:prstGeom>
        </p:spPr>
      </p:pic>
      <p:sp>
        <p:nvSpPr>
          <p:cNvPr id="23" name="visual-line">
            <a:extLst>
              <a:ext uri="{FF2B5EF4-FFF2-40B4-BE49-F238E27FC236}">
                <a16:creationId xmlns:a16="http://schemas.microsoft.com/office/drawing/2014/main" id="{BA90B443-1028-418F-DA29-D5637F17AFAB}"/>
              </a:ext>
            </a:extLst>
          </p:cNvPr>
          <p:cNvSpPr>
            <a:spLocks noGrp="1"/>
          </p:cNvSpPr>
          <p:nvPr/>
        </p:nvSpPr>
        <p:spPr>
          <a:xfrm>
            <a:off x="8712607" y="2722039"/>
            <a:ext cx="475190" cy="592601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visual-line">
            <a:extLst>
              <a:ext uri="{FF2B5EF4-FFF2-40B4-BE49-F238E27FC236}">
                <a16:creationId xmlns:a16="http://schemas.microsoft.com/office/drawing/2014/main" id="{26DA5BBC-271C-170A-54B5-70C356725263}"/>
              </a:ext>
            </a:extLst>
          </p:cNvPr>
          <p:cNvSpPr>
            <a:spLocks noGrp="1"/>
          </p:cNvSpPr>
          <p:nvPr/>
        </p:nvSpPr>
        <p:spPr>
          <a:xfrm>
            <a:off x="8846440" y="2667129"/>
            <a:ext cx="475190" cy="592601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" name="visual-line">
            <a:extLst>
              <a:ext uri="{FF2B5EF4-FFF2-40B4-BE49-F238E27FC236}">
                <a16:creationId xmlns:a16="http://schemas.microsoft.com/office/drawing/2014/main" id="{54A2C237-D976-3D29-03B0-C939508CC59B}"/>
              </a:ext>
            </a:extLst>
          </p:cNvPr>
          <p:cNvSpPr>
            <a:spLocks noGrp="1"/>
          </p:cNvSpPr>
          <p:nvPr/>
        </p:nvSpPr>
        <p:spPr>
          <a:xfrm>
            <a:off x="8950202" y="2596254"/>
            <a:ext cx="475190" cy="592601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6" name="visual-line">
            <a:extLst>
              <a:ext uri="{FF2B5EF4-FFF2-40B4-BE49-F238E27FC236}">
                <a16:creationId xmlns:a16="http://schemas.microsoft.com/office/drawing/2014/main" id="{0C19ECC3-37E5-9D25-F97D-C7644C931B91}"/>
              </a:ext>
            </a:extLst>
          </p:cNvPr>
          <p:cNvSpPr>
            <a:spLocks noGrp="1"/>
          </p:cNvSpPr>
          <p:nvPr/>
        </p:nvSpPr>
        <p:spPr>
          <a:xfrm>
            <a:off x="9084035" y="2518356"/>
            <a:ext cx="475190" cy="592601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7" name="visual-line">
            <a:extLst>
              <a:ext uri="{FF2B5EF4-FFF2-40B4-BE49-F238E27FC236}">
                <a16:creationId xmlns:a16="http://schemas.microsoft.com/office/drawing/2014/main" id="{E693EF91-92B0-E418-F437-49F8AC59E303}"/>
              </a:ext>
            </a:extLst>
          </p:cNvPr>
          <p:cNvSpPr>
            <a:spLocks noGrp="1"/>
          </p:cNvSpPr>
          <p:nvPr/>
        </p:nvSpPr>
        <p:spPr>
          <a:xfrm>
            <a:off x="9187797" y="2447481"/>
            <a:ext cx="475190" cy="592601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8" name="visual-line">
            <a:extLst>
              <a:ext uri="{FF2B5EF4-FFF2-40B4-BE49-F238E27FC236}">
                <a16:creationId xmlns:a16="http://schemas.microsoft.com/office/drawing/2014/main" id="{9E3EF389-62C0-547E-4177-CC2454B8A865}"/>
              </a:ext>
            </a:extLst>
          </p:cNvPr>
          <p:cNvSpPr>
            <a:spLocks noGrp="1"/>
          </p:cNvSpPr>
          <p:nvPr/>
        </p:nvSpPr>
        <p:spPr>
          <a:xfrm>
            <a:off x="9321630" y="2392571"/>
            <a:ext cx="475190" cy="592601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9" name="visual-line">
            <a:extLst>
              <a:ext uri="{FF2B5EF4-FFF2-40B4-BE49-F238E27FC236}">
                <a16:creationId xmlns:a16="http://schemas.microsoft.com/office/drawing/2014/main" id="{E6DD9B7B-BE32-C961-8BF5-488B240C2988}"/>
              </a:ext>
            </a:extLst>
          </p:cNvPr>
          <p:cNvSpPr>
            <a:spLocks noGrp="1"/>
          </p:cNvSpPr>
          <p:nvPr/>
        </p:nvSpPr>
        <p:spPr>
          <a:xfrm>
            <a:off x="9425392" y="2321696"/>
            <a:ext cx="475190" cy="592601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0" name="visual-line">
            <a:extLst>
              <a:ext uri="{FF2B5EF4-FFF2-40B4-BE49-F238E27FC236}">
                <a16:creationId xmlns:a16="http://schemas.microsoft.com/office/drawing/2014/main" id="{7AC6789B-1D6F-F979-F2DE-093C0E3F0B35}"/>
              </a:ext>
            </a:extLst>
          </p:cNvPr>
          <p:cNvSpPr>
            <a:spLocks noGrp="1"/>
          </p:cNvSpPr>
          <p:nvPr/>
        </p:nvSpPr>
        <p:spPr>
          <a:xfrm>
            <a:off x="7683595" y="3336382"/>
            <a:ext cx="475190" cy="592601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1" name="visual-line">
            <a:extLst>
              <a:ext uri="{FF2B5EF4-FFF2-40B4-BE49-F238E27FC236}">
                <a16:creationId xmlns:a16="http://schemas.microsoft.com/office/drawing/2014/main" id="{AC0637CC-8717-67EB-D35B-725A1EE97F9E}"/>
              </a:ext>
            </a:extLst>
          </p:cNvPr>
          <p:cNvSpPr>
            <a:spLocks noGrp="1"/>
          </p:cNvSpPr>
          <p:nvPr/>
        </p:nvSpPr>
        <p:spPr>
          <a:xfrm>
            <a:off x="7787357" y="3265507"/>
            <a:ext cx="475190" cy="592601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2" name="visual-line">
            <a:extLst>
              <a:ext uri="{FF2B5EF4-FFF2-40B4-BE49-F238E27FC236}">
                <a16:creationId xmlns:a16="http://schemas.microsoft.com/office/drawing/2014/main" id="{FD171A4D-EB27-86DA-E63B-8A8E3086B15F}"/>
              </a:ext>
            </a:extLst>
          </p:cNvPr>
          <p:cNvSpPr>
            <a:spLocks noGrp="1"/>
          </p:cNvSpPr>
          <p:nvPr/>
        </p:nvSpPr>
        <p:spPr>
          <a:xfrm>
            <a:off x="7921190" y="3210597"/>
            <a:ext cx="475190" cy="592601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3" name="visual-line">
            <a:extLst>
              <a:ext uri="{FF2B5EF4-FFF2-40B4-BE49-F238E27FC236}">
                <a16:creationId xmlns:a16="http://schemas.microsoft.com/office/drawing/2014/main" id="{E52BD87F-7651-F2E2-3D83-922B77337C74}"/>
              </a:ext>
            </a:extLst>
          </p:cNvPr>
          <p:cNvSpPr>
            <a:spLocks noGrp="1"/>
          </p:cNvSpPr>
          <p:nvPr/>
        </p:nvSpPr>
        <p:spPr>
          <a:xfrm>
            <a:off x="8024952" y="3139722"/>
            <a:ext cx="475190" cy="592601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4" name="visual-line">
            <a:extLst>
              <a:ext uri="{FF2B5EF4-FFF2-40B4-BE49-F238E27FC236}">
                <a16:creationId xmlns:a16="http://schemas.microsoft.com/office/drawing/2014/main" id="{371BDAB1-BA78-ADA0-1587-0E97CB3A0705}"/>
              </a:ext>
            </a:extLst>
          </p:cNvPr>
          <p:cNvSpPr>
            <a:spLocks noGrp="1"/>
          </p:cNvSpPr>
          <p:nvPr/>
        </p:nvSpPr>
        <p:spPr>
          <a:xfrm>
            <a:off x="8158785" y="3061824"/>
            <a:ext cx="475190" cy="592601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5" name="visual-line">
            <a:extLst>
              <a:ext uri="{FF2B5EF4-FFF2-40B4-BE49-F238E27FC236}">
                <a16:creationId xmlns:a16="http://schemas.microsoft.com/office/drawing/2014/main" id="{E3146ADF-2A80-CAC8-09B8-C729AE1B83BA}"/>
              </a:ext>
            </a:extLst>
          </p:cNvPr>
          <p:cNvSpPr>
            <a:spLocks noGrp="1"/>
          </p:cNvSpPr>
          <p:nvPr/>
        </p:nvSpPr>
        <p:spPr>
          <a:xfrm>
            <a:off x="8262547" y="2990949"/>
            <a:ext cx="475190" cy="592601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6" name="visual-line">
            <a:extLst>
              <a:ext uri="{FF2B5EF4-FFF2-40B4-BE49-F238E27FC236}">
                <a16:creationId xmlns:a16="http://schemas.microsoft.com/office/drawing/2014/main" id="{BB6A22B5-E565-6F9D-48B9-9EB5E638F088}"/>
              </a:ext>
            </a:extLst>
          </p:cNvPr>
          <p:cNvSpPr>
            <a:spLocks noGrp="1"/>
          </p:cNvSpPr>
          <p:nvPr/>
        </p:nvSpPr>
        <p:spPr>
          <a:xfrm>
            <a:off x="8396380" y="2936039"/>
            <a:ext cx="475190" cy="592601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7" name="visual-line">
            <a:extLst>
              <a:ext uri="{FF2B5EF4-FFF2-40B4-BE49-F238E27FC236}">
                <a16:creationId xmlns:a16="http://schemas.microsoft.com/office/drawing/2014/main" id="{BFF6920B-0FF5-46B5-3147-0272FD563132}"/>
              </a:ext>
            </a:extLst>
          </p:cNvPr>
          <p:cNvSpPr>
            <a:spLocks noGrp="1"/>
          </p:cNvSpPr>
          <p:nvPr/>
        </p:nvSpPr>
        <p:spPr>
          <a:xfrm>
            <a:off x="8500142" y="2865164"/>
            <a:ext cx="475190" cy="592601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3622-E524-4DBB-ABBE-B1CFE4A8E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Calculating Free-Space Path Loss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591C0-FBFF-494B-8AA2-2D69F16F5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114550"/>
            <a:ext cx="9601200" cy="2857500"/>
          </a:xfrm>
        </p:spPr>
        <p:txBody>
          <a:bodyPr lIns="152400" tIns="114300" rIns="152400" bIns="114300" anchor="t">
            <a:noAutofit/>
          </a:bodyPr>
          <a:lstStyle/>
          <a:p>
            <a:pPr algn="l">
              <a:spcAft>
                <a:spcPts val="14"/>
              </a:spcAft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[Lₚ] = 20 log₁₀(4πR / λ)</a:t>
            </a:r>
          </a:p>
          <a:p>
            <a:pPr algn="l">
              <a:spcAft>
                <a:spcPts val="14"/>
              </a:spcAft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In km and GHz: [Lₚ] = 92.45 + 20 log₁₀(R) + 20 log₁₀(f)</a:t>
            </a:r>
          </a:p>
          <a:p>
            <a:pPr algn="l">
              <a:spcAft>
                <a:spcPts val="14"/>
              </a:spcAft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For TERPSat: R = 2574 km and f = 8.4 GHz.</a:t>
            </a:r>
          </a:p>
          <a:p>
            <a:pPr algn="l">
              <a:spcAft>
                <a:spcPts val="14"/>
              </a:spcAft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[Lₚ] is a positive loss; subtract it in the power ledger.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84FBA-3818-8C6A-B126-F93FC5DCAA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Received Power and Link Geometry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8A612-E74C-068B-10F2-ADD2E903A8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1C6C81E-38B9-7560-621D-5A151A79DF9B}" type="slidenum">
              <a:rPr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74257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B2EB5-D060-4D9F-9C57-776A5B189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The Received-Power Equation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39848-ADED-3165-2B31-5571E33300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Received Power and Link Geometry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6172A-6130-DD2C-F9DA-650478B69E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CF91274-D221-1BB4-3BF9-836E3AD31EBE}" type="slidenum">
              <a:rPr/>
              <a:t>19</a:t>
            </a:fld>
            <a:endParaRPr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1888107"/>
            <a:ext cx="10477500" cy="351993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05C94B2-ABF9-4D1A-9C48-FB3314D6FBF2}"/>
              </a:ext>
            </a:extLst>
          </p:cNvPr>
          <p:cNvSpPr>
            <a:spLocks noGrp="1"/>
          </p:cNvSpPr>
          <p:nvPr/>
        </p:nvSpPr>
        <p:spPr>
          <a:xfrm>
            <a:off x="904875" y="1381125"/>
            <a:ext cx="39052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25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Spacecraft: [EIRP]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049720-2EAF-4629-859A-5CB2D278F1FA}"/>
              </a:ext>
            </a:extLst>
          </p:cNvPr>
          <p:cNvSpPr>
            <a:spLocks noGrp="1"/>
          </p:cNvSpPr>
          <p:nvPr/>
        </p:nvSpPr>
        <p:spPr>
          <a:xfrm>
            <a:off x="904875" y="1752600"/>
            <a:ext cx="4286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Transmitter + Feed + Antenna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BC22F1-875C-4FA4-A569-3D0624FF6436}"/>
              </a:ext>
            </a:extLst>
          </p:cNvPr>
          <p:cNvSpPr>
            <a:spLocks noGrp="1"/>
          </p:cNvSpPr>
          <p:nvPr/>
        </p:nvSpPr>
        <p:spPr>
          <a:xfrm>
            <a:off x="7572375" y="1381125"/>
            <a:ext cx="3810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225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Receive Antenna: [Gᵣ]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7D2517-F4F9-4A4C-A958-DE110091A866}"/>
              </a:ext>
            </a:extLst>
          </p:cNvPr>
          <p:cNvSpPr>
            <a:spLocks noGrp="1"/>
          </p:cNvSpPr>
          <p:nvPr/>
        </p:nvSpPr>
        <p:spPr>
          <a:xfrm>
            <a:off x="4286250" y="2638425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7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Free-Space Path Loss: [Lₚ]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4F9E7E-FD10-41F5-8880-6ACE05B6D820}"/>
              </a:ext>
            </a:extLst>
          </p:cNvPr>
          <p:cNvSpPr>
            <a:spLocks noGrp="1"/>
          </p:cNvSpPr>
          <p:nvPr/>
        </p:nvSpPr>
        <p:spPr>
          <a:xfrm>
            <a:off x="4572000" y="3000375"/>
            <a:ext cx="4095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Range and Frequency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3C94D99C-96C2-4231-95A3-D6FBBB6804CA}"/>
              </a:ext>
            </a:extLst>
          </p:cNvPr>
          <p:cNvSpPr>
            <a:spLocks noGrp="1"/>
          </p:cNvSpPr>
          <p:nvPr/>
        </p:nvSpPr>
        <p:spPr>
          <a:xfrm>
            <a:off x="3457575" y="3476625"/>
            <a:ext cx="5934075" cy="123825"/>
          </a:xfrm>
          <a:prstGeom prst="rightArrow">
            <a:avLst/>
          </a:prstGeom>
          <a:solidFill>
            <a:srgbClr val="20558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62F390-CDA6-42D4-A3E0-D8AC9F50DDBA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6381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[EIRP] = [Pₜ] − [Lₜ] + [Gₜ]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087598-54D7-4E59-9EAB-E3BB183303BB}"/>
              </a:ext>
            </a:extLst>
          </p:cNvPr>
          <p:cNvSpPr>
            <a:spLocks noGrp="1"/>
          </p:cNvSpPr>
          <p:nvPr/>
        </p:nvSpPr>
        <p:spPr>
          <a:xfrm>
            <a:off x="904875" y="4752975"/>
            <a:ext cx="63817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Transmit Power − Feed Loss + Antenna Gain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D9B332-3182-4D2B-A533-99086FEA079C}"/>
              </a:ext>
            </a:extLst>
          </p:cNvPr>
          <p:cNvSpPr>
            <a:spLocks noGrp="1"/>
          </p:cNvSpPr>
          <p:nvPr/>
        </p:nvSpPr>
        <p:spPr>
          <a:xfrm>
            <a:off x="904875" y="5381625"/>
            <a:ext cx="1047750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925" b="1">
                <a:solidFill>
                  <a:srgbClr val="205580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[Pᵣ] = [EIRP] − [Lₚ] + [Gᵣ] − [Lₒₜₕₑᵣ]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1D4D94B-2F71-4C07-A1F2-7F6B1D7A0DC7}"/>
              </a:ext>
            </a:extLst>
          </p:cNvPr>
          <p:cNvSpPr>
            <a:spLocks noGrp="1"/>
          </p:cNvSpPr>
          <p:nvPr/>
        </p:nvSpPr>
        <p:spPr>
          <a:xfrm>
            <a:off x="1428750" y="5867400"/>
            <a:ext cx="9334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65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Power: dBW     Antenna Gain: dBi     Losses: dB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6AF43E-57A1-4A0C-A36A-0C177B51A49B}"/>
              </a:ext>
            </a:extLst>
          </p:cNvPr>
          <p:cNvSpPr>
            <a:spLocks noGrp="1"/>
          </p:cNvSpPr>
          <p:nvPr/>
        </p:nvSpPr>
        <p:spPr>
          <a:xfrm>
            <a:off x="1524000" y="6172200"/>
            <a:ext cx="91440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425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Other losses exclude the transmit feed loss already included in EIRP.</a:t>
            </a:r>
          </a:p>
        </p:txBody>
      </p:sp>
    </p:spTree>
    <p:extLst>
      <p:ext uri="{BB962C8B-B14F-4D97-AF65-F5344CB8AC3E}">
        <p14:creationId xmlns:p14="http://schemas.microsoft.com/office/powerpoint/2010/main" val="22835882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B2EB5-D060-4D9F-9C57-776A5B189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Work the TERPSat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B5C1D-01E6-42ED-8E78-01ED47C14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2925"/>
          </a:xfrm>
        </p:spPr>
        <p:txBody>
          <a:bodyPr lIns="152400" tIns="114300" rIns="152400" bIns="11430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1F4E79"/>
                </a:solidFill>
              </a:rPr>
              <a:t>At 5° elevation: d = 2,574 km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t>Frequency: f = 8.4 GHz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t>Pₜ = 10 W  •  [Gₜ] = 8 dBi  •  [Lₜ] = 1 dB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t>[Gᵣ] = 45 dBi  •  [Lₒₜₕₑᵣ] = 2 dB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endParaRPr/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  <a:defRPr sz="255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205580"/>
                </a:solidFill>
              </a:rPr>
              <a:t>Calculate [EIRP], [Lₚ], and [Pᵣ].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39848-ADED-3165-2B31-5571E33300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Received Power and Link Geometry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6172A-6130-DD2C-F9DA-650478B69E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44E025A-983C-6D44-79C6-4612AACD43FC}" type="slidenum">
              <a:rPr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35882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2BD86-EEC6-4CD3-ADD1-579BFF193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Step 1: EIRP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CD6A97-812C-501B-E5F5-AD4C8AFE117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Received Power and Link Geometry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AB67E-7E79-6FE7-3D50-3D82278522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DF2BE2-2DFA-1C03-677D-BDC2260D6D92}" type="slidenum">
              <a:rPr/>
              <a:t>21</a:t>
            </a:fld>
            <a:endParaRPr/>
          </a:p>
        </p:txBody>
      </p:sp>
      <p:sp>
        <p:nvSpPr>
          <p:cNvPr id="7" name="visual-box">
            <a:extLst>
              <a:ext uri="{FF2B5EF4-FFF2-40B4-BE49-F238E27FC236}">
                <a16:creationId xmlns:a16="http://schemas.microsoft.com/office/drawing/2014/main" id="{7D0FB186-6DBE-4873-89D9-B585F94C729B}"/>
              </a:ext>
            </a:extLst>
          </p:cNvPr>
          <p:cNvSpPr>
            <a:spLocks noGrp="1"/>
          </p:cNvSpPr>
          <p:nvPr/>
        </p:nvSpPr>
        <p:spPr>
          <a:xfrm>
            <a:off x="1238250" y="2571750"/>
            <a:ext cx="20955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[Pₜ]</a:t>
            </a:r>
          </a:p>
        </p:txBody>
      </p:sp>
      <p:sp>
        <p:nvSpPr>
          <p:cNvPr id="8" name="visual-box">
            <a:extLst>
              <a:ext uri="{FF2B5EF4-FFF2-40B4-BE49-F238E27FC236}">
                <a16:creationId xmlns:a16="http://schemas.microsoft.com/office/drawing/2014/main" id="{D90C1038-B306-4390-83D4-7D912AE02A85}"/>
              </a:ext>
            </a:extLst>
          </p:cNvPr>
          <p:cNvSpPr>
            <a:spLocks noGrp="1"/>
          </p:cNvSpPr>
          <p:nvPr/>
        </p:nvSpPr>
        <p:spPr>
          <a:xfrm>
            <a:off x="1238250" y="3352800"/>
            <a:ext cx="2095500" cy="819150"/>
          </a:xfrm>
          <a:prstGeom prst="roundRect">
            <a:avLst>
              <a:gd name="adj" fmla="val 6977"/>
            </a:avLst>
          </a:prstGeom>
          <a:solidFill>
            <a:srgbClr val="EAF2F8"/>
          </a:solidFill>
          <a:ln w="19050">
            <a:solidFill>
              <a:srgbClr val="1F4E7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21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10 dBW</a:t>
            </a:r>
          </a:p>
        </p:txBody>
      </p:sp>
      <p:sp>
        <p:nvSpPr>
          <p:cNvPr id="9" name="visual-box">
            <a:extLst>
              <a:ext uri="{FF2B5EF4-FFF2-40B4-BE49-F238E27FC236}">
                <a16:creationId xmlns:a16="http://schemas.microsoft.com/office/drawing/2014/main" id="{D6415754-01D7-4371-B0C6-CEE8BF6C4E24}"/>
              </a:ext>
            </a:extLst>
          </p:cNvPr>
          <p:cNvSpPr>
            <a:spLocks noGrp="1"/>
          </p:cNvSpPr>
          <p:nvPr/>
        </p:nvSpPr>
        <p:spPr>
          <a:xfrm>
            <a:off x="4000500" y="2571750"/>
            <a:ext cx="20955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+[Gₜ]</a:t>
            </a:r>
          </a:p>
        </p:txBody>
      </p:sp>
      <p:sp>
        <p:nvSpPr>
          <p:cNvPr id="10" name="visual-box">
            <a:extLst>
              <a:ext uri="{FF2B5EF4-FFF2-40B4-BE49-F238E27FC236}">
                <a16:creationId xmlns:a16="http://schemas.microsoft.com/office/drawing/2014/main" id="{5A28FA89-A1BA-4ABF-934D-CF9AC418CD1E}"/>
              </a:ext>
            </a:extLst>
          </p:cNvPr>
          <p:cNvSpPr>
            <a:spLocks noGrp="1"/>
          </p:cNvSpPr>
          <p:nvPr/>
        </p:nvSpPr>
        <p:spPr>
          <a:xfrm>
            <a:off x="4000500" y="3352800"/>
            <a:ext cx="2095500" cy="819150"/>
          </a:xfrm>
          <a:prstGeom prst="roundRect">
            <a:avLst>
              <a:gd name="adj" fmla="val 6977"/>
            </a:avLst>
          </a:prstGeom>
          <a:solidFill>
            <a:srgbClr val="EAF2F8"/>
          </a:solidFill>
          <a:ln w="19050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2100" b="1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+8 dBi</a:t>
            </a:r>
          </a:p>
        </p:txBody>
      </p:sp>
      <p:sp>
        <p:nvSpPr>
          <p:cNvPr id="11" name="visual-box">
            <a:extLst>
              <a:ext uri="{FF2B5EF4-FFF2-40B4-BE49-F238E27FC236}">
                <a16:creationId xmlns:a16="http://schemas.microsoft.com/office/drawing/2014/main" id="{E5993EF7-5F12-444B-82FF-BF553B57D07B}"/>
              </a:ext>
            </a:extLst>
          </p:cNvPr>
          <p:cNvSpPr>
            <a:spLocks noGrp="1"/>
          </p:cNvSpPr>
          <p:nvPr/>
        </p:nvSpPr>
        <p:spPr>
          <a:xfrm>
            <a:off x="6762750" y="2571750"/>
            <a:ext cx="20955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C659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−[Lₜ]</a:t>
            </a:r>
          </a:p>
        </p:txBody>
      </p:sp>
      <p:sp>
        <p:nvSpPr>
          <p:cNvPr id="12" name="visual-box">
            <a:extLst>
              <a:ext uri="{FF2B5EF4-FFF2-40B4-BE49-F238E27FC236}">
                <a16:creationId xmlns:a16="http://schemas.microsoft.com/office/drawing/2014/main" id="{AF293225-2ED4-4A56-974A-15EE7D9D53DA}"/>
              </a:ext>
            </a:extLst>
          </p:cNvPr>
          <p:cNvSpPr>
            <a:spLocks noGrp="1"/>
          </p:cNvSpPr>
          <p:nvPr/>
        </p:nvSpPr>
        <p:spPr>
          <a:xfrm>
            <a:off x="6762750" y="3352800"/>
            <a:ext cx="2095500" cy="819150"/>
          </a:xfrm>
          <a:prstGeom prst="roundRect">
            <a:avLst>
              <a:gd name="adj" fmla="val 6977"/>
            </a:avLst>
          </a:prstGeom>
          <a:solidFill>
            <a:srgbClr val="FCE4D6"/>
          </a:solidFill>
          <a:ln w="19050">
            <a:solidFill>
              <a:srgbClr val="C659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2100" b="1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−1 dB</a:t>
            </a:r>
          </a:p>
        </p:txBody>
      </p:sp>
      <p:sp>
        <p:nvSpPr>
          <p:cNvPr id="13" name="visual-label">
            <a:extLst>
              <a:ext uri="{FF2B5EF4-FFF2-40B4-BE49-F238E27FC236}">
                <a16:creationId xmlns:a16="http://schemas.microsoft.com/office/drawing/2014/main" id="{27764F12-F1C8-4780-A56D-74029EB37031}"/>
              </a:ext>
            </a:extLst>
          </p:cNvPr>
          <p:cNvSpPr>
            <a:spLocks noGrp="1"/>
          </p:cNvSpPr>
          <p:nvPr/>
        </p:nvSpPr>
        <p:spPr>
          <a:xfrm>
            <a:off x="3429000" y="3390900"/>
            <a:ext cx="571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3000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000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14" name="visual-label">
            <a:extLst>
              <a:ext uri="{FF2B5EF4-FFF2-40B4-BE49-F238E27FC236}">
                <a16:creationId xmlns:a16="http://schemas.microsoft.com/office/drawing/2014/main" id="{E5576F4B-E4BE-41BE-86DD-B94F1765E100}"/>
              </a:ext>
            </a:extLst>
          </p:cNvPr>
          <p:cNvSpPr>
            <a:spLocks noGrp="1"/>
          </p:cNvSpPr>
          <p:nvPr/>
        </p:nvSpPr>
        <p:spPr>
          <a:xfrm>
            <a:off x="6191250" y="3390900"/>
            <a:ext cx="571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3000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3000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15" name="visual-arrow">
            <a:extLst>
              <a:ext uri="{FF2B5EF4-FFF2-40B4-BE49-F238E27FC236}">
                <a16:creationId xmlns:a16="http://schemas.microsoft.com/office/drawing/2014/main" id="{960C914E-2D8D-499C-A695-0A861ED2505C}"/>
              </a:ext>
            </a:extLst>
          </p:cNvPr>
          <p:cNvSpPr>
            <a:spLocks noGrp="1"/>
          </p:cNvSpPr>
          <p:nvPr/>
        </p:nvSpPr>
        <p:spPr>
          <a:xfrm>
            <a:off x="9105900" y="3429000"/>
            <a:ext cx="666750" cy="323850"/>
          </a:xfrm>
          <a:prstGeom prst="rightArrow">
            <a:avLst/>
          </a:prstGeom>
          <a:solidFill>
            <a:srgbClr val="C65911"/>
          </a:solidFill>
          <a:ln w="0">
            <a:solidFill>
              <a:srgbClr val="C659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visual-box">
            <a:extLst>
              <a:ext uri="{FF2B5EF4-FFF2-40B4-BE49-F238E27FC236}">
                <a16:creationId xmlns:a16="http://schemas.microsoft.com/office/drawing/2014/main" id="{845987F9-4A57-4FCB-AE4A-BE63308C7EBB}"/>
              </a:ext>
            </a:extLst>
          </p:cNvPr>
          <p:cNvSpPr>
            <a:spLocks noGrp="1"/>
          </p:cNvSpPr>
          <p:nvPr/>
        </p:nvSpPr>
        <p:spPr>
          <a:xfrm>
            <a:off x="9715500" y="2895600"/>
            <a:ext cx="1619250" cy="1238250"/>
          </a:xfrm>
          <a:prstGeom prst="roundRect">
            <a:avLst>
              <a:gd name="adj" fmla="val 4615"/>
            </a:avLst>
          </a:prstGeom>
          <a:solidFill>
            <a:srgbClr val="17365D"/>
          </a:solidFill>
          <a:ln w="19050">
            <a:solidFill>
              <a:srgbClr val="17365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[EIRP]</a:t>
            </a:r>
          </a:p>
          <a:p>
            <a:pPr algn="ctr">
              <a:buNone/>
              <a:defRPr sz="20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 dBW</a:t>
            </a:r>
          </a:p>
        </p:txBody>
      </p:sp>
      <p:sp>
        <p:nvSpPr>
          <p:cNvPr id="17" name="visual-label">
            <a:extLst>
              <a:ext uri="{FF2B5EF4-FFF2-40B4-BE49-F238E27FC236}">
                <a16:creationId xmlns:a16="http://schemas.microsoft.com/office/drawing/2014/main" id="{74EF46BE-FC69-4DE2-84C9-74C3C67F74E7}"/>
              </a:ext>
            </a:extLst>
          </p:cNvPr>
          <p:cNvSpPr>
            <a:spLocks noGrp="1"/>
          </p:cNvSpPr>
          <p:nvPr/>
        </p:nvSpPr>
        <p:spPr>
          <a:xfrm>
            <a:off x="1190625" y="4810125"/>
            <a:ext cx="10096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725" b="1" i="0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The spacecraft still transmits 10 W. Antenna gain changes the on-axis equivalent.</a:t>
            </a:r>
          </a:p>
        </p:txBody>
      </p:sp>
    </p:spTree>
    <p:extLst>
      <p:ext uri="{BB962C8B-B14F-4D97-AF65-F5344CB8AC3E}">
        <p14:creationId xmlns:p14="http://schemas.microsoft.com/office/powerpoint/2010/main" val="3588268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2BD86-EEC6-4CD3-ADD1-579BFF193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Step 2: Free-Space Path Loss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CD6A97-812C-501B-E5F5-AD4C8AFE117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Received Power and Link Geometry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AB67E-7E79-6FE7-3D50-3D82278522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BB18BA8-60F4-C50D-CD9B-1BB87D3E8506}" type="slidenum">
              <a:rPr/>
              <a:t>22</a:t>
            </a:fld>
            <a:endParaRPr/>
          </a:p>
        </p:txBody>
      </p:sp>
      <p:sp>
        <p:nvSpPr>
          <p:cNvPr id="7" name="visual-label">
            <a:extLst>
              <a:ext uri="{FF2B5EF4-FFF2-40B4-BE49-F238E27FC236}">
                <a16:creationId xmlns:a16="http://schemas.microsoft.com/office/drawing/2014/main" id="{8F52A558-1CF3-4DE5-A47D-502207BF9F97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1047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At one frequency, free-space loss changes only because range changes.</a:t>
            </a:r>
          </a:p>
        </p:txBody>
      </p:sp>
      <p:sp>
        <p:nvSpPr>
          <p:cNvPr id="8" name="overhead-earth">
            <a:extLst>
              <a:ext uri="{FF2B5EF4-FFF2-40B4-BE49-F238E27FC236}">
                <a16:creationId xmlns:a16="http://schemas.microsoft.com/office/drawing/2014/main" id="{5E568A3C-1EB5-4000-9198-8070E5F38121}"/>
              </a:ext>
            </a:extLst>
          </p:cNvPr>
          <p:cNvSpPr>
            <a:spLocks noGrp="1"/>
          </p:cNvSpPr>
          <p:nvPr/>
        </p:nvSpPr>
        <p:spPr>
          <a:xfrm>
            <a:off x="1381125" y="4000500"/>
            <a:ext cx="3429000" cy="1905000"/>
          </a:xfrm>
          <a:prstGeom prst="ellipse">
            <a:avLst/>
          </a:prstGeom>
          <a:solidFill>
            <a:srgbClr val="EAF2F8"/>
          </a:solidFill>
          <a:ln w="28575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visual-box">
            <a:extLst>
              <a:ext uri="{FF2B5EF4-FFF2-40B4-BE49-F238E27FC236}">
                <a16:creationId xmlns:a16="http://schemas.microsoft.com/office/drawing/2014/main" id="{A74384E7-DDAC-4319-B604-76D9257FD254}"/>
              </a:ext>
            </a:extLst>
          </p:cNvPr>
          <p:cNvSpPr>
            <a:spLocks noGrp="1"/>
          </p:cNvSpPr>
          <p:nvPr/>
        </p:nvSpPr>
        <p:spPr>
          <a:xfrm>
            <a:off x="2714625" y="2457450"/>
            <a:ext cx="781050" cy="552450"/>
          </a:xfrm>
          <a:prstGeom prst="roundRect">
            <a:avLst>
              <a:gd name="adj" fmla="val 10345"/>
            </a:avLst>
          </a:prstGeom>
          <a:solidFill>
            <a:srgbClr val="FCE4D6"/>
          </a:solidFill>
          <a:ln w="19050">
            <a:solidFill>
              <a:srgbClr val="C659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S/C</a:t>
            </a:r>
          </a:p>
        </p:txBody>
      </p:sp>
      <p:sp>
        <p:nvSpPr>
          <p:cNvPr id="10" name="visual-line">
            <a:extLst>
              <a:ext uri="{FF2B5EF4-FFF2-40B4-BE49-F238E27FC236}">
                <a16:creationId xmlns:a16="http://schemas.microsoft.com/office/drawing/2014/main" id="{D955FAA0-58B4-470F-8EB2-8B6524A8D597}"/>
              </a:ext>
            </a:extLst>
          </p:cNvPr>
          <p:cNvSpPr>
            <a:spLocks noGrp="1"/>
          </p:cNvSpPr>
          <p:nvPr/>
        </p:nvSpPr>
        <p:spPr>
          <a:xfrm>
            <a:off x="3105150" y="3009900"/>
            <a:ext cx="95" cy="1028700"/>
          </a:xfrm>
          <a:prstGeom prst="line">
            <a:avLst/>
          </a:prstGeom>
          <a:noFill/>
          <a:ln w="47625">
            <a:solidFill>
              <a:srgbClr val="4472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visual-label">
            <a:extLst>
              <a:ext uri="{FF2B5EF4-FFF2-40B4-BE49-F238E27FC236}">
                <a16:creationId xmlns:a16="http://schemas.microsoft.com/office/drawing/2014/main" id="{71F4D432-0011-403B-B0F1-E9F7924B7439}"/>
              </a:ext>
            </a:extLst>
          </p:cNvPr>
          <p:cNvSpPr>
            <a:spLocks noGrp="1"/>
          </p:cNvSpPr>
          <p:nvPr/>
        </p:nvSpPr>
        <p:spPr>
          <a:xfrm>
            <a:off x="1381125" y="3143250"/>
            <a:ext cx="161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705 km</a:t>
            </a:r>
          </a:p>
        </p:txBody>
      </p:sp>
      <p:sp>
        <p:nvSpPr>
          <p:cNvPr id="12" name="visual-box">
            <a:extLst>
              <a:ext uri="{FF2B5EF4-FFF2-40B4-BE49-F238E27FC236}">
                <a16:creationId xmlns:a16="http://schemas.microsoft.com/office/drawing/2014/main" id="{4DE6E67B-0D03-45AC-96C4-7E17C3E9C232}"/>
              </a:ext>
            </a:extLst>
          </p:cNvPr>
          <p:cNvSpPr>
            <a:spLocks noGrp="1"/>
          </p:cNvSpPr>
          <p:nvPr/>
        </p:nvSpPr>
        <p:spPr>
          <a:xfrm>
            <a:off x="1952625" y="4667250"/>
            <a:ext cx="23812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72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[Lₚ] = 167.9 dB</a:t>
            </a:r>
          </a:p>
        </p:txBody>
      </p:sp>
      <p:sp>
        <p:nvSpPr>
          <p:cNvPr id="13" name="edge-earth">
            <a:extLst>
              <a:ext uri="{FF2B5EF4-FFF2-40B4-BE49-F238E27FC236}">
                <a16:creationId xmlns:a16="http://schemas.microsoft.com/office/drawing/2014/main" id="{7F5D0E46-34BE-41E1-B1A9-F6DF4AE54979}"/>
              </a:ext>
            </a:extLst>
          </p:cNvPr>
          <p:cNvSpPr>
            <a:spLocks noGrp="1"/>
          </p:cNvSpPr>
          <p:nvPr/>
        </p:nvSpPr>
        <p:spPr>
          <a:xfrm>
            <a:off x="7239000" y="4000500"/>
            <a:ext cx="3429000" cy="1905000"/>
          </a:xfrm>
          <a:prstGeom prst="ellipse">
            <a:avLst/>
          </a:prstGeom>
          <a:solidFill>
            <a:srgbClr val="EAF2F8"/>
          </a:solidFill>
          <a:ln w="28575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visual-box">
            <a:extLst>
              <a:ext uri="{FF2B5EF4-FFF2-40B4-BE49-F238E27FC236}">
                <a16:creationId xmlns:a16="http://schemas.microsoft.com/office/drawing/2014/main" id="{1CC2FD39-5DDA-47F2-9381-1F3577857521}"/>
              </a:ext>
            </a:extLst>
          </p:cNvPr>
          <p:cNvSpPr>
            <a:spLocks noGrp="1"/>
          </p:cNvSpPr>
          <p:nvPr/>
        </p:nvSpPr>
        <p:spPr>
          <a:xfrm>
            <a:off x="10144125" y="2476500"/>
            <a:ext cx="781050" cy="552450"/>
          </a:xfrm>
          <a:prstGeom prst="roundRect">
            <a:avLst>
              <a:gd name="adj" fmla="val 10345"/>
            </a:avLst>
          </a:prstGeom>
          <a:solidFill>
            <a:srgbClr val="FCE4D6"/>
          </a:solidFill>
          <a:ln w="19050">
            <a:solidFill>
              <a:srgbClr val="C659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S/C</a:t>
            </a:r>
          </a:p>
        </p:txBody>
      </p:sp>
      <p:sp>
        <p:nvSpPr>
          <p:cNvPr id="15" name="visual-line">
            <a:extLst>
              <a:ext uri="{FF2B5EF4-FFF2-40B4-BE49-F238E27FC236}">
                <a16:creationId xmlns:a16="http://schemas.microsoft.com/office/drawing/2014/main" id="{42E55168-0C76-4EDF-A969-365F07E97B14}"/>
              </a:ext>
            </a:extLst>
          </p:cNvPr>
          <p:cNvSpPr>
            <a:spLocks noGrp="1"/>
          </p:cNvSpPr>
          <p:nvPr/>
        </p:nvSpPr>
        <p:spPr>
          <a:xfrm flipV="1">
            <a:off x="8953500" y="3028950"/>
            <a:ext cx="1571625" cy="1009650"/>
          </a:xfrm>
          <a:prstGeom prst="line">
            <a:avLst/>
          </a:prstGeom>
          <a:noFill/>
          <a:ln w="47625">
            <a:solidFill>
              <a:srgbClr val="C659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visual-label">
            <a:extLst>
              <a:ext uri="{FF2B5EF4-FFF2-40B4-BE49-F238E27FC236}">
                <a16:creationId xmlns:a16="http://schemas.microsoft.com/office/drawing/2014/main" id="{669C3F38-1FD5-4FF7-AE9C-9BF9C9327476}"/>
              </a:ext>
            </a:extLst>
          </p:cNvPr>
          <p:cNvSpPr>
            <a:spLocks noGrp="1"/>
          </p:cNvSpPr>
          <p:nvPr/>
        </p:nvSpPr>
        <p:spPr>
          <a:xfrm>
            <a:off x="8096250" y="2857500"/>
            <a:ext cx="1809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 i="0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2,574 km</a:t>
            </a:r>
          </a:p>
        </p:txBody>
      </p:sp>
      <p:sp>
        <p:nvSpPr>
          <p:cNvPr id="17" name="visual-box">
            <a:extLst>
              <a:ext uri="{FF2B5EF4-FFF2-40B4-BE49-F238E27FC236}">
                <a16:creationId xmlns:a16="http://schemas.microsoft.com/office/drawing/2014/main" id="{4785FB3A-D9AC-4779-9E6E-E3BCF0CEA4A0}"/>
              </a:ext>
            </a:extLst>
          </p:cNvPr>
          <p:cNvSpPr>
            <a:spLocks noGrp="1"/>
          </p:cNvSpPr>
          <p:nvPr/>
        </p:nvSpPr>
        <p:spPr>
          <a:xfrm>
            <a:off x="7810500" y="4667250"/>
            <a:ext cx="2381250" cy="685800"/>
          </a:xfrm>
          <a:prstGeom prst="roundRect">
            <a:avLst>
              <a:gd name="adj" fmla="val 8333"/>
            </a:avLst>
          </a:prstGeom>
          <a:solidFill>
            <a:srgbClr val="FCE4D6"/>
          </a:solidFill>
          <a:ln w="19050">
            <a:solidFill>
              <a:srgbClr val="C659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725" b="1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[Lₚ] = 179.1 dB</a:t>
            </a:r>
          </a:p>
        </p:txBody>
      </p:sp>
      <p:sp>
        <p:nvSpPr>
          <p:cNvPr id="18" name="visual-box">
            <a:extLst>
              <a:ext uri="{FF2B5EF4-FFF2-40B4-BE49-F238E27FC236}">
                <a16:creationId xmlns:a16="http://schemas.microsoft.com/office/drawing/2014/main" id="{028FE2C4-E482-44D7-BCFB-7346D5514961}"/>
              </a:ext>
            </a:extLst>
          </p:cNvPr>
          <p:cNvSpPr>
            <a:spLocks noGrp="1"/>
          </p:cNvSpPr>
          <p:nvPr/>
        </p:nvSpPr>
        <p:spPr>
          <a:xfrm>
            <a:off x="4810125" y="3143250"/>
            <a:ext cx="2381250" cy="990600"/>
          </a:xfrm>
          <a:prstGeom prst="roundRect">
            <a:avLst>
              <a:gd name="adj" fmla="val 5769"/>
            </a:avLst>
          </a:prstGeom>
          <a:solidFill>
            <a:srgbClr val="17365D"/>
          </a:solidFill>
          <a:ln w="19050">
            <a:solidFill>
              <a:srgbClr val="17365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EDGE COST</a:t>
            </a:r>
          </a:p>
          <a:p>
            <a:pPr algn="ctr">
              <a:buNone/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Δ[Lₚ] = 11.2 dB</a:t>
            </a:r>
          </a:p>
        </p:txBody>
      </p:sp>
    </p:spTree>
    <p:extLst>
      <p:ext uri="{BB962C8B-B14F-4D97-AF65-F5344CB8AC3E}">
        <p14:creationId xmlns:p14="http://schemas.microsoft.com/office/powerpoint/2010/main" val="35882686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B2EB5-D060-4D9F-9C57-776A5B189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Step 3: Received Power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39848-ADED-3165-2B31-5571E33300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Received Power and Link Geometry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6172A-6130-DD2C-F9DA-650478B69E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4E99CEF-AF55-BA3C-ADF8-4E52E186DD8F}" type="slidenum">
              <a:rPr/>
              <a:t>23</a:t>
            </a:fld>
            <a:endParaRPr/>
          </a:p>
        </p:txBody>
      </p:sp>
      <p:sp>
        <p:nvSpPr>
          <p:cNvPr id="7" name="visual-box">
            <a:extLst>
              <a:ext uri="{FF2B5EF4-FFF2-40B4-BE49-F238E27FC236}">
                <a16:creationId xmlns:a16="http://schemas.microsoft.com/office/drawing/2014/main" id="{C19BAE97-E7B6-461A-98DF-E1418DFBCB4E}"/>
              </a:ext>
            </a:extLst>
          </p:cNvPr>
          <p:cNvSpPr>
            <a:spLocks noGrp="1"/>
          </p:cNvSpPr>
          <p:nvPr/>
        </p:nvSpPr>
        <p:spPr>
          <a:xfrm>
            <a:off x="952500" y="2571750"/>
            <a:ext cx="1809750" cy="6096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[EIRP]</a:t>
            </a:r>
          </a:p>
        </p:txBody>
      </p:sp>
      <p:sp>
        <p:nvSpPr>
          <p:cNvPr id="8" name="visual-box">
            <a:extLst>
              <a:ext uri="{FF2B5EF4-FFF2-40B4-BE49-F238E27FC236}">
                <a16:creationId xmlns:a16="http://schemas.microsoft.com/office/drawing/2014/main" id="{0B2D55E8-0FC3-48D1-9989-BB81E6ACF482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1809750" cy="819150"/>
          </a:xfrm>
          <a:prstGeom prst="roundRect">
            <a:avLst>
              <a:gd name="adj" fmla="val 6977"/>
            </a:avLst>
          </a:prstGeom>
          <a:solidFill>
            <a:srgbClr val="EAF2F8"/>
          </a:solidFill>
          <a:ln w="19050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2100" b="1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+17 dBW</a:t>
            </a:r>
          </a:p>
        </p:txBody>
      </p:sp>
      <p:sp>
        <p:nvSpPr>
          <p:cNvPr id="9" name="visual-label">
            <a:extLst>
              <a:ext uri="{FF2B5EF4-FFF2-40B4-BE49-F238E27FC236}">
                <a16:creationId xmlns:a16="http://schemas.microsoft.com/office/drawing/2014/main" id="{800079DA-408E-4EF2-97BF-F9572F0B5BF3}"/>
              </a:ext>
            </a:extLst>
          </p:cNvPr>
          <p:cNvSpPr>
            <a:spLocks noGrp="1"/>
          </p:cNvSpPr>
          <p:nvPr/>
        </p:nvSpPr>
        <p:spPr>
          <a:xfrm>
            <a:off x="2762250" y="3333750"/>
            <a:ext cx="381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550" b="1" i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2550" b="1" i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10" name="visual-box">
            <a:extLst>
              <a:ext uri="{FF2B5EF4-FFF2-40B4-BE49-F238E27FC236}">
                <a16:creationId xmlns:a16="http://schemas.microsoft.com/office/drawing/2014/main" id="{A3DD622E-B892-4367-B745-3A6A4883A2AC}"/>
              </a:ext>
            </a:extLst>
          </p:cNvPr>
          <p:cNvSpPr>
            <a:spLocks noGrp="1"/>
          </p:cNvSpPr>
          <p:nvPr/>
        </p:nvSpPr>
        <p:spPr>
          <a:xfrm>
            <a:off x="3143250" y="2571750"/>
            <a:ext cx="1809750" cy="6096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A61B1B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A61B1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−[Lₚ]</a:t>
            </a:r>
          </a:p>
        </p:txBody>
      </p:sp>
      <p:sp>
        <p:nvSpPr>
          <p:cNvPr id="11" name="visual-box">
            <a:extLst>
              <a:ext uri="{FF2B5EF4-FFF2-40B4-BE49-F238E27FC236}">
                <a16:creationId xmlns:a16="http://schemas.microsoft.com/office/drawing/2014/main" id="{B93178D9-3022-4AB2-9FAD-06DBF012A7C5}"/>
              </a:ext>
            </a:extLst>
          </p:cNvPr>
          <p:cNvSpPr>
            <a:spLocks noGrp="1"/>
          </p:cNvSpPr>
          <p:nvPr/>
        </p:nvSpPr>
        <p:spPr>
          <a:xfrm>
            <a:off x="3143250" y="3257550"/>
            <a:ext cx="1809750" cy="819150"/>
          </a:xfrm>
          <a:prstGeom prst="roundRect">
            <a:avLst>
              <a:gd name="adj" fmla="val 6977"/>
            </a:avLst>
          </a:prstGeom>
          <a:solidFill>
            <a:srgbClr val="FCE4D6"/>
          </a:solidFill>
          <a:ln w="19050">
            <a:solidFill>
              <a:srgbClr val="A61B1B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2100" b="1">
                <a:solidFill>
                  <a:srgbClr val="A61B1B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−179.1 dB</a:t>
            </a:r>
          </a:p>
        </p:txBody>
      </p:sp>
      <p:sp>
        <p:nvSpPr>
          <p:cNvPr id="12" name="visual-label">
            <a:extLst>
              <a:ext uri="{FF2B5EF4-FFF2-40B4-BE49-F238E27FC236}">
                <a16:creationId xmlns:a16="http://schemas.microsoft.com/office/drawing/2014/main" id="{837F170B-F6E6-403B-8005-2997E8C9FB6A}"/>
              </a:ext>
            </a:extLst>
          </p:cNvPr>
          <p:cNvSpPr>
            <a:spLocks noGrp="1"/>
          </p:cNvSpPr>
          <p:nvPr/>
        </p:nvSpPr>
        <p:spPr>
          <a:xfrm>
            <a:off x="4953000" y="3333750"/>
            <a:ext cx="381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550" b="1" i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2550" b="1" i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13" name="visual-box">
            <a:extLst>
              <a:ext uri="{FF2B5EF4-FFF2-40B4-BE49-F238E27FC236}">
                <a16:creationId xmlns:a16="http://schemas.microsoft.com/office/drawing/2014/main" id="{C056EF0A-885B-41B5-880A-1D5992175CA0}"/>
              </a:ext>
            </a:extLst>
          </p:cNvPr>
          <p:cNvSpPr>
            <a:spLocks noGrp="1"/>
          </p:cNvSpPr>
          <p:nvPr/>
        </p:nvSpPr>
        <p:spPr>
          <a:xfrm>
            <a:off x="5334000" y="2571750"/>
            <a:ext cx="1809750" cy="6096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+[Gᵣ]</a:t>
            </a:r>
          </a:p>
        </p:txBody>
      </p:sp>
      <p:sp>
        <p:nvSpPr>
          <p:cNvPr id="14" name="visual-box">
            <a:extLst>
              <a:ext uri="{FF2B5EF4-FFF2-40B4-BE49-F238E27FC236}">
                <a16:creationId xmlns:a16="http://schemas.microsoft.com/office/drawing/2014/main" id="{1BC07DA2-430C-40D6-BC68-9978E84DAD71}"/>
              </a:ext>
            </a:extLst>
          </p:cNvPr>
          <p:cNvSpPr>
            <a:spLocks noGrp="1"/>
          </p:cNvSpPr>
          <p:nvPr/>
        </p:nvSpPr>
        <p:spPr>
          <a:xfrm>
            <a:off x="5334000" y="3257550"/>
            <a:ext cx="1809750" cy="819150"/>
          </a:xfrm>
          <a:prstGeom prst="roundRect">
            <a:avLst>
              <a:gd name="adj" fmla="val 6977"/>
            </a:avLst>
          </a:prstGeom>
          <a:solidFill>
            <a:srgbClr val="EAF2F8"/>
          </a:solidFill>
          <a:ln w="19050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2100" b="1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+45 dBi</a:t>
            </a:r>
          </a:p>
        </p:txBody>
      </p:sp>
      <p:sp>
        <p:nvSpPr>
          <p:cNvPr id="15" name="visual-label">
            <a:extLst>
              <a:ext uri="{FF2B5EF4-FFF2-40B4-BE49-F238E27FC236}">
                <a16:creationId xmlns:a16="http://schemas.microsoft.com/office/drawing/2014/main" id="{454A6DB5-EB53-4A21-A6C5-E1E29816B4C7}"/>
              </a:ext>
            </a:extLst>
          </p:cNvPr>
          <p:cNvSpPr>
            <a:spLocks noGrp="1"/>
          </p:cNvSpPr>
          <p:nvPr/>
        </p:nvSpPr>
        <p:spPr>
          <a:xfrm>
            <a:off x="7143750" y="3333750"/>
            <a:ext cx="381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550" b="1" i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2550" b="1" i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16" name="visual-box">
            <a:extLst>
              <a:ext uri="{FF2B5EF4-FFF2-40B4-BE49-F238E27FC236}">
                <a16:creationId xmlns:a16="http://schemas.microsoft.com/office/drawing/2014/main" id="{0D9C4388-E3B9-41F0-ACCD-19ED801B821D}"/>
              </a:ext>
            </a:extLst>
          </p:cNvPr>
          <p:cNvSpPr>
            <a:spLocks noGrp="1"/>
          </p:cNvSpPr>
          <p:nvPr/>
        </p:nvSpPr>
        <p:spPr>
          <a:xfrm>
            <a:off x="7524750" y="2571750"/>
            <a:ext cx="1809750" cy="6096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C659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−[Lₒₜₕₑᵣ]</a:t>
            </a:r>
          </a:p>
        </p:txBody>
      </p:sp>
      <p:sp>
        <p:nvSpPr>
          <p:cNvPr id="17" name="visual-box">
            <a:extLst>
              <a:ext uri="{FF2B5EF4-FFF2-40B4-BE49-F238E27FC236}">
                <a16:creationId xmlns:a16="http://schemas.microsoft.com/office/drawing/2014/main" id="{2E540E8B-37EF-4B2F-8780-4977570E8E06}"/>
              </a:ext>
            </a:extLst>
          </p:cNvPr>
          <p:cNvSpPr>
            <a:spLocks noGrp="1"/>
          </p:cNvSpPr>
          <p:nvPr/>
        </p:nvSpPr>
        <p:spPr>
          <a:xfrm>
            <a:off x="7524750" y="3257550"/>
            <a:ext cx="1809750" cy="819150"/>
          </a:xfrm>
          <a:prstGeom prst="roundRect">
            <a:avLst>
              <a:gd name="adj" fmla="val 6977"/>
            </a:avLst>
          </a:prstGeom>
          <a:solidFill>
            <a:srgbClr val="FCE4D6"/>
          </a:solidFill>
          <a:ln w="19050">
            <a:solidFill>
              <a:srgbClr val="C659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2100" b="1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−2 dB</a:t>
            </a:r>
          </a:p>
        </p:txBody>
      </p:sp>
      <p:sp>
        <p:nvSpPr>
          <p:cNvPr id="18" name="visual-arrow">
            <a:extLst>
              <a:ext uri="{FF2B5EF4-FFF2-40B4-BE49-F238E27FC236}">
                <a16:creationId xmlns:a16="http://schemas.microsoft.com/office/drawing/2014/main" id="{23694E20-FF2D-41AF-9148-EFA027354CBD}"/>
              </a:ext>
            </a:extLst>
          </p:cNvPr>
          <p:cNvSpPr>
            <a:spLocks noGrp="1"/>
          </p:cNvSpPr>
          <p:nvPr/>
        </p:nvSpPr>
        <p:spPr>
          <a:xfrm>
            <a:off x="9496425" y="3486150"/>
            <a:ext cx="514350" cy="285750"/>
          </a:xfrm>
          <a:prstGeom prst="rightArrow">
            <a:avLst/>
          </a:prstGeom>
          <a:solidFill>
            <a:srgbClr val="C65911"/>
          </a:solidFill>
          <a:ln w="0">
            <a:solidFill>
              <a:srgbClr val="C659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visual-box">
            <a:extLst>
              <a:ext uri="{FF2B5EF4-FFF2-40B4-BE49-F238E27FC236}">
                <a16:creationId xmlns:a16="http://schemas.microsoft.com/office/drawing/2014/main" id="{99842227-8BE3-48F9-AF4E-23A379F801E1}"/>
              </a:ext>
            </a:extLst>
          </p:cNvPr>
          <p:cNvSpPr>
            <a:spLocks noGrp="1"/>
          </p:cNvSpPr>
          <p:nvPr/>
        </p:nvSpPr>
        <p:spPr>
          <a:xfrm>
            <a:off x="9925050" y="2905125"/>
            <a:ext cx="1619250" cy="1200150"/>
          </a:xfrm>
          <a:prstGeom prst="roundRect">
            <a:avLst>
              <a:gd name="adj" fmla="val 4762"/>
            </a:avLst>
          </a:prstGeom>
          <a:solidFill>
            <a:srgbClr val="17365D"/>
          </a:solidFill>
          <a:ln w="19050">
            <a:solidFill>
              <a:srgbClr val="17365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[Pᵣ]</a:t>
            </a:r>
          </a:p>
          <a:p>
            <a:pPr algn="ctr">
              <a:buNone/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−119.1 dBW</a:t>
            </a:r>
          </a:p>
        </p:txBody>
      </p:sp>
      <p:sp>
        <p:nvSpPr>
          <p:cNvPr id="20" name="visual-box">
            <a:extLst>
              <a:ext uri="{FF2B5EF4-FFF2-40B4-BE49-F238E27FC236}">
                <a16:creationId xmlns:a16="http://schemas.microsoft.com/office/drawing/2014/main" id="{851958AF-20A9-48F3-98FE-6DF7ADD8D927}"/>
              </a:ext>
            </a:extLst>
          </p:cNvPr>
          <p:cNvSpPr>
            <a:spLocks noGrp="1"/>
          </p:cNvSpPr>
          <p:nvPr/>
        </p:nvSpPr>
        <p:spPr>
          <a:xfrm>
            <a:off x="1828800" y="4762500"/>
            <a:ext cx="8534400" cy="781050"/>
          </a:xfrm>
          <a:prstGeom prst="roundRect">
            <a:avLst>
              <a:gd name="adj" fmla="val 7317"/>
            </a:avLst>
          </a:prstGeom>
          <a:solidFill>
            <a:srgbClr val="FCE4D6"/>
          </a:solidFill>
          <a:ln w="19050">
            <a:solidFill>
              <a:srgbClr val="C659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Does the link work?  We still need noise, required performance, and margin.</a:t>
            </a:r>
          </a:p>
        </p:txBody>
      </p:sp>
    </p:spTree>
    <p:extLst>
      <p:ext uri="{BB962C8B-B14F-4D97-AF65-F5344CB8AC3E}">
        <p14:creationId xmlns:p14="http://schemas.microsoft.com/office/powerpoint/2010/main" val="22835882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B2EB5-D060-4D9F-9C57-776A5B189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Check the Complete Ledger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39848-ADED-3165-2B31-5571E33300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Received Power and Link Geometry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6172A-6130-DD2C-F9DA-650478B69E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A59AF09-D197-0193-A7DE-FAAF0B691058}" type="slidenum">
              <a:rPr/>
              <a:t>24</a:t>
            </a:fld>
            <a:endParaRPr/>
          </a:p>
        </p:txBody>
      </p:sp>
      <p:sp>
        <p:nvSpPr>
          <p:cNvPr id="7" name="visual-label">
            <a:extLst>
              <a:ext uri="{FF2B5EF4-FFF2-40B4-BE49-F238E27FC236}">
                <a16:creationId xmlns:a16="http://schemas.microsoft.com/office/drawing/2014/main" id="{21D57CA2-D810-4BA4-AE2C-DA04274696A0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1047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Follow the reference point. Write every gain and loss with its sign.</a:t>
            </a:r>
          </a:p>
        </p:txBody>
      </p:sp>
      <p:sp>
        <p:nvSpPr>
          <p:cNvPr id="8" name="visual-box">
            <a:extLst>
              <a:ext uri="{FF2B5EF4-FFF2-40B4-BE49-F238E27FC236}">
                <a16:creationId xmlns:a16="http://schemas.microsoft.com/office/drawing/2014/main" id="{46C00B60-7A05-4420-9925-F3A6AD8652A4}"/>
              </a:ext>
            </a:extLst>
          </p:cNvPr>
          <p:cNvSpPr>
            <a:spLocks noGrp="1"/>
          </p:cNvSpPr>
          <p:nvPr/>
        </p:nvSpPr>
        <p:spPr>
          <a:xfrm>
            <a:off x="1047750" y="2724150"/>
            <a:ext cx="1428750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[Pₜ]</a:t>
            </a:r>
          </a:p>
        </p:txBody>
      </p:sp>
      <p:sp>
        <p:nvSpPr>
          <p:cNvPr id="9" name="visual-label">
            <a:extLst>
              <a:ext uri="{FF2B5EF4-FFF2-40B4-BE49-F238E27FC236}">
                <a16:creationId xmlns:a16="http://schemas.microsoft.com/office/drawing/2014/main" id="{7DF01D48-7B77-4D72-A6E2-F7A7DCE70D14}"/>
              </a:ext>
            </a:extLst>
          </p:cNvPr>
          <p:cNvSpPr>
            <a:spLocks noGrp="1"/>
          </p:cNvSpPr>
          <p:nvPr/>
        </p:nvSpPr>
        <p:spPr>
          <a:xfrm>
            <a:off x="1047750" y="356235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10 dBW</a:t>
            </a:r>
          </a:p>
        </p:txBody>
      </p:sp>
      <p:sp>
        <p:nvSpPr>
          <p:cNvPr id="10" name="visual-box">
            <a:extLst>
              <a:ext uri="{FF2B5EF4-FFF2-40B4-BE49-F238E27FC236}">
                <a16:creationId xmlns:a16="http://schemas.microsoft.com/office/drawing/2014/main" id="{D76B2C89-1B1F-40B2-AF21-FF69DBC4EC2F}"/>
              </a:ext>
            </a:extLst>
          </p:cNvPr>
          <p:cNvSpPr>
            <a:spLocks noGrp="1"/>
          </p:cNvSpPr>
          <p:nvPr/>
        </p:nvSpPr>
        <p:spPr>
          <a:xfrm>
            <a:off x="1047750" y="4229100"/>
            <a:ext cx="1428750" cy="704850"/>
          </a:xfrm>
          <a:prstGeom prst="roundRect">
            <a:avLst>
              <a:gd name="adj" fmla="val 8108"/>
            </a:avLst>
          </a:prstGeom>
          <a:solidFill>
            <a:srgbClr val="EAF2F8"/>
          </a:solidFill>
          <a:ln w="19050">
            <a:solidFill>
              <a:srgbClr val="1F4E7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[P] = 10 dBW</a:t>
            </a:r>
          </a:p>
        </p:txBody>
      </p:sp>
      <p:sp>
        <p:nvSpPr>
          <p:cNvPr id="11" name="visual-arrow">
            <a:extLst>
              <a:ext uri="{FF2B5EF4-FFF2-40B4-BE49-F238E27FC236}">
                <a16:creationId xmlns:a16="http://schemas.microsoft.com/office/drawing/2014/main" id="{ECAF0BB1-0746-41C8-9F88-40FB52C78BB5}"/>
              </a:ext>
            </a:extLst>
          </p:cNvPr>
          <p:cNvSpPr>
            <a:spLocks noGrp="1"/>
          </p:cNvSpPr>
          <p:nvPr/>
        </p:nvSpPr>
        <p:spPr>
          <a:xfrm>
            <a:off x="2495550" y="4457700"/>
            <a:ext cx="209550" cy="209550"/>
          </a:xfrm>
          <a:prstGeom prst="rightArrow">
            <a:avLst/>
          </a:prstGeom>
          <a:solidFill>
            <a:srgbClr val="667085"/>
          </a:solidFill>
          <a:ln w="0">
            <a:solidFill>
              <a:srgbClr val="66708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visual-box">
            <a:extLst>
              <a:ext uri="{FF2B5EF4-FFF2-40B4-BE49-F238E27FC236}">
                <a16:creationId xmlns:a16="http://schemas.microsoft.com/office/drawing/2014/main" id="{7DF32525-4632-477A-B116-A3376CDFBC2F}"/>
              </a:ext>
            </a:extLst>
          </p:cNvPr>
          <p:cNvSpPr>
            <a:spLocks noGrp="1"/>
          </p:cNvSpPr>
          <p:nvPr/>
        </p:nvSpPr>
        <p:spPr>
          <a:xfrm>
            <a:off x="2714625" y="2724150"/>
            <a:ext cx="1428750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659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−[Lₜ]</a:t>
            </a:r>
          </a:p>
        </p:txBody>
      </p:sp>
      <p:sp>
        <p:nvSpPr>
          <p:cNvPr id="13" name="visual-label">
            <a:extLst>
              <a:ext uri="{FF2B5EF4-FFF2-40B4-BE49-F238E27FC236}">
                <a16:creationId xmlns:a16="http://schemas.microsoft.com/office/drawing/2014/main" id="{1A448D03-0D68-46DE-A74A-8F0C7DC46DB5}"/>
              </a:ext>
            </a:extLst>
          </p:cNvPr>
          <p:cNvSpPr>
            <a:spLocks noGrp="1"/>
          </p:cNvSpPr>
          <p:nvPr/>
        </p:nvSpPr>
        <p:spPr>
          <a:xfrm>
            <a:off x="2714625" y="356235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 i="0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−1 dB</a:t>
            </a:r>
          </a:p>
        </p:txBody>
      </p:sp>
      <p:sp>
        <p:nvSpPr>
          <p:cNvPr id="14" name="visual-box">
            <a:extLst>
              <a:ext uri="{FF2B5EF4-FFF2-40B4-BE49-F238E27FC236}">
                <a16:creationId xmlns:a16="http://schemas.microsoft.com/office/drawing/2014/main" id="{E08AFCAF-7BEC-4E70-A0F8-2EDB9CA1AD7B}"/>
              </a:ext>
            </a:extLst>
          </p:cNvPr>
          <p:cNvSpPr>
            <a:spLocks noGrp="1"/>
          </p:cNvSpPr>
          <p:nvPr/>
        </p:nvSpPr>
        <p:spPr>
          <a:xfrm>
            <a:off x="2714625" y="4229100"/>
            <a:ext cx="1428750" cy="704850"/>
          </a:xfrm>
          <a:prstGeom prst="roundRect">
            <a:avLst>
              <a:gd name="adj" fmla="val 8108"/>
            </a:avLst>
          </a:prstGeom>
          <a:solidFill>
            <a:srgbClr val="EAF2F8"/>
          </a:solidFill>
          <a:ln w="19050">
            <a:solidFill>
              <a:srgbClr val="1F4E7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[P] = 9 dBW</a:t>
            </a:r>
          </a:p>
        </p:txBody>
      </p:sp>
      <p:sp>
        <p:nvSpPr>
          <p:cNvPr id="15" name="visual-arrow">
            <a:extLst>
              <a:ext uri="{FF2B5EF4-FFF2-40B4-BE49-F238E27FC236}">
                <a16:creationId xmlns:a16="http://schemas.microsoft.com/office/drawing/2014/main" id="{14008FD1-2346-4AE4-8751-97D3B51D1104}"/>
              </a:ext>
            </a:extLst>
          </p:cNvPr>
          <p:cNvSpPr>
            <a:spLocks noGrp="1"/>
          </p:cNvSpPr>
          <p:nvPr/>
        </p:nvSpPr>
        <p:spPr>
          <a:xfrm>
            <a:off x="4162425" y="4457700"/>
            <a:ext cx="209550" cy="209550"/>
          </a:xfrm>
          <a:prstGeom prst="rightArrow">
            <a:avLst/>
          </a:prstGeom>
          <a:solidFill>
            <a:srgbClr val="667085"/>
          </a:solidFill>
          <a:ln w="0">
            <a:solidFill>
              <a:srgbClr val="66708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visual-box">
            <a:extLst>
              <a:ext uri="{FF2B5EF4-FFF2-40B4-BE49-F238E27FC236}">
                <a16:creationId xmlns:a16="http://schemas.microsoft.com/office/drawing/2014/main" id="{D7246BEE-E517-4589-9D07-F734917A7CF9}"/>
              </a:ext>
            </a:extLst>
          </p:cNvPr>
          <p:cNvSpPr>
            <a:spLocks noGrp="1"/>
          </p:cNvSpPr>
          <p:nvPr/>
        </p:nvSpPr>
        <p:spPr>
          <a:xfrm>
            <a:off x="4381500" y="2724150"/>
            <a:ext cx="1428750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+[Gₜ]</a:t>
            </a:r>
          </a:p>
        </p:txBody>
      </p:sp>
      <p:sp>
        <p:nvSpPr>
          <p:cNvPr id="17" name="visual-label">
            <a:extLst>
              <a:ext uri="{FF2B5EF4-FFF2-40B4-BE49-F238E27FC236}">
                <a16:creationId xmlns:a16="http://schemas.microsoft.com/office/drawing/2014/main" id="{ECEE7D9F-FEED-4358-95F3-CA0C720C5B2E}"/>
              </a:ext>
            </a:extLst>
          </p:cNvPr>
          <p:cNvSpPr>
            <a:spLocks noGrp="1"/>
          </p:cNvSpPr>
          <p:nvPr/>
        </p:nvSpPr>
        <p:spPr>
          <a:xfrm>
            <a:off x="4381500" y="356235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 i="0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+8 dBi</a:t>
            </a:r>
          </a:p>
        </p:txBody>
      </p:sp>
      <p:sp>
        <p:nvSpPr>
          <p:cNvPr id="18" name="visual-box">
            <a:extLst>
              <a:ext uri="{FF2B5EF4-FFF2-40B4-BE49-F238E27FC236}">
                <a16:creationId xmlns:a16="http://schemas.microsoft.com/office/drawing/2014/main" id="{0B592022-8E15-4C35-9347-E49D02B7EA87}"/>
              </a:ext>
            </a:extLst>
          </p:cNvPr>
          <p:cNvSpPr>
            <a:spLocks noGrp="1"/>
          </p:cNvSpPr>
          <p:nvPr/>
        </p:nvSpPr>
        <p:spPr>
          <a:xfrm>
            <a:off x="4381500" y="4229100"/>
            <a:ext cx="1428750" cy="704850"/>
          </a:xfrm>
          <a:prstGeom prst="roundRect">
            <a:avLst>
              <a:gd name="adj" fmla="val 8108"/>
            </a:avLst>
          </a:prstGeom>
          <a:solidFill>
            <a:srgbClr val="EAF2F8"/>
          </a:solidFill>
          <a:ln w="19050">
            <a:solidFill>
              <a:srgbClr val="1F4E7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[P] = 17 dBW</a:t>
            </a:r>
          </a:p>
        </p:txBody>
      </p:sp>
      <p:sp>
        <p:nvSpPr>
          <p:cNvPr id="19" name="visual-arrow">
            <a:extLst>
              <a:ext uri="{FF2B5EF4-FFF2-40B4-BE49-F238E27FC236}">
                <a16:creationId xmlns:a16="http://schemas.microsoft.com/office/drawing/2014/main" id="{53A9889D-A4C2-4CBE-9C3A-AD22A2AD5C31}"/>
              </a:ext>
            </a:extLst>
          </p:cNvPr>
          <p:cNvSpPr>
            <a:spLocks noGrp="1"/>
          </p:cNvSpPr>
          <p:nvPr/>
        </p:nvSpPr>
        <p:spPr>
          <a:xfrm>
            <a:off x="5829300" y="4457700"/>
            <a:ext cx="209550" cy="209550"/>
          </a:xfrm>
          <a:prstGeom prst="rightArrow">
            <a:avLst/>
          </a:prstGeom>
          <a:solidFill>
            <a:srgbClr val="667085"/>
          </a:solidFill>
          <a:ln w="0">
            <a:solidFill>
              <a:srgbClr val="66708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visual-box">
            <a:extLst>
              <a:ext uri="{FF2B5EF4-FFF2-40B4-BE49-F238E27FC236}">
                <a16:creationId xmlns:a16="http://schemas.microsoft.com/office/drawing/2014/main" id="{8B4019E6-8C78-45EF-A4D1-34708E401104}"/>
              </a:ext>
            </a:extLst>
          </p:cNvPr>
          <p:cNvSpPr>
            <a:spLocks noGrp="1"/>
          </p:cNvSpPr>
          <p:nvPr/>
        </p:nvSpPr>
        <p:spPr>
          <a:xfrm>
            <a:off x="6048375" y="2724150"/>
            <a:ext cx="1428750" cy="762000"/>
          </a:xfrm>
          <a:prstGeom prst="roundRect">
            <a:avLst>
              <a:gd name="adj" fmla="val 7500"/>
            </a:avLst>
          </a:prstGeom>
          <a:solidFill>
            <a:srgbClr val="FCE4D6"/>
          </a:solidFill>
          <a:ln w="19050">
            <a:solidFill>
              <a:srgbClr val="A61B1B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A61B1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−[Lₚ]</a:t>
            </a:r>
          </a:p>
        </p:txBody>
      </p:sp>
      <p:sp>
        <p:nvSpPr>
          <p:cNvPr id="21" name="visual-label">
            <a:extLst>
              <a:ext uri="{FF2B5EF4-FFF2-40B4-BE49-F238E27FC236}">
                <a16:creationId xmlns:a16="http://schemas.microsoft.com/office/drawing/2014/main" id="{E2FF142D-FE34-4E82-97B9-70FF722D77A0}"/>
              </a:ext>
            </a:extLst>
          </p:cNvPr>
          <p:cNvSpPr>
            <a:spLocks noGrp="1"/>
          </p:cNvSpPr>
          <p:nvPr/>
        </p:nvSpPr>
        <p:spPr>
          <a:xfrm>
            <a:off x="6048375" y="356235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 i="0">
                <a:solidFill>
                  <a:srgbClr val="A61B1B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−179.1 dB</a:t>
            </a:r>
          </a:p>
        </p:txBody>
      </p:sp>
      <p:sp>
        <p:nvSpPr>
          <p:cNvPr id="22" name="visual-box">
            <a:extLst>
              <a:ext uri="{FF2B5EF4-FFF2-40B4-BE49-F238E27FC236}">
                <a16:creationId xmlns:a16="http://schemas.microsoft.com/office/drawing/2014/main" id="{BA5232F7-C42F-4749-8184-A5ED1C540FA3}"/>
              </a:ext>
            </a:extLst>
          </p:cNvPr>
          <p:cNvSpPr>
            <a:spLocks noGrp="1"/>
          </p:cNvSpPr>
          <p:nvPr/>
        </p:nvSpPr>
        <p:spPr>
          <a:xfrm>
            <a:off x="6048375" y="4229100"/>
            <a:ext cx="1428750" cy="704850"/>
          </a:xfrm>
          <a:prstGeom prst="roundRect">
            <a:avLst>
              <a:gd name="adj" fmla="val 8108"/>
            </a:avLst>
          </a:prstGeom>
          <a:solidFill>
            <a:srgbClr val="EAF2F8"/>
          </a:solidFill>
          <a:ln w="19050">
            <a:solidFill>
              <a:srgbClr val="1F4E7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[P] = -162.1 dBW</a:t>
            </a:r>
          </a:p>
        </p:txBody>
      </p:sp>
      <p:sp>
        <p:nvSpPr>
          <p:cNvPr id="23" name="visual-arrow">
            <a:extLst>
              <a:ext uri="{FF2B5EF4-FFF2-40B4-BE49-F238E27FC236}">
                <a16:creationId xmlns:a16="http://schemas.microsoft.com/office/drawing/2014/main" id="{9626820E-D7EA-4F1D-AD92-3010CE4018A1}"/>
              </a:ext>
            </a:extLst>
          </p:cNvPr>
          <p:cNvSpPr>
            <a:spLocks noGrp="1"/>
          </p:cNvSpPr>
          <p:nvPr/>
        </p:nvSpPr>
        <p:spPr>
          <a:xfrm>
            <a:off x="7496175" y="4457700"/>
            <a:ext cx="209550" cy="209550"/>
          </a:xfrm>
          <a:prstGeom prst="rightArrow">
            <a:avLst/>
          </a:prstGeom>
          <a:solidFill>
            <a:srgbClr val="667085"/>
          </a:solidFill>
          <a:ln w="0">
            <a:solidFill>
              <a:srgbClr val="66708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visual-box">
            <a:extLst>
              <a:ext uri="{FF2B5EF4-FFF2-40B4-BE49-F238E27FC236}">
                <a16:creationId xmlns:a16="http://schemas.microsoft.com/office/drawing/2014/main" id="{C4E49B3D-2DEB-45BC-ADA7-13B1092FCB88}"/>
              </a:ext>
            </a:extLst>
          </p:cNvPr>
          <p:cNvSpPr>
            <a:spLocks noGrp="1"/>
          </p:cNvSpPr>
          <p:nvPr/>
        </p:nvSpPr>
        <p:spPr>
          <a:xfrm>
            <a:off x="7715250" y="2724150"/>
            <a:ext cx="1428750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+[Gᵣ]</a:t>
            </a:r>
          </a:p>
        </p:txBody>
      </p:sp>
      <p:sp>
        <p:nvSpPr>
          <p:cNvPr id="25" name="visual-label">
            <a:extLst>
              <a:ext uri="{FF2B5EF4-FFF2-40B4-BE49-F238E27FC236}">
                <a16:creationId xmlns:a16="http://schemas.microsoft.com/office/drawing/2014/main" id="{EFB52BCD-4418-404D-87CB-659FA4A94C0C}"/>
              </a:ext>
            </a:extLst>
          </p:cNvPr>
          <p:cNvSpPr>
            <a:spLocks noGrp="1"/>
          </p:cNvSpPr>
          <p:nvPr/>
        </p:nvSpPr>
        <p:spPr>
          <a:xfrm>
            <a:off x="7715250" y="356235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 i="0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+45 dBi</a:t>
            </a:r>
          </a:p>
        </p:txBody>
      </p:sp>
      <p:sp>
        <p:nvSpPr>
          <p:cNvPr id="26" name="visual-box">
            <a:extLst>
              <a:ext uri="{FF2B5EF4-FFF2-40B4-BE49-F238E27FC236}">
                <a16:creationId xmlns:a16="http://schemas.microsoft.com/office/drawing/2014/main" id="{0F27DBF2-3310-4464-939D-F125A8AAC3F3}"/>
              </a:ext>
            </a:extLst>
          </p:cNvPr>
          <p:cNvSpPr>
            <a:spLocks noGrp="1"/>
          </p:cNvSpPr>
          <p:nvPr/>
        </p:nvSpPr>
        <p:spPr>
          <a:xfrm>
            <a:off x="7715250" y="4229100"/>
            <a:ext cx="1428750" cy="704850"/>
          </a:xfrm>
          <a:prstGeom prst="roundRect">
            <a:avLst>
              <a:gd name="adj" fmla="val 8108"/>
            </a:avLst>
          </a:prstGeom>
          <a:solidFill>
            <a:srgbClr val="EAF2F8"/>
          </a:solidFill>
          <a:ln w="19050">
            <a:solidFill>
              <a:srgbClr val="1F4E7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[P] = -117.1 dBW</a:t>
            </a:r>
          </a:p>
        </p:txBody>
      </p:sp>
      <p:sp>
        <p:nvSpPr>
          <p:cNvPr id="27" name="visual-arrow">
            <a:extLst>
              <a:ext uri="{FF2B5EF4-FFF2-40B4-BE49-F238E27FC236}">
                <a16:creationId xmlns:a16="http://schemas.microsoft.com/office/drawing/2014/main" id="{61C3DD13-0E28-4D9A-8879-AE1EAED3CEFB}"/>
              </a:ext>
            </a:extLst>
          </p:cNvPr>
          <p:cNvSpPr>
            <a:spLocks noGrp="1"/>
          </p:cNvSpPr>
          <p:nvPr/>
        </p:nvSpPr>
        <p:spPr>
          <a:xfrm>
            <a:off x="9163050" y="4457700"/>
            <a:ext cx="209550" cy="209550"/>
          </a:xfrm>
          <a:prstGeom prst="rightArrow">
            <a:avLst/>
          </a:prstGeom>
          <a:solidFill>
            <a:srgbClr val="667085"/>
          </a:solidFill>
          <a:ln w="0">
            <a:solidFill>
              <a:srgbClr val="66708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visual-box">
            <a:extLst>
              <a:ext uri="{FF2B5EF4-FFF2-40B4-BE49-F238E27FC236}">
                <a16:creationId xmlns:a16="http://schemas.microsoft.com/office/drawing/2014/main" id="{66B08C76-B0B6-4902-81E4-18C55B835700}"/>
              </a:ext>
            </a:extLst>
          </p:cNvPr>
          <p:cNvSpPr>
            <a:spLocks noGrp="1"/>
          </p:cNvSpPr>
          <p:nvPr/>
        </p:nvSpPr>
        <p:spPr>
          <a:xfrm>
            <a:off x="9382125" y="2724150"/>
            <a:ext cx="1428750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659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−[Lₒₜₕₑᵣ]</a:t>
            </a:r>
          </a:p>
        </p:txBody>
      </p:sp>
      <p:sp>
        <p:nvSpPr>
          <p:cNvPr id="29" name="visual-label">
            <a:extLst>
              <a:ext uri="{FF2B5EF4-FFF2-40B4-BE49-F238E27FC236}">
                <a16:creationId xmlns:a16="http://schemas.microsoft.com/office/drawing/2014/main" id="{B240E676-0066-47CA-A558-B267471B7773}"/>
              </a:ext>
            </a:extLst>
          </p:cNvPr>
          <p:cNvSpPr>
            <a:spLocks noGrp="1"/>
          </p:cNvSpPr>
          <p:nvPr/>
        </p:nvSpPr>
        <p:spPr>
          <a:xfrm>
            <a:off x="9382125" y="356235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 i="0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−2 dB</a:t>
            </a:r>
          </a:p>
        </p:txBody>
      </p:sp>
      <p:sp>
        <p:nvSpPr>
          <p:cNvPr id="30" name="visual-box">
            <a:extLst>
              <a:ext uri="{FF2B5EF4-FFF2-40B4-BE49-F238E27FC236}">
                <a16:creationId xmlns:a16="http://schemas.microsoft.com/office/drawing/2014/main" id="{33A0BC7B-8107-47B2-8CCF-2C1737D4F4E5}"/>
              </a:ext>
            </a:extLst>
          </p:cNvPr>
          <p:cNvSpPr>
            <a:spLocks noGrp="1"/>
          </p:cNvSpPr>
          <p:nvPr/>
        </p:nvSpPr>
        <p:spPr>
          <a:xfrm>
            <a:off x="9382125" y="4229100"/>
            <a:ext cx="1428750" cy="704850"/>
          </a:xfrm>
          <a:prstGeom prst="roundRect">
            <a:avLst>
              <a:gd name="adj" fmla="val 8108"/>
            </a:avLst>
          </a:prstGeom>
          <a:solidFill>
            <a:srgbClr val="17365D"/>
          </a:solidFill>
          <a:ln w="19050">
            <a:solidFill>
              <a:srgbClr val="17365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[P] = -119.1 dBW</a:t>
            </a:r>
          </a:p>
        </p:txBody>
      </p:sp>
      <p:sp>
        <p:nvSpPr>
          <p:cNvPr id="31" name="visual-label">
            <a:extLst>
              <a:ext uri="{FF2B5EF4-FFF2-40B4-BE49-F238E27FC236}">
                <a16:creationId xmlns:a16="http://schemas.microsoft.com/office/drawing/2014/main" id="{F873817F-657C-4459-834E-854A4A4B3A31}"/>
              </a:ext>
            </a:extLst>
          </p:cNvPr>
          <p:cNvSpPr>
            <a:spLocks noGrp="1"/>
          </p:cNvSpPr>
          <p:nvPr/>
        </p:nvSpPr>
        <p:spPr>
          <a:xfrm>
            <a:off x="857250" y="5191125"/>
            <a:ext cx="1047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 i="0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The path loss is enormous; antenna gains make the link plausible.</a:t>
            </a:r>
          </a:p>
        </p:txBody>
      </p:sp>
    </p:spTree>
    <p:extLst>
      <p:ext uri="{BB962C8B-B14F-4D97-AF65-F5344CB8AC3E}">
        <p14:creationId xmlns:p14="http://schemas.microsoft.com/office/powerpoint/2010/main" val="22835882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B2EB5-D060-4D9F-9C57-776A5B189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Mission and Provider Trades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39848-ADED-3165-2B31-5571E33300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Received Power and Link Geometry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6172A-6130-DD2C-F9DA-650478B69E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3AE1AE4-D79E-94D6-E825-3FC6C21A77D2}" type="slidenum">
              <a:rPr/>
              <a:t>25</a:t>
            </a:fld>
            <a:endParaRPr/>
          </a:p>
        </p:txBody>
      </p:sp>
      <p:sp>
        <p:nvSpPr>
          <p:cNvPr id="7" name="visual-label">
            <a:extLst>
              <a:ext uri="{FF2B5EF4-FFF2-40B4-BE49-F238E27FC236}">
                <a16:creationId xmlns:a16="http://schemas.microsoft.com/office/drawing/2014/main" id="{5AC88730-0700-4ED3-9FCE-D094F8854C20}"/>
              </a:ext>
            </a:extLst>
          </p:cNvPr>
          <p:cNvSpPr>
            <a:spLocks noGrp="1"/>
          </p:cNvSpPr>
          <p:nvPr/>
        </p:nvSpPr>
        <p:spPr>
          <a:xfrm>
            <a:off x="876300" y="1695450"/>
            <a:ext cx="5095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725" b="1" i="0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MISSION-OWNED</a:t>
            </a:r>
          </a:p>
        </p:txBody>
      </p:sp>
      <p:sp>
        <p:nvSpPr>
          <p:cNvPr id="8" name="visual-label">
            <a:extLst>
              <a:ext uri="{FF2B5EF4-FFF2-40B4-BE49-F238E27FC236}">
                <a16:creationId xmlns:a16="http://schemas.microsoft.com/office/drawing/2014/main" id="{35FA329D-29CD-4AF2-BD75-B5754AEC422F}"/>
              </a:ext>
            </a:extLst>
          </p:cNvPr>
          <p:cNvSpPr>
            <a:spLocks noGrp="1"/>
          </p:cNvSpPr>
          <p:nvPr/>
        </p:nvSpPr>
        <p:spPr>
          <a:xfrm>
            <a:off x="6219825" y="1695450"/>
            <a:ext cx="5095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725" b="1" i="0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1725" b="1" i="0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SHARED PROVIDER</a:t>
            </a:r>
          </a:p>
        </p:txBody>
      </p:sp>
      <p:sp>
        <p:nvSpPr>
          <p:cNvPr id="9" name="visual-box">
            <a:extLst>
              <a:ext uri="{FF2B5EF4-FFF2-40B4-BE49-F238E27FC236}">
                <a16:creationId xmlns:a16="http://schemas.microsoft.com/office/drawing/2014/main" id="{DA66CFEF-FD5A-4B17-9FEA-28BFB5DBFC09}"/>
              </a:ext>
            </a:extLst>
          </p:cNvPr>
          <p:cNvSpPr>
            <a:spLocks noGrp="1"/>
          </p:cNvSpPr>
          <p:nvPr/>
        </p:nvSpPr>
        <p:spPr>
          <a:xfrm>
            <a:off x="2667000" y="2476500"/>
            <a:ext cx="1428750" cy="742950"/>
          </a:xfrm>
          <a:prstGeom prst="roundRect">
            <a:avLst>
              <a:gd name="adj" fmla="val 7692"/>
            </a:avLst>
          </a:prstGeom>
          <a:solidFill>
            <a:srgbClr val="FCE4D6"/>
          </a:solidFill>
          <a:ln w="19050">
            <a:solidFill>
              <a:srgbClr val="C659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MISSION</a:t>
            </a:r>
          </a:p>
        </p:txBody>
      </p:sp>
      <p:sp>
        <p:nvSpPr>
          <p:cNvPr id="10" name="visual-box">
            <a:extLst>
              <a:ext uri="{FF2B5EF4-FFF2-40B4-BE49-F238E27FC236}">
                <a16:creationId xmlns:a16="http://schemas.microsoft.com/office/drawing/2014/main" id="{902FCABE-94D9-4C96-AC64-315927043429}"/>
              </a:ext>
            </a:extLst>
          </p:cNvPr>
          <p:cNvSpPr>
            <a:spLocks noGrp="1"/>
          </p:cNvSpPr>
          <p:nvPr/>
        </p:nvSpPr>
        <p:spPr>
          <a:xfrm>
            <a:off x="2667000" y="4095750"/>
            <a:ext cx="1428750" cy="742950"/>
          </a:xfrm>
          <a:prstGeom prst="roundRect">
            <a:avLst>
              <a:gd name="adj" fmla="val 7692"/>
            </a:avLst>
          </a:prstGeom>
          <a:solidFill>
            <a:srgbClr val="EAF2F8"/>
          </a:solidFill>
          <a:ln w="19050">
            <a:solidFill>
              <a:srgbClr val="1F4E7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ONE SITE</a:t>
            </a:r>
          </a:p>
        </p:txBody>
      </p:sp>
      <p:sp>
        <p:nvSpPr>
          <p:cNvPr id="11" name="visual-line">
            <a:extLst>
              <a:ext uri="{FF2B5EF4-FFF2-40B4-BE49-F238E27FC236}">
                <a16:creationId xmlns:a16="http://schemas.microsoft.com/office/drawing/2014/main" id="{B60E7262-44D0-437E-9BD9-1D74DED07085}"/>
              </a:ext>
            </a:extLst>
          </p:cNvPr>
          <p:cNvSpPr>
            <a:spLocks noGrp="1"/>
          </p:cNvSpPr>
          <p:nvPr/>
        </p:nvSpPr>
        <p:spPr>
          <a:xfrm>
            <a:off x="3381375" y="3219450"/>
            <a:ext cx="95" cy="876300"/>
          </a:xfrm>
          <a:prstGeom prst="line">
            <a:avLst/>
          </a:prstGeom>
          <a:noFill/>
          <a:ln w="47625">
            <a:solidFill>
              <a:srgbClr val="4472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visual-label">
            <a:extLst>
              <a:ext uri="{FF2B5EF4-FFF2-40B4-BE49-F238E27FC236}">
                <a16:creationId xmlns:a16="http://schemas.microsoft.com/office/drawing/2014/main" id="{181ECE1C-323E-4588-9F31-C317DF339AFF}"/>
              </a:ext>
            </a:extLst>
          </p:cNvPr>
          <p:cNvSpPr>
            <a:spLocks noGrp="1"/>
          </p:cNvSpPr>
          <p:nvPr/>
        </p:nvSpPr>
        <p:spPr>
          <a:xfrm>
            <a:off x="1190625" y="5000625"/>
            <a:ext cx="4381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0" i="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Direct control • tailored interface • dedicated capacity</a:t>
            </a:r>
          </a:p>
          <a:p>
            <a:pPr algn="ctr">
              <a:buNone/>
              <a:defRPr sz="1350" b="0" i="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Capital and operations burden • limited geography</a:t>
            </a:r>
          </a:p>
        </p:txBody>
      </p:sp>
      <p:sp>
        <p:nvSpPr>
          <p:cNvPr id="13" name="visual-box">
            <a:extLst>
              <a:ext uri="{FF2B5EF4-FFF2-40B4-BE49-F238E27FC236}">
                <a16:creationId xmlns:a16="http://schemas.microsoft.com/office/drawing/2014/main" id="{C1FA01C4-AE8C-4E4E-8090-10CD5A76464C}"/>
              </a:ext>
            </a:extLst>
          </p:cNvPr>
          <p:cNvSpPr>
            <a:spLocks noGrp="1"/>
          </p:cNvSpPr>
          <p:nvPr/>
        </p:nvSpPr>
        <p:spPr>
          <a:xfrm>
            <a:off x="6572250" y="4238625"/>
            <a:ext cx="1047750" cy="552450"/>
          </a:xfrm>
          <a:prstGeom prst="roundRect">
            <a:avLst>
              <a:gd name="adj" fmla="val 10345"/>
            </a:avLst>
          </a:prstGeom>
          <a:solidFill>
            <a:srgbClr val="EAF2F8"/>
          </a:solidFill>
          <a:ln w="19050">
            <a:solidFill>
              <a:srgbClr val="1F4E7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SITE</a:t>
            </a:r>
          </a:p>
        </p:txBody>
      </p:sp>
      <p:sp>
        <p:nvSpPr>
          <p:cNvPr id="14" name="visual-box">
            <a:extLst>
              <a:ext uri="{FF2B5EF4-FFF2-40B4-BE49-F238E27FC236}">
                <a16:creationId xmlns:a16="http://schemas.microsoft.com/office/drawing/2014/main" id="{B2E27620-ECB3-49B1-ABB4-A00688A22257}"/>
              </a:ext>
            </a:extLst>
          </p:cNvPr>
          <p:cNvSpPr>
            <a:spLocks noGrp="1"/>
          </p:cNvSpPr>
          <p:nvPr/>
        </p:nvSpPr>
        <p:spPr>
          <a:xfrm>
            <a:off x="8572500" y="4810125"/>
            <a:ext cx="1047750" cy="552450"/>
          </a:xfrm>
          <a:prstGeom prst="roundRect">
            <a:avLst>
              <a:gd name="adj" fmla="val 10345"/>
            </a:avLst>
          </a:prstGeom>
          <a:solidFill>
            <a:srgbClr val="EAF2F8"/>
          </a:solidFill>
          <a:ln w="19050">
            <a:solidFill>
              <a:srgbClr val="1F4E7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SITE</a:t>
            </a:r>
          </a:p>
        </p:txBody>
      </p:sp>
      <p:sp>
        <p:nvSpPr>
          <p:cNvPr id="15" name="visual-box">
            <a:extLst>
              <a:ext uri="{FF2B5EF4-FFF2-40B4-BE49-F238E27FC236}">
                <a16:creationId xmlns:a16="http://schemas.microsoft.com/office/drawing/2014/main" id="{312140BA-2EB0-4E88-992A-C0AA5460A858}"/>
              </a:ext>
            </a:extLst>
          </p:cNvPr>
          <p:cNvSpPr>
            <a:spLocks noGrp="1"/>
          </p:cNvSpPr>
          <p:nvPr/>
        </p:nvSpPr>
        <p:spPr>
          <a:xfrm>
            <a:off x="10287000" y="3905250"/>
            <a:ext cx="1047750" cy="552450"/>
          </a:xfrm>
          <a:prstGeom prst="roundRect">
            <a:avLst>
              <a:gd name="adj" fmla="val 10345"/>
            </a:avLst>
          </a:prstGeom>
          <a:solidFill>
            <a:srgbClr val="EAF2F8"/>
          </a:solidFill>
          <a:ln w="19050">
            <a:solidFill>
              <a:srgbClr val="1F4E7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SITE</a:t>
            </a:r>
          </a:p>
        </p:txBody>
      </p:sp>
      <p:sp>
        <p:nvSpPr>
          <p:cNvPr id="16" name="visual-box">
            <a:extLst>
              <a:ext uri="{FF2B5EF4-FFF2-40B4-BE49-F238E27FC236}">
                <a16:creationId xmlns:a16="http://schemas.microsoft.com/office/drawing/2014/main" id="{A31ED72A-1B0E-4D6D-BE32-DC714C2BD677}"/>
              </a:ext>
            </a:extLst>
          </p:cNvPr>
          <p:cNvSpPr>
            <a:spLocks noGrp="1"/>
          </p:cNvSpPr>
          <p:nvPr/>
        </p:nvSpPr>
        <p:spPr>
          <a:xfrm>
            <a:off x="6858000" y="2476500"/>
            <a:ext cx="1047750" cy="552450"/>
          </a:xfrm>
          <a:prstGeom prst="roundRect">
            <a:avLst>
              <a:gd name="adj" fmla="val 10345"/>
            </a:avLst>
          </a:prstGeom>
          <a:solidFill>
            <a:srgbClr val="FCE4D6"/>
          </a:solidFill>
          <a:ln w="19050">
            <a:solidFill>
              <a:srgbClr val="C659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MISSION</a:t>
            </a:r>
          </a:p>
        </p:txBody>
      </p:sp>
      <p:sp>
        <p:nvSpPr>
          <p:cNvPr id="17" name="visual-box">
            <a:extLst>
              <a:ext uri="{FF2B5EF4-FFF2-40B4-BE49-F238E27FC236}">
                <a16:creationId xmlns:a16="http://schemas.microsoft.com/office/drawing/2014/main" id="{033E6968-27B1-45B5-AB46-E205F504C05D}"/>
              </a:ext>
            </a:extLst>
          </p:cNvPr>
          <p:cNvSpPr>
            <a:spLocks noGrp="1"/>
          </p:cNvSpPr>
          <p:nvPr/>
        </p:nvSpPr>
        <p:spPr>
          <a:xfrm>
            <a:off x="8763000" y="2266950"/>
            <a:ext cx="1047750" cy="552450"/>
          </a:xfrm>
          <a:prstGeom prst="roundRect">
            <a:avLst>
              <a:gd name="adj" fmla="val 10345"/>
            </a:avLst>
          </a:prstGeom>
          <a:solidFill>
            <a:srgbClr val="FCE4D6"/>
          </a:solidFill>
          <a:ln w="19050">
            <a:solidFill>
              <a:srgbClr val="C659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MISSION</a:t>
            </a:r>
          </a:p>
        </p:txBody>
      </p:sp>
      <p:sp>
        <p:nvSpPr>
          <p:cNvPr id="18" name="visual-box">
            <a:extLst>
              <a:ext uri="{FF2B5EF4-FFF2-40B4-BE49-F238E27FC236}">
                <a16:creationId xmlns:a16="http://schemas.microsoft.com/office/drawing/2014/main" id="{DD8F31A1-34F6-4CD2-97B9-006BADCFDB86}"/>
              </a:ext>
            </a:extLst>
          </p:cNvPr>
          <p:cNvSpPr>
            <a:spLocks noGrp="1"/>
          </p:cNvSpPr>
          <p:nvPr/>
        </p:nvSpPr>
        <p:spPr>
          <a:xfrm>
            <a:off x="10287000" y="2571750"/>
            <a:ext cx="1047750" cy="552450"/>
          </a:xfrm>
          <a:prstGeom prst="roundRect">
            <a:avLst>
              <a:gd name="adj" fmla="val 10345"/>
            </a:avLst>
          </a:prstGeom>
          <a:solidFill>
            <a:srgbClr val="FCE4D6"/>
          </a:solidFill>
          <a:ln w="19050">
            <a:solidFill>
              <a:srgbClr val="C6591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MISSION</a:t>
            </a:r>
          </a:p>
        </p:txBody>
      </p:sp>
      <p:sp>
        <p:nvSpPr>
          <p:cNvPr id="19" name="visual-line">
            <a:extLst>
              <a:ext uri="{FF2B5EF4-FFF2-40B4-BE49-F238E27FC236}">
                <a16:creationId xmlns:a16="http://schemas.microsoft.com/office/drawing/2014/main" id="{784CD2D9-B949-495D-91F6-5DB100E05E77}"/>
              </a:ext>
            </a:extLst>
          </p:cNvPr>
          <p:cNvSpPr>
            <a:spLocks noGrp="1"/>
          </p:cNvSpPr>
          <p:nvPr/>
        </p:nvSpPr>
        <p:spPr>
          <a:xfrm flipV="1">
            <a:off x="7096125" y="3028950"/>
            <a:ext cx="285750" cy="1209675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visual-line">
            <a:extLst>
              <a:ext uri="{FF2B5EF4-FFF2-40B4-BE49-F238E27FC236}">
                <a16:creationId xmlns:a16="http://schemas.microsoft.com/office/drawing/2014/main" id="{D0F9DB78-D53A-4778-849A-65B729B3D5E5}"/>
              </a:ext>
            </a:extLst>
          </p:cNvPr>
          <p:cNvSpPr>
            <a:spLocks noGrp="1"/>
          </p:cNvSpPr>
          <p:nvPr/>
        </p:nvSpPr>
        <p:spPr>
          <a:xfrm>
            <a:off x="7381875" y="3028950"/>
            <a:ext cx="1714500" cy="1781175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visual-line">
            <a:extLst>
              <a:ext uri="{FF2B5EF4-FFF2-40B4-BE49-F238E27FC236}">
                <a16:creationId xmlns:a16="http://schemas.microsoft.com/office/drawing/2014/main" id="{195DD809-BCC0-4A74-B0D1-E9C4D021B3DC}"/>
              </a:ext>
            </a:extLst>
          </p:cNvPr>
          <p:cNvSpPr>
            <a:spLocks noGrp="1"/>
          </p:cNvSpPr>
          <p:nvPr/>
        </p:nvSpPr>
        <p:spPr>
          <a:xfrm>
            <a:off x="7381875" y="3028950"/>
            <a:ext cx="3429000" cy="876300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visual-line">
            <a:extLst>
              <a:ext uri="{FF2B5EF4-FFF2-40B4-BE49-F238E27FC236}">
                <a16:creationId xmlns:a16="http://schemas.microsoft.com/office/drawing/2014/main" id="{2E805110-08E5-43A5-93F9-7B77349040B1}"/>
              </a:ext>
            </a:extLst>
          </p:cNvPr>
          <p:cNvSpPr>
            <a:spLocks noGrp="1"/>
          </p:cNvSpPr>
          <p:nvPr/>
        </p:nvSpPr>
        <p:spPr>
          <a:xfrm flipV="1">
            <a:off x="7096125" y="2819400"/>
            <a:ext cx="2190750" cy="1419225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visual-line">
            <a:extLst>
              <a:ext uri="{FF2B5EF4-FFF2-40B4-BE49-F238E27FC236}">
                <a16:creationId xmlns:a16="http://schemas.microsoft.com/office/drawing/2014/main" id="{8735E3CB-79CA-4D90-8AF3-95A6D17A08FE}"/>
              </a:ext>
            </a:extLst>
          </p:cNvPr>
          <p:cNvSpPr>
            <a:spLocks noGrp="1"/>
          </p:cNvSpPr>
          <p:nvPr/>
        </p:nvSpPr>
        <p:spPr>
          <a:xfrm flipV="1">
            <a:off x="9096375" y="2819400"/>
            <a:ext cx="190500" cy="1990725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visual-line">
            <a:extLst>
              <a:ext uri="{FF2B5EF4-FFF2-40B4-BE49-F238E27FC236}">
                <a16:creationId xmlns:a16="http://schemas.microsoft.com/office/drawing/2014/main" id="{6A7AE1FD-E281-4B98-8288-0D98376F48B4}"/>
              </a:ext>
            </a:extLst>
          </p:cNvPr>
          <p:cNvSpPr>
            <a:spLocks noGrp="1"/>
          </p:cNvSpPr>
          <p:nvPr/>
        </p:nvSpPr>
        <p:spPr>
          <a:xfrm>
            <a:off x="9286875" y="2819400"/>
            <a:ext cx="1524000" cy="1085850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visual-line">
            <a:extLst>
              <a:ext uri="{FF2B5EF4-FFF2-40B4-BE49-F238E27FC236}">
                <a16:creationId xmlns:a16="http://schemas.microsoft.com/office/drawing/2014/main" id="{6FEE5E78-100E-4866-A08C-75EF89E59C14}"/>
              </a:ext>
            </a:extLst>
          </p:cNvPr>
          <p:cNvSpPr>
            <a:spLocks noGrp="1"/>
          </p:cNvSpPr>
          <p:nvPr/>
        </p:nvSpPr>
        <p:spPr>
          <a:xfrm flipV="1">
            <a:off x="7096125" y="3124200"/>
            <a:ext cx="3714750" cy="1114425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visual-line">
            <a:extLst>
              <a:ext uri="{FF2B5EF4-FFF2-40B4-BE49-F238E27FC236}">
                <a16:creationId xmlns:a16="http://schemas.microsoft.com/office/drawing/2014/main" id="{57EC236D-5FFB-47B9-8F60-A0FD7BEAB65F}"/>
              </a:ext>
            </a:extLst>
          </p:cNvPr>
          <p:cNvSpPr>
            <a:spLocks noGrp="1"/>
          </p:cNvSpPr>
          <p:nvPr/>
        </p:nvSpPr>
        <p:spPr>
          <a:xfrm flipV="1">
            <a:off x="9096375" y="3124200"/>
            <a:ext cx="1714500" cy="1685925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visual-line">
            <a:extLst>
              <a:ext uri="{FF2B5EF4-FFF2-40B4-BE49-F238E27FC236}">
                <a16:creationId xmlns:a16="http://schemas.microsoft.com/office/drawing/2014/main" id="{9E6C6377-852E-4105-8206-637AB68E6A2E}"/>
              </a:ext>
            </a:extLst>
          </p:cNvPr>
          <p:cNvSpPr>
            <a:spLocks noGrp="1"/>
          </p:cNvSpPr>
          <p:nvPr/>
        </p:nvSpPr>
        <p:spPr>
          <a:xfrm>
            <a:off x="10810875" y="3124200"/>
            <a:ext cx="95" cy="781050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visual-label">
            <a:extLst>
              <a:ext uri="{FF2B5EF4-FFF2-40B4-BE49-F238E27FC236}">
                <a16:creationId xmlns:a16="http://schemas.microsoft.com/office/drawing/2014/main" id="{9EBCD2FA-FB3C-4CCE-99D7-1D8CDCDDEE7E}"/>
              </a:ext>
            </a:extLst>
          </p:cNvPr>
          <p:cNvSpPr>
            <a:spLocks noGrp="1"/>
          </p:cNvSpPr>
          <p:nvPr/>
        </p:nvSpPr>
        <p:spPr>
          <a:xfrm>
            <a:off x="6381750" y="5219700"/>
            <a:ext cx="4762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0" i="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Geographic diversity • scalable shared assets</a:t>
            </a:r>
          </a:p>
          <a:p>
            <a:pPr algn="ctr">
              <a:buNone/>
              <a:defRPr sz="1350" b="0" i="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Scheduling, interfaces, and service dependence</a:t>
            </a:r>
          </a:p>
        </p:txBody>
      </p:sp>
      <p:sp>
        <p:nvSpPr>
          <p:cNvPr id="29" name="visual-line">
            <a:extLst>
              <a:ext uri="{FF2B5EF4-FFF2-40B4-BE49-F238E27FC236}">
                <a16:creationId xmlns:a16="http://schemas.microsoft.com/office/drawing/2014/main" id="{616C849E-0F75-4705-B292-D8B36D0EF9B5}"/>
              </a:ext>
            </a:extLst>
          </p:cNvPr>
          <p:cNvSpPr>
            <a:spLocks noGrp="1"/>
          </p:cNvSpPr>
          <p:nvPr/>
        </p:nvSpPr>
        <p:spPr>
          <a:xfrm>
            <a:off x="6096000" y="2095500"/>
            <a:ext cx="95" cy="3810000"/>
          </a:xfrm>
          <a:prstGeom prst="line">
            <a:avLst/>
          </a:prstGeom>
          <a:noFill/>
          <a:ln w="19050">
            <a:solidFill>
              <a:srgbClr val="D9E1E8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835882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B2EB5-D060-4D9F-9C57-776A5B189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Predict Before Calculating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B5C1D-01E6-42ED-8E78-01ED47C14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1125" y="1952625"/>
            <a:ext cx="9429750" cy="3619500"/>
          </a:xfrm>
        </p:spPr>
        <p:txBody>
          <a:bodyPr lIns="152400" tIns="114300" rIns="152400" bIns="114300" anchor="t">
            <a:noAutofit/>
          </a:bodyPr>
          <a:lstStyle/>
          <a:p>
            <a:pPr algn="l">
              <a:spcAft>
                <a:spcPts val="14"/>
              </a:spcAft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What happens to received power if we double transmit power?</a:t>
            </a:r>
          </a:p>
          <a:p>
            <a:pPr algn="l">
              <a:spcAft>
                <a:spcPts val="14"/>
              </a:spcAft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What happens if we double range instead?</a:t>
            </a:r>
          </a:p>
          <a:p>
            <a:pPr algn="l">
              <a:spcAft>
                <a:spcPts val="14"/>
              </a:spcAft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What do we gain—and lose—by raising the elevation mask?</a:t>
            </a:r>
          </a:p>
          <a:p>
            <a:pPr algn="l">
              <a:spcAft>
                <a:spcPts val="14"/>
              </a:spcAft>
              <a:buNone/>
              <a:defRPr sz="2400" b="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Does adding a ground station necessarily strengthen this link?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39848-ADED-3165-2B31-5571E33300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Received Power and Link Geometry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6172A-6130-DD2C-F9DA-650478B69E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AB55966-FA28-BC73-EA9E-53DF014DF033}" type="slidenum">
              <a:rPr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35882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B2EB5-D060-4D9F-9C57-776A5B189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5250" tIns="47625" rIns="95250" bIns="47625" anchor="ctr">
            <a:normAutofit/>
          </a:bodyPr>
          <a:lstStyle/>
          <a:p>
            <a:pPr>
              <a:buNone/>
              <a:def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defRPr>
            </a:pPr>
            <a:r>
              <a:rPr sz="3900">
                <a:solidFill>
                  <a:srgbClr val="1F4E79"/>
                </a:solidFill>
                <a:latin typeface="Calibri Light"/>
                <a:ea typeface="Calibri Light"/>
                <a:cs typeface="Calibri Light"/>
              </a:rPr>
              <a:t>References and Further Reading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39848-ADED-3165-2B31-5571E33300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ENAE 694 • Received Power and Link Geometry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6172A-6130-DD2C-F9DA-650478B69E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8AD4375-9F50-F53A-6F9F-DD8473067C05}" type="slidenum">
              <a:rPr/>
              <a:t>27</a:t>
            </a:fld>
            <a:endParaRPr/>
          </a:p>
        </p:txBody>
      </p:sp>
      <p:sp>
        <p:nvSpPr>
          <p:cNvPr id="7" name="reference-page-text">
            <a:extLst>
              <a:ext uri="{FF2B5EF4-FFF2-40B4-BE49-F238E27FC236}">
                <a16:creationId xmlns:a16="http://schemas.microsoft.com/office/drawing/2014/main" id="{F474F4EF-5356-48EE-8360-AB1F5FCEF93E}"/>
              </a:ext>
            </a:extLst>
          </p:cNvPr>
          <p:cNvSpPr>
            <a:spLocks noGrp="1"/>
          </p:cNvSpPr>
          <p:nvPr/>
        </p:nvSpPr>
        <p:spPr>
          <a:xfrm>
            <a:off x="904875" y="161925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CITATIONS &amp; REFERENCES</a:t>
            </a:r>
          </a:p>
        </p:txBody>
      </p:sp>
      <p:sp>
        <p:nvSpPr>
          <p:cNvPr id="8" name="reference-page-text">
            <a:extLst>
              <a:ext uri="{FF2B5EF4-FFF2-40B4-BE49-F238E27FC236}">
                <a16:creationId xmlns:a16="http://schemas.microsoft.com/office/drawing/2014/main" id="{BC68B897-1663-4101-8506-EEFA0DA0E416}"/>
              </a:ext>
            </a:extLst>
          </p:cNvPr>
          <p:cNvSpPr>
            <a:spLocks noGrp="1"/>
          </p:cNvSpPr>
          <p:nvPr/>
        </p:nvSpPr>
        <p:spPr>
          <a:xfrm>
            <a:off x="6524625" y="161925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C6591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05580"/>
                </a:solidFill>
                <a:latin typeface="Calibri"/>
                <a:ea typeface="Calibri"/>
                <a:cs typeface="Calibri"/>
              </a:rPr>
              <a:t>OPTIONAL FURTHER READING</a:t>
            </a:r>
          </a:p>
        </p:txBody>
      </p:sp>
      <p:sp>
        <p:nvSpPr>
          <p:cNvPr id="9" name="reference-page-rule">
            <a:extLst>
              <a:ext uri="{FF2B5EF4-FFF2-40B4-BE49-F238E27FC236}">
                <a16:creationId xmlns:a16="http://schemas.microsoft.com/office/drawing/2014/main" id="{F275F765-C8F7-4309-B3CF-0CBAE634EE0D}"/>
              </a:ext>
            </a:extLst>
          </p:cNvPr>
          <p:cNvSpPr>
            <a:spLocks noGrp="1"/>
          </p:cNvSpPr>
          <p:nvPr/>
        </p:nvSpPr>
        <p:spPr>
          <a:xfrm>
            <a:off x="904875" y="2038350"/>
            <a:ext cx="4762500" cy="95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ference-page-rule">
            <a:extLst>
              <a:ext uri="{FF2B5EF4-FFF2-40B4-BE49-F238E27FC236}">
                <a16:creationId xmlns:a16="http://schemas.microsoft.com/office/drawing/2014/main" id="{882A635B-D9C1-404A-B03B-E0B7F8BD3FBE}"/>
              </a:ext>
            </a:extLst>
          </p:cNvPr>
          <p:cNvSpPr>
            <a:spLocks noGrp="1"/>
          </p:cNvSpPr>
          <p:nvPr/>
        </p:nvSpPr>
        <p:spPr>
          <a:xfrm>
            <a:off x="6524625" y="2038350"/>
            <a:ext cx="4762500" cy="95"/>
          </a:xfrm>
          <a:prstGeom prst="line">
            <a:avLst/>
          </a:prstGeom>
          <a:noFill/>
          <a:ln w="19050">
            <a:solidFill>
              <a:srgbClr val="C6591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ference-page-text">
            <a:extLst>
              <a:ext uri="{FF2B5EF4-FFF2-40B4-BE49-F238E27FC236}">
                <a16:creationId xmlns:a16="http://schemas.microsoft.com/office/drawing/2014/main" id="{BE011445-3352-44E9-8C5A-20677A34C5CA}"/>
              </a:ext>
            </a:extLst>
          </p:cNvPr>
          <p:cNvSpPr>
            <a:spLocks noGrp="1"/>
          </p:cNvSpPr>
          <p:nvPr/>
        </p:nvSpPr>
        <p:spPr>
          <a:xfrm>
            <a:off x="1000125" y="2209800"/>
            <a:ext cx="4667250" cy="3095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38" b="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1238" b="0" dirty="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• ITU-R P.525-4, Calculation of Free-Space Attenuation (2019)</a:t>
            </a:r>
          </a:p>
          <a:p>
            <a:endParaRPr sz="1238" b="0" dirty="0">
              <a:solidFill>
                <a:srgbClr val="202124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238" b="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1238" b="0" dirty="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• JPL 810-005, DSN Telecommunications Link Design Handbook</a:t>
            </a:r>
          </a:p>
          <a:p>
            <a:endParaRPr sz="1238" b="0" dirty="0">
              <a:solidFill>
                <a:srgbClr val="202124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238" b="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1238" b="0" dirty="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• CCSDS 401.0-B-29, RF and Modulation Systems—Part 1 (2019)</a:t>
            </a:r>
          </a:p>
          <a:p>
            <a:endParaRPr sz="1238" b="0" dirty="0">
              <a:solidFill>
                <a:srgbClr val="202124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238" b="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1238" b="0" dirty="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• Friis, “A Note on a Simple Transmission Formula,” Proc. IRE 34(5), 1946</a:t>
            </a:r>
          </a:p>
        </p:txBody>
      </p:sp>
      <p:sp>
        <p:nvSpPr>
          <p:cNvPr id="12" name="reference-page-text">
            <a:extLst>
              <a:ext uri="{FF2B5EF4-FFF2-40B4-BE49-F238E27FC236}">
                <a16:creationId xmlns:a16="http://schemas.microsoft.com/office/drawing/2014/main" id="{363E8B18-D058-412B-9CBF-BD5C01078715}"/>
              </a:ext>
            </a:extLst>
          </p:cNvPr>
          <p:cNvSpPr>
            <a:spLocks noGrp="1"/>
          </p:cNvSpPr>
          <p:nvPr/>
        </p:nvSpPr>
        <p:spPr>
          <a:xfrm>
            <a:off x="6619875" y="2209800"/>
            <a:ext cx="4572000" cy="3095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38" b="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1238" b="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• Cheung, “The Role of Margin in Link Design and Optimization” (2015)</a:t>
            </a:r>
          </a:p>
          <a:p>
            <a:endParaRPr sz="1238" b="0">
              <a:solidFill>
                <a:srgbClr val="202124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238" b="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1238" b="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• NASA, Small Spacecraft Technology State of the Art: Communications (2026)</a:t>
            </a:r>
          </a:p>
          <a:p>
            <a:endParaRPr sz="1238" b="0">
              <a:solidFill>
                <a:srgbClr val="202124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238" b="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1238" b="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• Pratt, Bostian &amp; Allnutt, Satellite Communications, 2nd ed.</a:t>
            </a:r>
          </a:p>
          <a:p>
            <a:endParaRPr sz="1238" b="0">
              <a:solidFill>
                <a:srgbClr val="202124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238" b="0">
                <a:solidFill>
                  <a:srgbClr val="202124"/>
                </a:solidFill>
                <a:latin typeface="Calibri"/>
                <a:ea typeface="Calibri"/>
                <a:cs typeface="Calibri"/>
              </a:defRPr>
            </a:pPr>
            <a:r>
              <a:rPr sz="1238" b="0">
                <a:solidFill>
                  <a:srgbClr val="202124"/>
                </a:solidFill>
                <a:latin typeface="Calibri"/>
                <a:ea typeface="Calibri"/>
                <a:cs typeface="Calibri"/>
              </a:rPr>
              <a:t>• Vallado, Fundamentals of Astrodynamics and Applications, 5th ed.</a:t>
            </a:r>
          </a:p>
        </p:txBody>
      </p:sp>
      <p:sp>
        <p:nvSpPr>
          <p:cNvPr id="13" name="reference-page-text">
            <a:extLst>
              <a:ext uri="{FF2B5EF4-FFF2-40B4-BE49-F238E27FC236}">
                <a16:creationId xmlns:a16="http://schemas.microsoft.com/office/drawing/2014/main" id="{09C57D53-AE10-48DC-AC68-340F70786B13}"/>
              </a:ext>
            </a:extLst>
          </p:cNvPr>
          <p:cNvSpPr>
            <a:spLocks noGrp="1"/>
          </p:cNvSpPr>
          <p:nvPr/>
        </p:nvSpPr>
        <p:spPr>
          <a:xfrm>
            <a:off x="1381125" y="5524500"/>
            <a:ext cx="942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667085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7085"/>
                </a:solidFill>
                <a:latin typeface="Calibri"/>
                <a:ea typeface="Calibri"/>
                <a:cs typeface="Calibri"/>
              </a:rPr>
              <a:t>Selected References and Optional Further Reading</a:t>
            </a:r>
          </a:p>
        </p:txBody>
      </p:sp>
    </p:spTree>
    <p:extLst>
      <p:ext uri="{BB962C8B-B14F-4D97-AF65-F5344CB8AC3E}">
        <p14:creationId xmlns:p14="http://schemas.microsoft.com/office/powerpoint/2010/main" val="228358827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1705</Words>
  <Application>Microsoft Office PowerPoint</Application>
  <DocSecurity>0</DocSecurity>
  <PresentationFormat>Widescreen</PresentationFormat>
  <Paragraphs>316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Calibri</vt:lpstr>
      <vt:lpstr>Calibri Light</vt:lpstr>
      <vt:lpstr>Custom Design</vt:lpstr>
      <vt:lpstr>Spacecraft Communications ENAE 694 • Received Power and Link Geometry</vt:lpstr>
      <vt:lpstr>The Physical Question</vt:lpstr>
      <vt:lpstr>Tonight’s Three Parts</vt:lpstr>
      <vt:lpstr>One Link, Two Design Viewpoints</vt:lpstr>
      <vt:lpstr>PowerPoint Presentation</vt:lpstr>
      <vt:lpstr>One Direction at a Time</vt:lpstr>
      <vt:lpstr>Received Power Is Only a Start</vt:lpstr>
      <vt:lpstr>When Does a Path Exist?</vt:lpstr>
      <vt:lpstr>A Pass Is Not One Range</vt:lpstr>
      <vt:lpstr>TERPSat Link Geometry</vt:lpstr>
      <vt:lpstr>Calculating Slant Range</vt:lpstr>
      <vt:lpstr>Why Power Falls with Range</vt:lpstr>
      <vt:lpstr>What Is a Decibel?</vt:lpstr>
      <vt:lpstr>Linear Power and Decibel Power</vt:lpstr>
      <vt:lpstr>Useful Decibel Relationships</vt:lpstr>
      <vt:lpstr>Equivalent Isotropically Radiated Power</vt:lpstr>
      <vt:lpstr>Collecting the Power</vt:lpstr>
      <vt:lpstr>Calculating Free-Space Path Loss</vt:lpstr>
      <vt:lpstr>The Received-Power Equation</vt:lpstr>
      <vt:lpstr>Work the TERPSat Link</vt:lpstr>
      <vt:lpstr>Step 1: EIRP</vt:lpstr>
      <vt:lpstr>Step 2: Free-Space Path Loss</vt:lpstr>
      <vt:lpstr>Step 3: Received Power</vt:lpstr>
      <vt:lpstr>Check the Complete Ledger</vt:lpstr>
      <vt:lpstr>Mission and Provider Trades</vt:lpstr>
      <vt:lpstr>Predict Before Calculating</vt:lpstr>
      <vt:lpstr>References and Further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2026-09-14T01:26:06Z</dcterms:created>
  <dcterms:modified xsi:type="dcterms:W3CDTF">2026-09-14T01:26:49Z</dcterms:modified>
</cp:coreProperties>
</file>